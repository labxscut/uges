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73" r:id="rId2"/>
  </p:sldIdLst>
  <p:sldSz cx="30275213" cy="42803763"/>
  <p:notesSz cx="14211300" cy="20104100"/>
  <p:custDataLst>
    <p:tags r:id="rId4"/>
  </p:custDataLst>
  <p:defaultTextStyle>
    <a:defPPr>
      <a:defRPr lang="zh-CN"/>
    </a:defPPr>
    <a:lvl1pPr marL="0" algn="l" defTabSz="1946275" rtl="0" eaLnBrk="1" latinLnBrk="0" hangingPunct="1">
      <a:defRPr sz="3830" kern="1200">
        <a:solidFill>
          <a:schemeClr val="tx1"/>
        </a:solidFill>
        <a:latin typeface="+mn-lt"/>
        <a:ea typeface="+mn-ea"/>
        <a:cs typeface="+mn-cs"/>
      </a:defRPr>
    </a:lvl1pPr>
    <a:lvl2pPr marL="973455" algn="l" defTabSz="1946275" rtl="0" eaLnBrk="1" latinLnBrk="0" hangingPunct="1">
      <a:defRPr sz="3830" kern="1200">
        <a:solidFill>
          <a:schemeClr val="tx1"/>
        </a:solidFill>
        <a:latin typeface="+mn-lt"/>
        <a:ea typeface="+mn-ea"/>
        <a:cs typeface="+mn-cs"/>
      </a:defRPr>
    </a:lvl2pPr>
    <a:lvl3pPr marL="1946275" algn="l" defTabSz="1946275" rtl="0" eaLnBrk="1" latinLnBrk="0" hangingPunct="1">
      <a:defRPr sz="3830" kern="1200">
        <a:solidFill>
          <a:schemeClr val="tx1"/>
        </a:solidFill>
        <a:latin typeface="+mn-lt"/>
        <a:ea typeface="+mn-ea"/>
        <a:cs typeface="+mn-cs"/>
      </a:defRPr>
    </a:lvl3pPr>
    <a:lvl4pPr marL="2919730" algn="l" defTabSz="1946275" rtl="0" eaLnBrk="1" latinLnBrk="0" hangingPunct="1">
      <a:defRPr sz="3830" kern="1200">
        <a:solidFill>
          <a:schemeClr val="tx1"/>
        </a:solidFill>
        <a:latin typeface="+mn-lt"/>
        <a:ea typeface="+mn-ea"/>
        <a:cs typeface="+mn-cs"/>
      </a:defRPr>
    </a:lvl4pPr>
    <a:lvl5pPr marL="3893185" algn="l" defTabSz="1946275" rtl="0" eaLnBrk="1" latinLnBrk="0" hangingPunct="1">
      <a:defRPr sz="3830" kern="1200">
        <a:solidFill>
          <a:schemeClr val="tx1"/>
        </a:solidFill>
        <a:latin typeface="+mn-lt"/>
        <a:ea typeface="+mn-ea"/>
        <a:cs typeface="+mn-cs"/>
      </a:defRPr>
    </a:lvl5pPr>
    <a:lvl6pPr marL="4866005" algn="l" defTabSz="1946275" rtl="0" eaLnBrk="1" latinLnBrk="0" hangingPunct="1">
      <a:defRPr sz="3830" kern="1200">
        <a:solidFill>
          <a:schemeClr val="tx1"/>
        </a:solidFill>
        <a:latin typeface="+mn-lt"/>
        <a:ea typeface="+mn-ea"/>
        <a:cs typeface="+mn-cs"/>
      </a:defRPr>
    </a:lvl6pPr>
    <a:lvl7pPr marL="5839460" algn="l" defTabSz="1946275" rtl="0" eaLnBrk="1" latinLnBrk="0" hangingPunct="1">
      <a:defRPr sz="3830" kern="1200">
        <a:solidFill>
          <a:schemeClr val="tx1"/>
        </a:solidFill>
        <a:latin typeface="+mn-lt"/>
        <a:ea typeface="+mn-ea"/>
        <a:cs typeface="+mn-cs"/>
      </a:defRPr>
    </a:lvl7pPr>
    <a:lvl8pPr marL="6812915" algn="l" defTabSz="1946275" rtl="0" eaLnBrk="1" latinLnBrk="0" hangingPunct="1">
      <a:defRPr sz="3830" kern="1200">
        <a:solidFill>
          <a:schemeClr val="tx1"/>
        </a:solidFill>
        <a:latin typeface="+mn-lt"/>
        <a:ea typeface="+mn-ea"/>
        <a:cs typeface="+mn-cs"/>
      </a:defRPr>
    </a:lvl8pPr>
    <a:lvl9pPr marL="7786370" algn="l" defTabSz="1946275" rtl="0" eaLnBrk="1" latinLnBrk="0" hangingPunct="1">
      <a:defRPr sz="383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32">
          <p15:clr>
            <a:srgbClr val="A4A3A4"/>
          </p15:clr>
        </p15:guide>
        <p15:guide id="2" pos="45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50A8"/>
    <a:srgbClr val="2166B3"/>
    <a:srgbClr val="DBCAC3"/>
    <a:srgbClr val="905975"/>
    <a:srgbClr val="89AD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autoAdjust="0"/>
    <p:restoredTop sz="94660"/>
  </p:normalViewPr>
  <p:slideViewPr>
    <p:cSldViewPr>
      <p:cViewPr varScale="1">
        <p:scale>
          <a:sx n="13" d="100"/>
          <a:sy n="13" d="100"/>
        </p:scale>
        <p:origin x="2175" y="159"/>
      </p:cViewPr>
      <p:guideLst>
        <p:guide orient="horz" pos="6132"/>
        <p:guide pos="459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6157913" cy="10080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8050213" y="0"/>
            <a:ext cx="6157912" cy="1008063"/>
          </a:xfrm>
          <a:prstGeom prst="rect">
            <a:avLst/>
          </a:prstGeom>
        </p:spPr>
        <p:txBody>
          <a:bodyPr vert="horz" lIns="91440" tIns="45720" rIns="91440" bIns="45720" rtlCol="0"/>
          <a:lstStyle>
            <a:lvl1pPr algn="r">
              <a:defRPr sz="1200"/>
            </a:lvl1pPr>
          </a:lstStyle>
          <a:p>
            <a:fld id="{5A52E768-6D3B-42EA-AFFD-68FB3C2EC5F3}" type="datetimeFigureOut">
              <a:rPr lang="zh-CN" altLang="en-US" smtClean="0"/>
              <a:t>2025-11-07</a:t>
            </a:fld>
            <a:endParaRPr lang="zh-CN" altLang="en-US"/>
          </a:p>
        </p:txBody>
      </p:sp>
      <p:sp>
        <p:nvSpPr>
          <p:cNvPr id="4" name="幻灯片图像占位符 3"/>
          <p:cNvSpPr>
            <a:spLocks noGrp="1" noRot="1" noChangeAspect="1"/>
          </p:cNvSpPr>
          <p:nvPr>
            <p:ph type="sldImg" idx="2"/>
          </p:nvPr>
        </p:nvSpPr>
        <p:spPr>
          <a:xfrm>
            <a:off x="4706938" y="2513013"/>
            <a:ext cx="4797425" cy="67849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420813" y="9675813"/>
            <a:ext cx="11369675" cy="7915275"/>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19096038"/>
            <a:ext cx="6157913" cy="100806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8050213" y="19096038"/>
            <a:ext cx="6157912" cy="1008062"/>
          </a:xfrm>
          <a:prstGeom prst="rect">
            <a:avLst/>
          </a:prstGeom>
        </p:spPr>
        <p:txBody>
          <a:bodyPr vert="horz" lIns="91440" tIns="45720" rIns="91440" bIns="45720" rtlCol="0" anchor="b"/>
          <a:lstStyle>
            <a:lvl1pPr algn="r">
              <a:defRPr sz="1200"/>
            </a:lvl1pPr>
          </a:lstStyle>
          <a:p>
            <a:fld id="{42BA0ED0-A066-477B-BF89-E97CCCE2749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946275" rtl="0" eaLnBrk="1" latinLnBrk="0" hangingPunct="1">
      <a:defRPr sz="2555" kern="1200">
        <a:solidFill>
          <a:schemeClr val="tx1"/>
        </a:solidFill>
        <a:latin typeface="+mn-lt"/>
        <a:ea typeface="+mn-ea"/>
        <a:cs typeface="+mn-cs"/>
      </a:defRPr>
    </a:lvl1pPr>
    <a:lvl2pPr marL="973455" algn="l" defTabSz="1946275" rtl="0" eaLnBrk="1" latinLnBrk="0" hangingPunct="1">
      <a:defRPr sz="2555" kern="1200">
        <a:solidFill>
          <a:schemeClr val="tx1"/>
        </a:solidFill>
        <a:latin typeface="+mn-lt"/>
        <a:ea typeface="+mn-ea"/>
        <a:cs typeface="+mn-cs"/>
      </a:defRPr>
    </a:lvl2pPr>
    <a:lvl3pPr marL="1946275" algn="l" defTabSz="1946275" rtl="0" eaLnBrk="1" latinLnBrk="0" hangingPunct="1">
      <a:defRPr sz="2555" kern="1200">
        <a:solidFill>
          <a:schemeClr val="tx1"/>
        </a:solidFill>
        <a:latin typeface="+mn-lt"/>
        <a:ea typeface="+mn-ea"/>
        <a:cs typeface="+mn-cs"/>
      </a:defRPr>
    </a:lvl3pPr>
    <a:lvl4pPr marL="2919730" algn="l" defTabSz="1946275" rtl="0" eaLnBrk="1" latinLnBrk="0" hangingPunct="1">
      <a:defRPr sz="2555" kern="1200">
        <a:solidFill>
          <a:schemeClr val="tx1"/>
        </a:solidFill>
        <a:latin typeface="+mn-lt"/>
        <a:ea typeface="+mn-ea"/>
        <a:cs typeface="+mn-cs"/>
      </a:defRPr>
    </a:lvl4pPr>
    <a:lvl5pPr marL="3893185" algn="l" defTabSz="1946275" rtl="0" eaLnBrk="1" latinLnBrk="0" hangingPunct="1">
      <a:defRPr sz="2555" kern="1200">
        <a:solidFill>
          <a:schemeClr val="tx1"/>
        </a:solidFill>
        <a:latin typeface="+mn-lt"/>
        <a:ea typeface="+mn-ea"/>
        <a:cs typeface="+mn-cs"/>
      </a:defRPr>
    </a:lvl5pPr>
    <a:lvl6pPr marL="4866005" algn="l" defTabSz="1946275" rtl="0" eaLnBrk="1" latinLnBrk="0" hangingPunct="1">
      <a:defRPr sz="2555" kern="1200">
        <a:solidFill>
          <a:schemeClr val="tx1"/>
        </a:solidFill>
        <a:latin typeface="+mn-lt"/>
        <a:ea typeface="+mn-ea"/>
        <a:cs typeface="+mn-cs"/>
      </a:defRPr>
    </a:lvl6pPr>
    <a:lvl7pPr marL="5839460" algn="l" defTabSz="1946275" rtl="0" eaLnBrk="1" latinLnBrk="0" hangingPunct="1">
      <a:defRPr sz="2555" kern="1200">
        <a:solidFill>
          <a:schemeClr val="tx1"/>
        </a:solidFill>
        <a:latin typeface="+mn-lt"/>
        <a:ea typeface="+mn-ea"/>
        <a:cs typeface="+mn-cs"/>
      </a:defRPr>
    </a:lvl7pPr>
    <a:lvl8pPr marL="6812915" algn="l" defTabSz="1946275" rtl="0" eaLnBrk="1" latinLnBrk="0" hangingPunct="1">
      <a:defRPr sz="2555" kern="1200">
        <a:solidFill>
          <a:schemeClr val="tx1"/>
        </a:solidFill>
        <a:latin typeface="+mn-lt"/>
        <a:ea typeface="+mn-ea"/>
        <a:cs typeface="+mn-cs"/>
      </a:defRPr>
    </a:lvl8pPr>
    <a:lvl9pPr marL="7786370" algn="l" defTabSz="1946275" rtl="0" eaLnBrk="1" latinLnBrk="0" hangingPunct="1">
      <a:defRPr sz="25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BA0ED0-A066-477B-BF89-E97CCCE27495}" type="slidenum">
              <a:rPr lang="zh-CN" altLang="en-US" smtClean="0"/>
              <a:t>1</a:t>
            </a:fld>
            <a:endParaRPr lang="zh-CN" altLang="en-US"/>
          </a:p>
        </p:txBody>
      </p:sp>
    </p:spTree>
    <p:extLst>
      <p:ext uri="{BB962C8B-B14F-4D97-AF65-F5344CB8AC3E}">
        <p14:creationId xmlns:p14="http://schemas.microsoft.com/office/powerpoint/2010/main" val="2296682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10298176" y="39807504"/>
            <a:ext cx="9692398" cy="2140190"/>
          </a:xfrm>
          <a:prstGeom prst="rect">
            <a:avLst/>
          </a:prstGeom>
        </p:spPr>
        <p:txBody>
          <a:bodyPr lIns="0" tIns="0" rIns="0" bIns="0"/>
          <a:lstStyle>
            <a:lvl1pPr algn="ctr">
              <a:defRPr>
                <a:solidFill>
                  <a:schemeClr val="tx1">
                    <a:tint val="75000"/>
                  </a:schemeClr>
                </a:solidFill>
              </a:defRPr>
            </a:lvl1pPr>
          </a:lstStyle>
          <a:p>
            <a:pPr>
              <a:defRPr/>
            </a:pPr>
            <a:endParaRPr lang="zh-CN" altLang="en-US">
              <a:solidFill>
                <a:prstClr val="black">
                  <a:tint val="75000"/>
                </a:prstClr>
              </a:solidFill>
            </a:endParaRPr>
          </a:p>
        </p:txBody>
      </p:sp>
      <p:sp>
        <p:nvSpPr>
          <p:cNvPr id="3" name="Holder 3"/>
          <p:cNvSpPr>
            <a:spLocks noGrp="1"/>
          </p:cNvSpPr>
          <p:nvPr>
            <p:ph type="dt" sz="half" idx="6"/>
          </p:nvPr>
        </p:nvSpPr>
        <p:spPr>
          <a:xfrm>
            <a:off x="1514439" y="39807504"/>
            <a:ext cx="6966411" cy="2140190"/>
          </a:xfrm>
          <a:prstGeom prst="rect">
            <a:avLst/>
          </a:prstGeom>
        </p:spPr>
        <p:txBody>
          <a:bodyPr lIns="0" tIns="0" rIns="0" bIns="0"/>
          <a:lstStyle>
            <a:lvl1pPr algn="l">
              <a:defRPr>
                <a:solidFill>
                  <a:schemeClr val="tx1">
                    <a:tint val="75000"/>
                  </a:schemeClr>
                </a:solidFill>
              </a:defRPr>
            </a:lvl1pPr>
          </a:lstStyle>
          <a:p>
            <a:pPr>
              <a:defRPr/>
            </a:pPr>
            <a:fld id="{1D8BD707-D9CF-40AE-B4C6-C98DA3205C09}" type="datetimeFigureOut">
              <a:rPr lang="en-US" smtClean="0">
                <a:solidFill>
                  <a:prstClr val="black">
                    <a:tint val="75000"/>
                  </a:prstClr>
                </a:solidFill>
              </a:rPr>
              <a:t>11/7/2025</a:t>
            </a:fld>
            <a:endParaRPr lang="en-US">
              <a:solidFill>
                <a:prstClr val="black">
                  <a:tint val="75000"/>
                </a:prstClr>
              </a:solidFill>
            </a:endParaRPr>
          </a:p>
        </p:txBody>
      </p:sp>
      <p:sp>
        <p:nvSpPr>
          <p:cNvPr id="4" name="Holder 4"/>
          <p:cNvSpPr>
            <a:spLocks noGrp="1"/>
          </p:cNvSpPr>
          <p:nvPr>
            <p:ph type="sldNum" sz="quarter" idx="7"/>
          </p:nvPr>
        </p:nvSpPr>
        <p:spPr>
          <a:xfrm>
            <a:off x="21807893" y="39807504"/>
            <a:ext cx="6966411" cy="2140190"/>
          </a:xfrm>
          <a:prstGeom prst="rect">
            <a:avLst/>
          </a:prstGeom>
        </p:spPr>
        <p:txBody>
          <a:bodyPr lIns="0" tIns="0" rIns="0" bIns="0"/>
          <a:lstStyle>
            <a:lvl1pPr algn="r">
              <a:defRPr>
                <a:solidFill>
                  <a:schemeClr val="tx1">
                    <a:tint val="75000"/>
                  </a:schemeClr>
                </a:solidFill>
              </a:defRPr>
            </a:lvl1pPr>
          </a:lstStyle>
          <a:p>
            <a:pPr>
              <a:defRPr/>
            </a:pPr>
            <a:fld id="{B6F15528-21DE-4FAA-801E-634DDDAF4B2B}" type="slidenum">
              <a:rPr lang="en-US" altLang="zh-CN" smtClean="0">
                <a:solidFill>
                  <a:prstClr val="black">
                    <a:tint val="75000"/>
                  </a:prstClr>
                </a:solidFill>
              </a:rPr>
              <a:t>‹#›</a:t>
            </a:fld>
            <a:endParaRPr lang="en-US" altLang="zh-CN">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972185">
        <a:defRPr>
          <a:latin typeface="+mn-lt"/>
          <a:ea typeface="+mn-ea"/>
          <a:cs typeface="+mn-cs"/>
        </a:defRPr>
      </a:lvl2pPr>
      <a:lvl3pPr marL="1944370">
        <a:defRPr>
          <a:latin typeface="+mn-lt"/>
          <a:ea typeface="+mn-ea"/>
          <a:cs typeface="+mn-cs"/>
        </a:defRPr>
      </a:lvl3pPr>
      <a:lvl4pPr marL="2917190">
        <a:defRPr>
          <a:latin typeface="+mn-lt"/>
          <a:ea typeface="+mn-ea"/>
          <a:cs typeface="+mn-cs"/>
        </a:defRPr>
      </a:lvl4pPr>
      <a:lvl5pPr marL="3889375">
        <a:defRPr>
          <a:latin typeface="+mn-lt"/>
          <a:ea typeface="+mn-ea"/>
          <a:cs typeface="+mn-cs"/>
        </a:defRPr>
      </a:lvl5pPr>
      <a:lvl6pPr marL="4861560">
        <a:defRPr>
          <a:latin typeface="+mn-lt"/>
          <a:ea typeface="+mn-ea"/>
          <a:cs typeface="+mn-cs"/>
        </a:defRPr>
      </a:lvl6pPr>
      <a:lvl7pPr marL="5833745">
        <a:defRPr>
          <a:latin typeface="+mn-lt"/>
          <a:ea typeface="+mn-ea"/>
          <a:cs typeface="+mn-cs"/>
        </a:defRPr>
      </a:lvl7pPr>
      <a:lvl8pPr marL="6805930">
        <a:defRPr>
          <a:latin typeface="+mn-lt"/>
          <a:ea typeface="+mn-ea"/>
          <a:cs typeface="+mn-cs"/>
        </a:defRPr>
      </a:lvl8pPr>
      <a:lvl9pPr marL="7778750">
        <a:defRPr>
          <a:latin typeface="+mn-lt"/>
          <a:ea typeface="+mn-ea"/>
          <a:cs typeface="+mn-cs"/>
        </a:defRPr>
      </a:lvl9pPr>
    </p:bodyStyle>
    <p:otherStyle>
      <a:lvl1pPr marL="0">
        <a:defRPr>
          <a:latin typeface="+mn-lt"/>
          <a:ea typeface="+mn-ea"/>
          <a:cs typeface="+mn-cs"/>
        </a:defRPr>
      </a:lvl1pPr>
      <a:lvl2pPr marL="972185">
        <a:defRPr>
          <a:latin typeface="+mn-lt"/>
          <a:ea typeface="+mn-ea"/>
          <a:cs typeface="+mn-cs"/>
        </a:defRPr>
      </a:lvl2pPr>
      <a:lvl3pPr marL="1944370">
        <a:defRPr>
          <a:latin typeface="+mn-lt"/>
          <a:ea typeface="+mn-ea"/>
          <a:cs typeface="+mn-cs"/>
        </a:defRPr>
      </a:lvl3pPr>
      <a:lvl4pPr marL="2917190">
        <a:defRPr>
          <a:latin typeface="+mn-lt"/>
          <a:ea typeface="+mn-ea"/>
          <a:cs typeface="+mn-cs"/>
        </a:defRPr>
      </a:lvl4pPr>
      <a:lvl5pPr marL="3889375">
        <a:defRPr>
          <a:latin typeface="+mn-lt"/>
          <a:ea typeface="+mn-ea"/>
          <a:cs typeface="+mn-cs"/>
        </a:defRPr>
      </a:lvl5pPr>
      <a:lvl6pPr marL="4861560">
        <a:defRPr>
          <a:latin typeface="+mn-lt"/>
          <a:ea typeface="+mn-ea"/>
          <a:cs typeface="+mn-cs"/>
        </a:defRPr>
      </a:lvl6pPr>
      <a:lvl7pPr marL="5833745">
        <a:defRPr>
          <a:latin typeface="+mn-lt"/>
          <a:ea typeface="+mn-ea"/>
          <a:cs typeface="+mn-cs"/>
        </a:defRPr>
      </a:lvl7pPr>
      <a:lvl8pPr marL="6805930">
        <a:defRPr>
          <a:latin typeface="+mn-lt"/>
          <a:ea typeface="+mn-ea"/>
          <a:cs typeface="+mn-cs"/>
        </a:defRPr>
      </a:lvl8pPr>
      <a:lvl9pPr marL="777875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18" Type="http://schemas.openxmlformats.org/officeDocument/2006/relationships/image" Target="../media/image13.png"/><Relationship Id="rId3" Type="http://schemas.openxmlformats.org/officeDocument/2006/relationships/tags" Target="../tags/tag4.xml"/><Relationship Id="rId21" Type="http://schemas.openxmlformats.org/officeDocument/2006/relationships/image" Target="../media/image15.png"/><Relationship Id="rId7" Type="http://schemas.openxmlformats.org/officeDocument/2006/relationships/image" Target="../media/image2.png"/><Relationship Id="rId12" Type="http://schemas.openxmlformats.org/officeDocument/2006/relationships/image" Target="../media/image7.jpeg"/><Relationship Id="rId17" Type="http://schemas.openxmlformats.org/officeDocument/2006/relationships/image" Target="../media/image12.svg"/><Relationship Id="rId25" Type="http://schemas.openxmlformats.org/officeDocument/2006/relationships/image" Target="../media/image18.png"/><Relationship Id="rId2" Type="http://schemas.openxmlformats.org/officeDocument/2006/relationships/tags" Target="../tags/tag3.xml"/><Relationship Id="rId16" Type="http://schemas.openxmlformats.org/officeDocument/2006/relationships/image" Target="../media/image11.png"/><Relationship Id="rId20" Type="http://schemas.openxmlformats.org/officeDocument/2006/relationships/image" Target="../media/image105.png"/><Relationship Id="rId1" Type="http://schemas.openxmlformats.org/officeDocument/2006/relationships/tags" Target="../tags/tag2.xml"/><Relationship Id="rId6" Type="http://schemas.openxmlformats.org/officeDocument/2006/relationships/image" Target="../media/image1.png"/><Relationship Id="rId11" Type="http://schemas.openxmlformats.org/officeDocument/2006/relationships/image" Target="../media/image6.png"/><Relationship Id="rId24" Type="http://schemas.openxmlformats.org/officeDocument/2006/relationships/image" Target="../media/image109.png"/><Relationship Id="rId5" Type="http://schemas.openxmlformats.org/officeDocument/2006/relationships/notesSlide" Target="../notesSlides/notesSlide1.xml"/><Relationship Id="rId15" Type="http://schemas.openxmlformats.org/officeDocument/2006/relationships/image" Target="../media/image10.svg"/><Relationship Id="rId23" Type="http://schemas.openxmlformats.org/officeDocument/2006/relationships/image" Target="../media/image17.png"/><Relationship Id="rId10" Type="http://schemas.openxmlformats.org/officeDocument/2006/relationships/image" Target="../media/image5.png"/><Relationship Id="rId19" Type="http://schemas.openxmlformats.org/officeDocument/2006/relationships/image" Target="../media/image14.png"/><Relationship Id="rId4" Type="http://schemas.openxmlformats.org/officeDocument/2006/relationships/slideLayout" Target="../slideLayouts/slideLayout1.xml"/><Relationship Id="rId9" Type="http://schemas.openxmlformats.org/officeDocument/2006/relationships/image" Target="../media/image4.png"/><Relationship Id="rId14" Type="http://schemas.openxmlformats.org/officeDocument/2006/relationships/image" Target="../media/image9.png"/><Relationship Id="rId22"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圆角 19">
            <a:extLst>
              <a:ext uri="{FF2B5EF4-FFF2-40B4-BE49-F238E27FC236}">
                <a16:creationId xmlns:a16="http://schemas.microsoft.com/office/drawing/2014/main" id="{6DFE12FF-C084-E232-C3E5-818DD264E538}"/>
              </a:ext>
            </a:extLst>
          </p:cNvPr>
          <p:cNvSpPr/>
          <p:nvPr/>
        </p:nvSpPr>
        <p:spPr>
          <a:xfrm>
            <a:off x="3512726" y="993563"/>
            <a:ext cx="26290084" cy="3375639"/>
          </a:xfrm>
          <a:prstGeom prst="roundRect">
            <a:avLst/>
          </a:prstGeom>
          <a:solidFill>
            <a:srgbClr val="0150A8"/>
          </a:solidFill>
          <a:ln>
            <a:solidFill>
              <a:srgbClr val="0150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bject 2"/>
          <p:cNvSpPr txBox="1"/>
          <p:nvPr/>
        </p:nvSpPr>
        <p:spPr>
          <a:xfrm>
            <a:off x="664967" y="5426304"/>
            <a:ext cx="28773914" cy="2097983"/>
          </a:xfrm>
          <a:prstGeom prst="rect">
            <a:avLst/>
          </a:prstGeom>
        </p:spPr>
        <p:txBody>
          <a:bodyPr vert="horz" wrap="square" lIns="0" tIns="50773" rIns="0" bIns="0" rtlCol="0">
            <a:spAutoFit/>
          </a:bodyPr>
          <a:lstStyle/>
          <a:p>
            <a:pPr marL="152400">
              <a:spcBef>
                <a:spcPts val="400"/>
              </a:spcBef>
              <a:spcAft>
                <a:spcPts val="600"/>
              </a:spcAft>
            </a:pPr>
            <a:r>
              <a:rPr lang="en-US" sz="3200" b="1" spc="-40" dirty="0">
                <a:solidFill>
                  <a:srgbClr val="0150A8"/>
                </a:solidFill>
                <a:latin typeface="Arial" panose="020B0604020202020204"/>
                <a:cs typeface="Arial" panose="020B0604020202020204"/>
              </a:rPr>
              <a:t>AIM</a:t>
            </a:r>
            <a:r>
              <a:rPr sz="3200" b="1" spc="-40" dirty="0">
                <a:solidFill>
                  <a:srgbClr val="0150A8"/>
                </a:solidFill>
                <a:latin typeface="Arial" panose="020B0604020202020204"/>
                <a:cs typeface="Arial" panose="020B0604020202020204"/>
              </a:rPr>
              <a:t>:</a:t>
            </a:r>
            <a:endParaRPr sz="3200" dirty="0">
              <a:solidFill>
                <a:srgbClr val="0150A8"/>
              </a:solidFill>
              <a:latin typeface="Arial" panose="020B0604020202020204"/>
              <a:cs typeface="Arial" panose="020B0604020202020204"/>
            </a:endParaRPr>
          </a:p>
          <a:p>
            <a:pPr marL="152400" marR="121920" algn="just"/>
            <a:r>
              <a:rPr lang="en-US" sz="3200" spc="-20" dirty="0">
                <a:latin typeface="Arial" panose="020B0604020202020204"/>
                <a:cs typeface="Arial" panose="020B0604020202020204"/>
              </a:rPr>
              <a:t>Breast cancer intrinsic subtyping is fundamental for precision treatment and prognosis. We developed UGES (Unified Genetic and Epigenetic Subtyping) [1], a DNA-level hierarchical classifier integrating somatic mutations, copy number aberrations, and DNA methylation, addressing inconsistencies in expression-based methods such as PAM50. In this study, we report the performance and clinical utility of UGES using real-world multi-cohort data.</a:t>
            </a:r>
          </a:p>
        </p:txBody>
      </p:sp>
      <p:grpSp>
        <p:nvGrpSpPr>
          <p:cNvPr id="6" name="object 6"/>
          <p:cNvGrpSpPr/>
          <p:nvPr/>
        </p:nvGrpSpPr>
        <p:grpSpPr>
          <a:xfrm>
            <a:off x="391653" y="39945055"/>
            <a:ext cx="29428906" cy="2335626"/>
            <a:chOff x="89910" y="10003528"/>
            <a:chExt cx="7360920" cy="584200"/>
          </a:xfrm>
          <a:solidFill>
            <a:srgbClr val="0150A8"/>
          </a:solidFill>
        </p:grpSpPr>
        <p:sp>
          <p:nvSpPr>
            <p:cNvPr id="7" name="object 7"/>
            <p:cNvSpPr/>
            <p:nvPr/>
          </p:nvSpPr>
          <p:spPr>
            <a:xfrm>
              <a:off x="91434" y="10006576"/>
              <a:ext cx="7356475" cy="579120"/>
            </a:xfrm>
            <a:custGeom>
              <a:avLst/>
              <a:gdLst/>
              <a:ahLst/>
              <a:cxnLst/>
              <a:rect l="l" t="t" r="r" b="b"/>
              <a:pathLst>
                <a:path w="7356475" h="579120">
                  <a:moveTo>
                    <a:pt x="7260341" y="0"/>
                  </a:moveTo>
                  <a:lnTo>
                    <a:pt x="97535" y="0"/>
                  </a:lnTo>
                  <a:lnTo>
                    <a:pt x="59793" y="7500"/>
                  </a:lnTo>
                  <a:lnTo>
                    <a:pt x="28765" y="28003"/>
                  </a:lnTo>
                  <a:lnTo>
                    <a:pt x="7739" y="58507"/>
                  </a:lnTo>
                  <a:lnTo>
                    <a:pt x="0" y="96011"/>
                  </a:lnTo>
                  <a:lnTo>
                    <a:pt x="0" y="481583"/>
                  </a:lnTo>
                  <a:lnTo>
                    <a:pt x="7739" y="519326"/>
                  </a:lnTo>
                  <a:lnTo>
                    <a:pt x="28765" y="550354"/>
                  </a:lnTo>
                  <a:lnTo>
                    <a:pt x="59793" y="571381"/>
                  </a:lnTo>
                  <a:lnTo>
                    <a:pt x="97535" y="579120"/>
                  </a:lnTo>
                  <a:lnTo>
                    <a:pt x="7260341" y="579120"/>
                  </a:lnTo>
                  <a:lnTo>
                    <a:pt x="7297846" y="571381"/>
                  </a:lnTo>
                  <a:lnTo>
                    <a:pt x="7328350" y="550354"/>
                  </a:lnTo>
                  <a:lnTo>
                    <a:pt x="7348852" y="519326"/>
                  </a:lnTo>
                  <a:lnTo>
                    <a:pt x="7356353" y="481583"/>
                  </a:lnTo>
                  <a:lnTo>
                    <a:pt x="7356353" y="96011"/>
                  </a:lnTo>
                  <a:lnTo>
                    <a:pt x="7348852" y="58507"/>
                  </a:lnTo>
                  <a:lnTo>
                    <a:pt x="7328350" y="28003"/>
                  </a:lnTo>
                  <a:lnTo>
                    <a:pt x="7297846" y="7500"/>
                  </a:lnTo>
                  <a:lnTo>
                    <a:pt x="7260341" y="0"/>
                  </a:lnTo>
                  <a:close/>
                </a:path>
              </a:pathLst>
            </a:custGeom>
            <a:grpFill/>
          </p:spPr>
          <p:txBody>
            <a:bodyPr wrap="square" lIns="0" tIns="0" rIns="0" bIns="0" rtlCol="0"/>
            <a:lstStyle/>
            <a:p>
              <a:endParaRPr sz="7200"/>
            </a:p>
          </p:txBody>
        </p:sp>
        <p:sp>
          <p:nvSpPr>
            <p:cNvPr id="8" name="object 8"/>
            <p:cNvSpPr/>
            <p:nvPr/>
          </p:nvSpPr>
          <p:spPr>
            <a:xfrm>
              <a:off x="89910" y="10003528"/>
              <a:ext cx="7360920" cy="584200"/>
            </a:xfrm>
            <a:custGeom>
              <a:avLst/>
              <a:gdLst/>
              <a:ahLst/>
              <a:cxnLst/>
              <a:rect l="l" t="t" r="r" b="b"/>
              <a:pathLst>
                <a:path w="7360920" h="584200">
                  <a:moveTo>
                    <a:pt x="7272534" y="0"/>
                  </a:moveTo>
                  <a:lnTo>
                    <a:pt x="88391" y="0"/>
                  </a:lnTo>
                  <a:lnTo>
                    <a:pt x="77723" y="3048"/>
                  </a:lnTo>
                  <a:lnTo>
                    <a:pt x="68579" y="4572"/>
                  </a:lnTo>
                  <a:lnTo>
                    <a:pt x="59436" y="7620"/>
                  </a:lnTo>
                  <a:lnTo>
                    <a:pt x="51816" y="12192"/>
                  </a:lnTo>
                  <a:lnTo>
                    <a:pt x="42672" y="16764"/>
                  </a:lnTo>
                  <a:lnTo>
                    <a:pt x="35052" y="22860"/>
                  </a:lnTo>
                  <a:lnTo>
                    <a:pt x="21336" y="36576"/>
                  </a:lnTo>
                  <a:lnTo>
                    <a:pt x="16764" y="44196"/>
                  </a:lnTo>
                  <a:lnTo>
                    <a:pt x="10668" y="51816"/>
                  </a:lnTo>
                  <a:lnTo>
                    <a:pt x="1524" y="79248"/>
                  </a:lnTo>
                  <a:lnTo>
                    <a:pt x="0" y="89916"/>
                  </a:lnTo>
                  <a:lnTo>
                    <a:pt x="0" y="495300"/>
                  </a:lnTo>
                  <a:lnTo>
                    <a:pt x="1524" y="504444"/>
                  </a:lnTo>
                  <a:lnTo>
                    <a:pt x="4572" y="515112"/>
                  </a:lnTo>
                  <a:lnTo>
                    <a:pt x="7620" y="524256"/>
                  </a:lnTo>
                  <a:lnTo>
                    <a:pt x="12192" y="531876"/>
                  </a:lnTo>
                  <a:lnTo>
                    <a:pt x="16764" y="541020"/>
                  </a:lnTo>
                  <a:lnTo>
                    <a:pt x="22860" y="548640"/>
                  </a:lnTo>
                  <a:lnTo>
                    <a:pt x="35052" y="560832"/>
                  </a:lnTo>
                  <a:lnTo>
                    <a:pt x="42672" y="566928"/>
                  </a:lnTo>
                  <a:lnTo>
                    <a:pt x="51816" y="571500"/>
                  </a:lnTo>
                  <a:lnTo>
                    <a:pt x="59436" y="576072"/>
                  </a:lnTo>
                  <a:lnTo>
                    <a:pt x="68579" y="579120"/>
                  </a:lnTo>
                  <a:lnTo>
                    <a:pt x="79247" y="582168"/>
                  </a:lnTo>
                  <a:lnTo>
                    <a:pt x="88391" y="583692"/>
                  </a:lnTo>
                  <a:lnTo>
                    <a:pt x="7272534" y="583692"/>
                  </a:lnTo>
                  <a:lnTo>
                    <a:pt x="7281678" y="582168"/>
                  </a:lnTo>
                  <a:lnTo>
                    <a:pt x="7290822" y="579120"/>
                  </a:lnTo>
                  <a:lnTo>
                    <a:pt x="88391" y="579120"/>
                  </a:lnTo>
                  <a:lnTo>
                    <a:pt x="79247" y="577596"/>
                  </a:lnTo>
                  <a:lnTo>
                    <a:pt x="38100" y="557784"/>
                  </a:lnTo>
                  <a:lnTo>
                    <a:pt x="25908" y="544068"/>
                  </a:lnTo>
                  <a:lnTo>
                    <a:pt x="19812" y="537972"/>
                  </a:lnTo>
                  <a:lnTo>
                    <a:pt x="15240" y="530352"/>
                  </a:lnTo>
                  <a:lnTo>
                    <a:pt x="12192" y="521208"/>
                  </a:lnTo>
                  <a:lnTo>
                    <a:pt x="9144" y="513588"/>
                  </a:lnTo>
                  <a:lnTo>
                    <a:pt x="6096" y="504444"/>
                  </a:lnTo>
                  <a:lnTo>
                    <a:pt x="4572" y="493776"/>
                  </a:lnTo>
                  <a:lnTo>
                    <a:pt x="4572" y="89916"/>
                  </a:lnTo>
                  <a:lnTo>
                    <a:pt x="19812" y="45720"/>
                  </a:lnTo>
                  <a:lnTo>
                    <a:pt x="25908" y="39624"/>
                  </a:lnTo>
                  <a:lnTo>
                    <a:pt x="32004" y="32004"/>
                  </a:lnTo>
                  <a:lnTo>
                    <a:pt x="70103" y="9144"/>
                  </a:lnTo>
                  <a:lnTo>
                    <a:pt x="99059" y="4572"/>
                  </a:lnTo>
                  <a:lnTo>
                    <a:pt x="7290822" y="4572"/>
                  </a:lnTo>
                  <a:lnTo>
                    <a:pt x="7281678" y="1524"/>
                  </a:lnTo>
                  <a:lnTo>
                    <a:pt x="7272534" y="0"/>
                  </a:lnTo>
                  <a:close/>
                </a:path>
                <a:path w="7360920" h="584200">
                  <a:moveTo>
                    <a:pt x="7290822" y="4572"/>
                  </a:moveTo>
                  <a:lnTo>
                    <a:pt x="7261866" y="4572"/>
                  </a:lnTo>
                  <a:lnTo>
                    <a:pt x="7289298" y="9144"/>
                  </a:lnTo>
                  <a:lnTo>
                    <a:pt x="7298442" y="12192"/>
                  </a:lnTo>
                  <a:lnTo>
                    <a:pt x="7306062" y="16764"/>
                  </a:lnTo>
                  <a:lnTo>
                    <a:pt x="7315206" y="21336"/>
                  </a:lnTo>
                  <a:lnTo>
                    <a:pt x="7321302" y="25908"/>
                  </a:lnTo>
                  <a:lnTo>
                    <a:pt x="7348734" y="62484"/>
                  </a:lnTo>
                  <a:lnTo>
                    <a:pt x="7356354" y="99060"/>
                  </a:lnTo>
                  <a:lnTo>
                    <a:pt x="7356354" y="484632"/>
                  </a:lnTo>
                  <a:lnTo>
                    <a:pt x="7344162" y="530352"/>
                  </a:lnTo>
                  <a:lnTo>
                    <a:pt x="7313682" y="562356"/>
                  </a:lnTo>
                  <a:lnTo>
                    <a:pt x="7306062" y="568452"/>
                  </a:lnTo>
                  <a:lnTo>
                    <a:pt x="7298442" y="571500"/>
                  </a:lnTo>
                  <a:lnTo>
                    <a:pt x="7280154" y="577596"/>
                  </a:lnTo>
                  <a:lnTo>
                    <a:pt x="7271010" y="579120"/>
                  </a:lnTo>
                  <a:lnTo>
                    <a:pt x="7290822" y="579120"/>
                  </a:lnTo>
                  <a:lnTo>
                    <a:pt x="7331970" y="554736"/>
                  </a:lnTo>
                  <a:lnTo>
                    <a:pt x="7353306" y="522732"/>
                  </a:lnTo>
                  <a:lnTo>
                    <a:pt x="7360926" y="495300"/>
                  </a:lnTo>
                  <a:lnTo>
                    <a:pt x="7360926" y="88392"/>
                  </a:lnTo>
                  <a:lnTo>
                    <a:pt x="7357878" y="79248"/>
                  </a:lnTo>
                  <a:lnTo>
                    <a:pt x="7356354" y="70104"/>
                  </a:lnTo>
                  <a:lnTo>
                    <a:pt x="7331970" y="28956"/>
                  </a:lnTo>
                  <a:lnTo>
                    <a:pt x="7299966" y="7620"/>
                  </a:lnTo>
                  <a:lnTo>
                    <a:pt x="7290822" y="4572"/>
                  </a:lnTo>
                  <a:close/>
                </a:path>
              </a:pathLst>
            </a:custGeom>
            <a:grpFill/>
          </p:spPr>
          <p:txBody>
            <a:bodyPr wrap="square" lIns="0" tIns="0" rIns="0" bIns="0" rtlCol="0"/>
            <a:lstStyle/>
            <a:p>
              <a:endParaRPr sz="7200"/>
            </a:p>
          </p:txBody>
        </p:sp>
      </p:grpSp>
      <p:sp>
        <p:nvSpPr>
          <p:cNvPr id="9" name="object 9"/>
          <p:cNvSpPr txBox="1"/>
          <p:nvPr/>
        </p:nvSpPr>
        <p:spPr>
          <a:xfrm>
            <a:off x="4090567" y="740374"/>
            <a:ext cx="25327855" cy="2036266"/>
          </a:xfrm>
          <a:prstGeom prst="rect">
            <a:avLst/>
          </a:prstGeom>
        </p:spPr>
        <p:txBody>
          <a:bodyPr vert="horz" wrap="square" lIns="0" tIns="370653" rIns="0" bIns="0" rtlCol="0">
            <a:spAutoFit/>
          </a:bodyPr>
          <a:lstStyle/>
          <a:p>
            <a:pPr marL="388620">
              <a:spcBef>
                <a:spcPts val="2920"/>
              </a:spcBef>
            </a:pPr>
            <a:r>
              <a:rPr lang="en-US" sz="5400" b="1" spc="-40" dirty="0">
                <a:solidFill>
                  <a:schemeClr val="bg1"/>
                </a:solidFill>
                <a:latin typeface="Arial" panose="020B0604020202020204"/>
                <a:cs typeface="Arial" panose="020B0604020202020204"/>
              </a:rPr>
              <a:t>Accurate breast cancer intrinsic subtyping using DNA-only biomarkers with applications to multi-cohorts</a:t>
            </a:r>
            <a:endParaRPr lang="en-US" sz="5400" dirty="0">
              <a:solidFill>
                <a:schemeClr val="bg1"/>
              </a:solidFill>
              <a:latin typeface="Arial" panose="020B0604020202020204"/>
              <a:cs typeface="Arial" panose="020B0604020202020204"/>
            </a:endParaRPr>
          </a:p>
        </p:txBody>
      </p:sp>
      <p:sp>
        <p:nvSpPr>
          <p:cNvPr id="10" name="object 10"/>
          <p:cNvSpPr/>
          <p:nvPr/>
        </p:nvSpPr>
        <p:spPr>
          <a:xfrm flipV="1">
            <a:off x="4393406" y="3394060"/>
            <a:ext cx="2590800" cy="45719"/>
          </a:xfrm>
          <a:custGeom>
            <a:avLst/>
            <a:gdLst/>
            <a:ahLst/>
            <a:cxnLst/>
            <a:rect l="l" t="t" r="r" b="b"/>
            <a:pathLst>
              <a:path w="558164" h="9525">
                <a:moveTo>
                  <a:pt x="557783" y="0"/>
                </a:moveTo>
                <a:lnTo>
                  <a:pt x="0" y="0"/>
                </a:lnTo>
                <a:lnTo>
                  <a:pt x="0" y="9143"/>
                </a:lnTo>
                <a:lnTo>
                  <a:pt x="557783" y="9143"/>
                </a:lnTo>
                <a:lnTo>
                  <a:pt x="557783" y="0"/>
                </a:lnTo>
                <a:close/>
              </a:path>
            </a:pathLst>
          </a:custGeom>
          <a:solidFill>
            <a:srgbClr val="F2F2F2"/>
          </a:solidFill>
        </p:spPr>
        <p:txBody>
          <a:bodyPr wrap="square" lIns="0" tIns="0" rIns="0" bIns="0" rtlCol="0"/>
          <a:lstStyle/>
          <a:p>
            <a:endParaRPr sz="7200"/>
          </a:p>
        </p:txBody>
      </p:sp>
      <p:sp>
        <p:nvSpPr>
          <p:cNvPr id="11" name="object 11"/>
          <p:cNvSpPr txBox="1"/>
          <p:nvPr/>
        </p:nvSpPr>
        <p:spPr>
          <a:xfrm>
            <a:off x="4051041" y="2673505"/>
            <a:ext cx="16154400" cy="1456665"/>
          </a:xfrm>
          <a:prstGeom prst="rect">
            <a:avLst/>
          </a:prstGeom>
        </p:spPr>
        <p:txBody>
          <a:bodyPr vert="horz" wrap="square" lIns="0" tIns="284337" rIns="0" bIns="0" rtlCol="0">
            <a:spAutoFit/>
          </a:bodyPr>
          <a:lstStyle/>
          <a:p>
            <a:pPr marL="152400"/>
            <a:r>
              <a:rPr lang="en-US" sz="2800" b="1" spc="-40" dirty="0">
                <a:solidFill>
                  <a:schemeClr val="bg1"/>
                </a:solidFill>
                <a:latin typeface="Arial" panose="020B0604020202020204"/>
                <a:cs typeface="Arial" panose="020B0604020202020204"/>
              </a:rPr>
              <a:t>Xintong Chang¹, </a:t>
            </a:r>
            <a:r>
              <a:rPr lang="en-US" sz="2800" b="1" spc="-40" dirty="0" err="1">
                <a:solidFill>
                  <a:schemeClr val="bg1"/>
                </a:solidFill>
                <a:latin typeface="Arial" panose="020B0604020202020204"/>
                <a:cs typeface="Arial" panose="020B0604020202020204"/>
              </a:rPr>
              <a:t>Linping</a:t>
            </a:r>
            <a:r>
              <a:rPr lang="en-US" sz="2800" b="1" spc="-40" dirty="0">
                <a:solidFill>
                  <a:schemeClr val="bg1"/>
                </a:solidFill>
                <a:latin typeface="Arial" panose="020B0604020202020204"/>
                <a:cs typeface="Arial" panose="020B0604020202020204"/>
              </a:rPr>
              <a:t> Wang¹, Hongyu Duan¹, Li C. Xia¹*</a:t>
            </a:r>
          </a:p>
          <a:p>
            <a:pPr marL="152400">
              <a:tabLst>
                <a:tab pos="608965" algn="l"/>
              </a:tabLst>
            </a:pPr>
            <a:r>
              <a:rPr lang="en-US" sz="2400" b="1" i="1" dirty="0">
                <a:solidFill>
                  <a:schemeClr val="bg1"/>
                </a:solidFill>
                <a:latin typeface="Arial" panose="020B0604020202020204"/>
                <a:cs typeface="Arial" panose="020B0604020202020204"/>
              </a:rPr>
              <a:t>¹School of Mathematics, South China University of Technology, Guangzhou 510000, Guangdong, China</a:t>
            </a:r>
          </a:p>
          <a:p>
            <a:pPr marL="152400">
              <a:tabLst>
                <a:tab pos="608965" algn="l"/>
              </a:tabLst>
            </a:pPr>
            <a:r>
              <a:rPr lang="en-US" sz="2400" b="1" i="1" dirty="0">
                <a:solidFill>
                  <a:schemeClr val="bg1"/>
                </a:solidFill>
                <a:latin typeface="Arial" panose="020B0604020202020204"/>
                <a:cs typeface="Arial" panose="020B0604020202020204"/>
              </a:rPr>
              <a:t>Email: </a:t>
            </a:r>
            <a:r>
              <a:rPr lang="en-US" sz="2400" b="1" i="1" dirty="0">
                <a:solidFill>
                  <a:srgbClr val="C00000"/>
                </a:solidFill>
                <a:latin typeface="Arial" panose="020B0604020202020204"/>
                <a:cs typeface="Arial" panose="020B0604020202020204"/>
              </a:rPr>
              <a:t>lcxia@scut.edu.cn </a:t>
            </a:r>
          </a:p>
        </p:txBody>
      </p:sp>
      <p:sp>
        <p:nvSpPr>
          <p:cNvPr id="12" name="object 12"/>
          <p:cNvSpPr/>
          <p:nvPr/>
        </p:nvSpPr>
        <p:spPr>
          <a:xfrm>
            <a:off x="452577" y="8676481"/>
            <a:ext cx="14435194" cy="27913765"/>
          </a:xfrm>
          <a:custGeom>
            <a:avLst/>
            <a:gdLst/>
            <a:ahLst/>
            <a:cxnLst/>
            <a:rect l="l" t="t" r="r" b="b"/>
            <a:pathLst>
              <a:path w="3610610" h="6967855">
                <a:moveTo>
                  <a:pt x="3392430" y="0"/>
                </a:moveTo>
                <a:lnTo>
                  <a:pt x="216407" y="0"/>
                </a:lnTo>
                <a:lnTo>
                  <a:pt x="193547" y="1524"/>
                </a:lnTo>
                <a:lnTo>
                  <a:pt x="152399" y="10668"/>
                </a:lnTo>
                <a:lnTo>
                  <a:pt x="112775" y="27432"/>
                </a:lnTo>
                <a:lnTo>
                  <a:pt x="77723" y="50292"/>
                </a:lnTo>
                <a:lnTo>
                  <a:pt x="48767" y="80772"/>
                </a:lnTo>
                <a:lnTo>
                  <a:pt x="25908" y="114300"/>
                </a:lnTo>
                <a:lnTo>
                  <a:pt x="9144" y="153924"/>
                </a:lnTo>
                <a:lnTo>
                  <a:pt x="0" y="196596"/>
                </a:lnTo>
                <a:lnTo>
                  <a:pt x="0" y="6772653"/>
                </a:lnTo>
                <a:lnTo>
                  <a:pt x="9144" y="6815325"/>
                </a:lnTo>
                <a:lnTo>
                  <a:pt x="25908" y="6854949"/>
                </a:lnTo>
                <a:lnTo>
                  <a:pt x="48767" y="6888477"/>
                </a:lnTo>
                <a:lnTo>
                  <a:pt x="79247" y="6918957"/>
                </a:lnTo>
                <a:lnTo>
                  <a:pt x="112775" y="6941817"/>
                </a:lnTo>
                <a:lnTo>
                  <a:pt x="152399" y="6958581"/>
                </a:lnTo>
                <a:lnTo>
                  <a:pt x="195071" y="6967725"/>
                </a:lnTo>
                <a:lnTo>
                  <a:pt x="3393954" y="6967725"/>
                </a:lnTo>
                <a:lnTo>
                  <a:pt x="3415290" y="6966201"/>
                </a:lnTo>
                <a:lnTo>
                  <a:pt x="3436626" y="6963153"/>
                </a:lnTo>
                <a:lnTo>
                  <a:pt x="3457962" y="6958581"/>
                </a:lnTo>
                <a:lnTo>
                  <a:pt x="3469849" y="6954009"/>
                </a:lnTo>
                <a:lnTo>
                  <a:pt x="216407" y="6954009"/>
                </a:lnTo>
                <a:lnTo>
                  <a:pt x="195071" y="6952485"/>
                </a:lnTo>
                <a:lnTo>
                  <a:pt x="155447" y="6944865"/>
                </a:lnTo>
                <a:lnTo>
                  <a:pt x="118871" y="6929625"/>
                </a:lnTo>
                <a:lnTo>
                  <a:pt x="86867" y="6906765"/>
                </a:lnTo>
                <a:lnTo>
                  <a:pt x="59435" y="6879333"/>
                </a:lnTo>
                <a:lnTo>
                  <a:pt x="38100" y="6847329"/>
                </a:lnTo>
                <a:lnTo>
                  <a:pt x="22860" y="6810753"/>
                </a:lnTo>
                <a:lnTo>
                  <a:pt x="15240" y="6771129"/>
                </a:lnTo>
                <a:lnTo>
                  <a:pt x="13716" y="217932"/>
                </a:lnTo>
                <a:lnTo>
                  <a:pt x="15240" y="196596"/>
                </a:lnTo>
                <a:lnTo>
                  <a:pt x="22860" y="156972"/>
                </a:lnTo>
                <a:lnTo>
                  <a:pt x="38100" y="120396"/>
                </a:lnTo>
                <a:lnTo>
                  <a:pt x="59435" y="88392"/>
                </a:lnTo>
                <a:lnTo>
                  <a:pt x="88391" y="60960"/>
                </a:lnTo>
                <a:lnTo>
                  <a:pt x="120395" y="39624"/>
                </a:lnTo>
                <a:lnTo>
                  <a:pt x="156971" y="24384"/>
                </a:lnTo>
                <a:lnTo>
                  <a:pt x="196595" y="15240"/>
                </a:lnTo>
                <a:lnTo>
                  <a:pt x="3469239" y="15240"/>
                </a:lnTo>
                <a:lnTo>
                  <a:pt x="3456438" y="10668"/>
                </a:lnTo>
                <a:lnTo>
                  <a:pt x="3436626" y="4572"/>
                </a:lnTo>
                <a:lnTo>
                  <a:pt x="3415290" y="1524"/>
                </a:lnTo>
                <a:lnTo>
                  <a:pt x="3392430" y="0"/>
                </a:lnTo>
                <a:close/>
              </a:path>
              <a:path w="3610610" h="6967855">
                <a:moveTo>
                  <a:pt x="3469239" y="15240"/>
                </a:moveTo>
                <a:lnTo>
                  <a:pt x="3392430" y="15240"/>
                </a:lnTo>
                <a:lnTo>
                  <a:pt x="3413766" y="16764"/>
                </a:lnTo>
                <a:lnTo>
                  <a:pt x="3433578" y="19812"/>
                </a:lnTo>
                <a:lnTo>
                  <a:pt x="3471678" y="30480"/>
                </a:lnTo>
                <a:lnTo>
                  <a:pt x="3506730" y="50292"/>
                </a:lnTo>
                <a:lnTo>
                  <a:pt x="3537210" y="74676"/>
                </a:lnTo>
                <a:lnTo>
                  <a:pt x="3561594" y="105156"/>
                </a:lnTo>
                <a:lnTo>
                  <a:pt x="3579882" y="138684"/>
                </a:lnTo>
                <a:lnTo>
                  <a:pt x="3592074" y="176784"/>
                </a:lnTo>
                <a:lnTo>
                  <a:pt x="3596646" y="217932"/>
                </a:lnTo>
                <a:lnTo>
                  <a:pt x="3596646" y="6751320"/>
                </a:lnTo>
                <a:lnTo>
                  <a:pt x="3592074" y="6792465"/>
                </a:lnTo>
                <a:lnTo>
                  <a:pt x="3579882" y="6830565"/>
                </a:lnTo>
                <a:lnTo>
                  <a:pt x="3561594" y="6864093"/>
                </a:lnTo>
                <a:lnTo>
                  <a:pt x="3521970" y="6908289"/>
                </a:lnTo>
                <a:lnTo>
                  <a:pt x="3489966" y="6929625"/>
                </a:lnTo>
                <a:lnTo>
                  <a:pt x="3453390" y="6944865"/>
                </a:lnTo>
                <a:lnTo>
                  <a:pt x="3413766" y="6952485"/>
                </a:lnTo>
                <a:lnTo>
                  <a:pt x="3392430" y="6954009"/>
                </a:lnTo>
                <a:lnTo>
                  <a:pt x="3469849" y="6954009"/>
                </a:lnTo>
                <a:lnTo>
                  <a:pt x="3514350" y="6931149"/>
                </a:lnTo>
                <a:lnTo>
                  <a:pt x="3546354" y="6903717"/>
                </a:lnTo>
                <a:lnTo>
                  <a:pt x="3573786" y="6871713"/>
                </a:lnTo>
                <a:lnTo>
                  <a:pt x="3593598" y="6835137"/>
                </a:lnTo>
                <a:lnTo>
                  <a:pt x="3605790" y="6793989"/>
                </a:lnTo>
                <a:lnTo>
                  <a:pt x="3610362" y="6751320"/>
                </a:lnTo>
                <a:lnTo>
                  <a:pt x="3610362" y="217932"/>
                </a:lnTo>
                <a:lnTo>
                  <a:pt x="3605790" y="173736"/>
                </a:lnTo>
                <a:lnTo>
                  <a:pt x="3593598" y="132588"/>
                </a:lnTo>
                <a:lnTo>
                  <a:pt x="3572262" y="96012"/>
                </a:lnTo>
                <a:lnTo>
                  <a:pt x="3546354" y="64008"/>
                </a:lnTo>
                <a:lnTo>
                  <a:pt x="3514350" y="38100"/>
                </a:lnTo>
                <a:lnTo>
                  <a:pt x="3477774" y="18288"/>
                </a:lnTo>
                <a:lnTo>
                  <a:pt x="3469239" y="15240"/>
                </a:lnTo>
                <a:close/>
              </a:path>
            </a:pathLst>
          </a:custGeom>
          <a:solidFill>
            <a:srgbClr val="0150A8"/>
          </a:solidFill>
          <a:ln>
            <a:solidFill>
              <a:srgbClr val="0150A8"/>
            </a:solidFill>
          </a:ln>
        </p:spPr>
        <p:txBody>
          <a:bodyPr wrap="square" lIns="0" tIns="0" rIns="0" bIns="0" rtlCol="0"/>
          <a:lstStyle/>
          <a:p>
            <a:endParaRPr sz="7200"/>
          </a:p>
        </p:txBody>
      </p:sp>
      <p:sp>
        <p:nvSpPr>
          <p:cNvPr id="13" name="object 13"/>
          <p:cNvSpPr txBox="1"/>
          <p:nvPr/>
        </p:nvSpPr>
        <p:spPr>
          <a:xfrm>
            <a:off x="986729" y="8997251"/>
            <a:ext cx="2548878" cy="1607516"/>
          </a:xfrm>
          <a:prstGeom prst="rect">
            <a:avLst/>
          </a:prstGeom>
        </p:spPr>
        <p:txBody>
          <a:bodyPr vert="horz" wrap="square" lIns="0" tIns="332573" rIns="0" bIns="0" rtlCol="0">
            <a:spAutoFit/>
          </a:bodyPr>
          <a:lstStyle/>
          <a:p>
            <a:pPr marL="304800">
              <a:spcBef>
                <a:spcPts val="2620"/>
              </a:spcBef>
            </a:pPr>
            <a:r>
              <a:rPr sz="3200" b="1" spc="40" dirty="0">
                <a:solidFill>
                  <a:srgbClr val="0150A8"/>
                </a:solidFill>
                <a:latin typeface="Arial" panose="020B0604020202020204"/>
                <a:cs typeface="Arial" panose="020B0604020202020204"/>
              </a:rPr>
              <a:t>M</a:t>
            </a:r>
            <a:r>
              <a:rPr sz="3200" b="1" dirty="0">
                <a:solidFill>
                  <a:srgbClr val="0150A8"/>
                </a:solidFill>
                <a:latin typeface="Arial" panose="020B0604020202020204"/>
                <a:cs typeface="Arial" panose="020B0604020202020204"/>
              </a:rPr>
              <a:t>E</a:t>
            </a:r>
            <a:r>
              <a:rPr sz="3200" b="1" spc="-59" dirty="0">
                <a:solidFill>
                  <a:srgbClr val="0150A8"/>
                </a:solidFill>
                <a:latin typeface="Arial" panose="020B0604020202020204"/>
                <a:cs typeface="Arial" panose="020B0604020202020204"/>
              </a:rPr>
              <a:t>T</a:t>
            </a:r>
            <a:r>
              <a:rPr sz="3200" b="1" spc="-20" dirty="0">
                <a:solidFill>
                  <a:srgbClr val="0150A8"/>
                </a:solidFill>
                <a:latin typeface="Arial" panose="020B0604020202020204"/>
                <a:cs typeface="Arial" panose="020B0604020202020204"/>
              </a:rPr>
              <a:t>HOD</a:t>
            </a:r>
            <a:r>
              <a:rPr sz="3200" b="1" dirty="0">
                <a:solidFill>
                  <a:srgbClr val="0150A8"/>
                </a:solidFill>
                <a:latin typeface="Arial" panose="020B0604020202020204"/>
                <a:cs typeface="Arial" panose="020B0604020202020204"/>
              </a:rPr>
              <a:t>S</a:t>
            </a:r>
            <a:r>
              <a:rPr sz="3400" b="1" spc="20" dirty="0">
                <a:solidFill>
                  <a:srgbClr val="0150A8"/>
                </a:solidFill>
                <a:latin typeface="Arial" panose="020B0604020202020204"/>
                <a:cs typeface="Arial" panose="020B0604020202020204"/>
              </a:rPr>
              <a:t>:</a:t>
            </a:r>
            <a:endParaRPr sz="3400" dirty="0">
              <a:solidFill>
                <a:srgbClr val="0150A8"/>
              </a:solidFill>
              <a:latin typeface="Arial" panose="020B0604020202020204"/>
              <a:cs typeface="Arial" panose="020B0604020202020204"/>
            </a:endParaRPr>
          </a:p>
          <a:p>
            <a:pPr marL="50800">
              <a:spcBef>
                <a:spcPts val="1960"/>
              </a:spcBef>
            </a:pPr>
            <a:r>
              <a:rPr sz="3200" b="1" spc="-20" dirty="0">
                <a:latin typeface="Arial" panose="020B0604020202020204"/>
                <a:cs typeface="Arial" panose="020B0604020202020204"/>
              </a:rPr>
              <a:t>1.</a:t>
            </a:r>
            <a:r>
              <a:rPr sz="3200" b="1" spc="359" dirty="0">
                <a:latin typeface="Arial" panose="020B0604020202020204"/>
                <a:cs typeface="Arial" panose="020B0604020202020204"/>
              </a:rPr>
              <a:t> </a:t>
            </a:r>
            <a:r>
              <a:rPr sz="3200" b="1" spc="-20" dirty="0">
                <a:latin typeface="Arial" panose="020B0604020202020204"/>
                <a:cs typeface="Arial" panose="020B0604020202020204"/>
              </a:rPr>
              <a:t>Data</a:t>
            </a:r>
            <a:endParaRPr sz="3200" dirty="0">
              <a:latin typeface="Arial" panose="020B0604020202020204"/>
              <a:cs typeface="Arial" panose="020B0604020202020204"/>
            </a:endParaRPr>
          </a:p>
        </p:txBody>
      </p:sp>
      <p:sp>
        <p:nvSpPr>
          <p:cNvPr id="14" name="object 14"/>
          <p:cNvSpPr txBox="1"/>
          <p:nvPr/>
        </p:nvSpPr>
        <p:spPr>
          <a:xfrm>
            <a:off x="736997" y="37099081"/>
            <a:ext cx="28808335" cy="2262007"/>
          </a:xfrm>
          <a:prstGeom prst="rect">
            <a:avLst/>
          </a:prstGeom>
        </p:spPr>
        <p:txBody>
          <a:bodyPr vert="horz" wrap="square" lIns="0" tIns="294491" rIns="0" bIns="0" rtlCol="0">
            <a:spAutoFit/>
          </a:bodyPr>
          <a:lstStyle/>
          <a:p>
            <a:pPr marL="50800">
              <a:spcBef>
                <a:spcPts val="2320"/>
              </a:spcBef>
            </a:pPr>
            <a:r>
              <a:rPr sz="3200" b="1" spc="-20" dirty="0">
                <a:solidFill>
                  <a:srgbClr val="0150A8"/>
                </a:solidFill>
                <a:latin typeface="Arial" panose="020B0604020202020204"/>
                <a:cs typeface="Arial" panose="020B0604020202020204"/>
              </a:rPr>
              <a:t>CONCLUSION</a:t>
            </a:r>
            <a:r>
              <a:rPr sz="3200" b="1" spc="-119" dirty="0">
                <a:solidFill>
                  <a:srgbClr val="0150A8"/>
                </a:solidFill>
                <a:latin typeface="Arial" panose="020B0604020202020204"/>
                <a:cs typeface="Arial" panose="020B0604020202020204"/>
              </a:rPr>
              <a:t> </a:t>
            </a:r>
            <a:r>
              <a:rPr sz="3200" b="1" dirty="0">
                <a:solidFill>
                  <a:srgbClr val="0150A8"/>
                </a:solidFill>
                <a:latin typeface="Arial" panose="020B0604020202020204"/>
                <a:cs typeface="Arial" panose="020B0604020202020204"/>
              </a:rPr>
              <a:t>:</a:t>
            </a:r>
            <a:endParaRPr sz="3200" dirty="0">
              <a:solidFill>
                <a:srgbClr val="0150A8"/>
              </a:solidFill>
              <a:latin typeface="Arial" panose="020B0604020202020204"/>
              <a:cs typeface="Arial" panose="020B0604020202020204"/>
            </a:endParaRPr>
          </a:p>
          <a:p>
            <a:pPr marL="50800" marR="20320">
              <a:spcBef>
                <a:spcPts val="1920"/>
              </a:spcBef>
            </a:pPr>
            <a:r>
              <a:rPr lang="en-US" sz="3200" spc="-20" dirty="0">
                <a:latin typeface="Arial" panose="020B0604020202020204"/>
                <a:cs typeface="Arial" panose="020B0604020202020204"/>
              </a:rPr>
              <a:t>UGES provides a robust and clinically applicable framework for multi-cohort breast cancer subtyping.</a:t>
            </a:r>
          </a:p>
          <a:p>
            <a:pPr marL="50800" marR="20320">
              <a:spcBef>
                <a:spcPts val="1920"/>
              </a:spcBef>
            </a:pPr>
            <a:r>
              <a:rPr lang="en-US" sz="3200" spc="-20" dirty="0">
                <a:latin typeface="Arial" panose="020B0604020202020204"/>
                <a:cs typeface="Arial" panose="020B0604020202020204"/>
              </a:rPr>
              <a:t>UGES is freely available at: https://ieeexplore.ieee.org/abstract/document/11176992.</a:t>
            </a:r>
            <a:endParaRPr sz="3200" dirty="0">
              <a:latin typeface="Arial" panose="020B0604020202020204"/>
              <a:cs typeface="Arial" panose="020B0604020202020204"/>
            </a:endParaRPr>
          </a:p>
        </p:txBody>
      </p:sp>
      <p:sp>
        <p:nvSpPr>
          <p:cNvPr id="15" name="object 15"/>
          <p:cNvSpPr/>
          <p:nvPr/>
        </p:nvSpPr>
        <p:spPr>
          <a:xfrm>
            <a:off x="373368" y="37099081"/>
            <a:ext cx="29502524" cy="2529833"/>
          </a:xfrm>
          <a:custGeom>
            <a:avLst/>
            <a:gdLst/>
            <a:ahLst/>
            <a:cxnLst/>
            <a:rect l="l" t="t" r="r" b="b"/>
            <a:pathLst>
              <a:path w="7379334" h="520065">
                <a:moveTo>
                  <a:pt x="7287774" y="0"/>
                </a:moveTo>
                <a:lnTo>
                  <a:pt x="89915" y="0"/>
                </a:lnTo>
                <a:lnTo>
                  <a:pt x="62484" y="4572"/>
                </a:lnTo>
                <a:lnTo>
                  <a:pt x="19812" y="33528"/>
                </a:lnTo>
                <a:lnTo>
                  <a:pt x="1524" y="74676"/>
                </a:lnTo>
                <a:lnTo>
                  <a:pt x="0" y="82296"/>
                </a:lnTo>
                <a:lnTo>
                  <a:pt x="0" y="438912"/>
                </a:lnTo>
                <a:lnTo>
                  <a:pt x="1524" y="448056"/>
                </a:lnTo>
                <a:lnTo>
                  <a:pt x="19812" y="487680"/>
                </a:lnTo>
                <a:lnTo>
                  <a:pt x="54864" y="513588"/>
                </a:lnTo>
                <a:lnTo>
                  <a:pt x="82295" y="519684"/>
                </a:lnTo>
                <a:lnTo>
                  <a:pt x="7298442" y="519684"/>
                </a:lnTo>
                <a:lnTo>
                  <a:pt x="7307586" y="518160"/>
                </a:lnTo>
                <a:lnTo>
                  <a:pt x="7315206" y="515112"/>
                </a:lnTo>
                <a:lnTo>
                  <a:pt x="7324350" y="512064"/>
                </a:lnTo>
                <a:lnTo>
                  <a:pt x="7331970" y="509016"/>
                </a:lnTo>
                <a:lnTo>
                  <a:pt x="7337050" y="505968"/>
                </a:lnTo>
                <a:lnTo>
                  <a:pt x="82295" y="505968"/>
                </a:lnTo>
                <a:lnTo>
                  <a:pt x="74675" y="504444"/>
                </a:lnTo>
                <a:lnTo>
                  <a:pt x="67056" y="501396"/>
                </a:lnTo>
                <a:lnTo>
                  <a:pt x="60960" y="499872"/>
                </a:lnTo>
                <a:lnTo>
                  <a:pt x="53340" y="496824"/>
                </a:lnTo>
                <a:lnTo>
                  <a:pt x="19812" y="458724"/>
                </a:lnTo>
                <a:lnTo>
                  <a:pt x="13716" y="435864"/>
                </a:lnTo>
                <a:lnTo>
                  <a:pt x="13716" y="83820"/>
                </a:lnTo>
                <a:lnTo>
                  <a:pt x="16764" y="68580"/>
                </a:lnTo>
                <a:lnTo>
                  <a:pt x="19812" y="62484"/>
                </a:lnTo>
                <a:lnTo>
                  <a:pt x="22860" y="54864"/>
                </a:lnTo>
                <a:lnTo>
                  <a:pt x="36576" y="36576"/>
                </a:lnTo>
                <a:lnTo>
                  <a:pt x="42672" y="32004"/>
                </a:lnTo>
                <a:lnTo>
                  <a:pt x="47244" y="27432"/>
                </a:lnTo>
                <a:lnTo>
                  <a:pt x="54864" y="24384"/>
                </a:lnTo>
                <a:lnTo>
                  <a:pt x="60960" y="21336"/>
                </a:lnTo>
                <a:lnTo>
                  <a:pt x="68579" y="18288"/>
                </a:lnTo>
                <a:lnTo>
                  <a:pt x="83819" y="15240"/>
                </a:lnTo>
                <a:lnTo>
                  <a:pt x="7337050" y="15240"/>
                </a:lnTo>
                <a:lnTo>
                  <a:pt x="7331970" y="12192"/>
                </a:lnTo>
                <a:lnTo>
                  <a:pt x="7322826" y="7620"/>
                </a:lnTo>
                <a:lnTo>
                  <a:pt x="7315206" y="4572"/>
                </a:lnTo>
                <a:lnTo>
                  <a:pt x="7287774" y="0"/>
                </a:lnTo>
                <a:close/>
              </a:path>
              <a:path w="7379334" h="520065">
                <a:moveTo>
                  <a:pt x="7337050" y="15240"/>
                </a:moveTo>
                <a:lnTo>
                  <a:pt x="7296918" y="15240"/>
                </a:lnTo>
                <a:lnTo>
                  <a:pt x="7312158" y="18288"/>
                </a:lnTo>
                <a:lnTo>
                  <a:pt x="7318254" y="21336"/>
                </a:lnTo>
                <a:lnTo>
                  <a:pt x="7356354" y="54864"/>
                </a:lnTo>
                <a:lnTo>
                  <a:pt x="7365498" y="83820"/>
                </a:lnTo>
                <a:lnTo>
                  <a:pt x="7365498" y="437388"/>
                </a:lnTo>
                <a:lnTo>
                  <a:pt x="7362450" y="452628"/>
                </a:lnTo>
                <a:lnTo>
                  <a:pt x="7359402" y="458724"/>
                </a:lnTo>
                <a:lnTo>
                  <a:pt x="7356354" y="466344"/>
                </a:lnTo>
                <a:lnTo>
                  <a:pt x="7324350" y="496824"/>
                </a:lnTo>
                <a:lnTo>
                  <a:pt x="7295394" y="505968"/>
                </a:lnTo>
                <a:lnTo>
                  <a:pt x="7337050" y="505968"/>
                </a:lnTo>
                <a:lnTo>
                  <a:pt x="7368546" y="472440"/>
                </a:lnTo>
                <a:lnTo>
                  <a:pt x="7379214" y="437388"/>
                </a:lnTo>
                <a:lnTo>
                  <a:pt x="7379214" y="82296"/>
                </a:lnTo>
                <a:lnTo>
                  <a:pt x="7363974" y="41148"/>
                </a:lnTo>
                <a:lnTo>
                  <a:pt x="7357878" y="33528"/>
                </a:lnTo>
                <a:lnTo>
                  <a:pt x="7353306" y="27432"/>
                </a:lnTo>
                <a:lnTo>
                  <a:pt x="7345686" y="21336"/>
                </a:lnTo>
                <a:lnTo>
                  <a:pt x="7339590" y="16764"/>
                </a:lnTo>
                <a:lnTo>
                  <a:pt x="7337050" y="15240"/>
                </a:lnTo>
                <a:close/>
              </a:path>
            </a:pathLst>
          </a:custGeom>
          <a:solidFill>
            <a:srgbClr val="0150A8"/>
          </a:solidFill>
          <a:ln>
            <a:solidFill>
              <a:srgbClr val="0150A8"/>
            </a:solidFill>
          </a:ln>
        </p:spPr>
        <p:txBody>
          <a:bodyPr wrap="square" lIns="0" tIns="0" rIns="0" bIns="0" rtlCol="0"/>
          <a:lstStyle/>
          <a:p>
            <a:endParaRPr sz="7200"/>
          </a:p>
        </p:txBody>
      </p:sp>
      <p:sp>
        <p:nvSpPr>
          <p:cNvPr id="16" name="object 16"/>
          <p:cNvSpPr/>
          <p:nvPr/>
        </p:nvSpPr>
        <p:spPr>
          <a:xfrm>
            <a:off x="15179253" y="8676481"/>
            <a:ext cx="14696683" cy="27907176"/>
          </a:xfrm>
          <a:custGeom>
            <a:avLst/>
            <a:gdLst/>
            <a:ahLst/>
            <a:cxnLst/>
            <a:rect l="l" t="t" r="r" b="b"/>
            <a:pathLst>
              <a:path w="3676015" h="6967855">
                <a:moveTo>
                  <a:pt x="3454908" y="0"/>
                </a:moveTo>
                <a:lnTo>
                  <a:pt x="220980" y="0"/>
                </a:lnTo>
                <a:lnTo>
                  <a:pt x="198120" y="1524"/>
                </a:lnTo>
                <a:lnTo>
                  <a:pt x="155448" y="10668"/>
                </a:lnTo>
                <a:lnTo>
                  <a:pt x="115824" y="27432"/>
                </a:lnTo>
                <a:lnTo>
                  <a:pt x="80772" y="51816"/>
                </a:lnTo>
                <a:lnTo>
                  <a:pt x="50292" y="80772"/>
                </a:lnTo>
                <a:lnTo>
                  <a:pt x="27432" y="117348"/>
                </a:lnTo>
                <a:lnTo>
                  <a:pt x="10668" y="156972"/>
                </a:lnTo>
                <a:lnTo>
                  <a:pt x="1524" y="199644"/>
                </a:lnTo>
                <a:lnTo>
                  <a:pt x="0" y="6746748"/>
                </a:lnTo>
                <a:lnTo>
                  <a:pt x="1524" y="6769605"/>
                </a:lnTo>
                <a:lnTo>
                  <a:pt x="10668" y="6812277"/>
                </a:lnTo>
                <a:lnTo>
                  <a:pt x="27432" y="6851901"/>
                </a:lnTo>
                <a:lnTo>
                  <a:pt x="51816" y="6888477"/>
                </a:lnTo>
                <a:lnTo>
                  <a:pt x="80772" y="6917433"/>
                </a:lnTo>
                <a:lnTo>
                  <a:pt x="115824" y="6941817"/>
                </a:lnTo>
                <a:lnTo>
                  <a:pt x="155448" y="6958581"/>
                </a:lnTo>
                <a:lnTo>
                  <a:pt x="199644" y="6966201"/>
                </a:lnTo>
                <a:lnTo>
                  <a:pt x="220980" y="6967725"/>
                </a:lnTo>
                <a:lnTo>
                  <a:pt x="3454908" y="6967725"/>
                </a:lnTo>
                <a:lnTo>
                  <a:pt x="3477768" y="6966201"/>
                </a:lnTo>
                <a:lnTo>
                  <a:pt x="3500628" y="6963153"/>
                </a:lnTo>
                <a:lnTo>
                  <a:pt x="3521964" y="6958581"/>
                </a:lnTo>
                <a:lnTo>
                  <a:pt x="3533851" y="6954009"/>
                </a:lnTo>
                <a:lnTo>
                  <a:pt x="220980" y="6954009"/>
                </a:lnTo>
                <a:lnTo>
                  <a:pt x="199644" y="6952485"/>
                </a:lnTo>
                <a:lnTo>
                  <a:pt x="160020" y="6944865"/>
                </a:lnTo>
                <a:lnTo>
                  <a:pt x="121920" y="6928101"/>
                </a:lnTo>
                <a:lnTo>
                  <a:pt x="89916" y="6906765"/>
                </a:lnTo>
                <a:lnTo>
                  <a:pt x="60960" y="6877809"/>
                </a:lnTo>
                <a:lnTo>
                  <a:pt x="39624" y="6845805"/>
                </a:lnTo>
                <a:lnTo>
                  <a:pt x="18288" y="6787893"/>
                </a:lnTo>
                <a:lnTo>
                  <a:pt x="15240" y="6768081"/>
                </a:lnTo>
                <a:lnTo>
                  <a:pt x="15240" y="199644"/>
                </a:lnTo>
                <a:lnTo>
                  <a:pt x="24384" y="160020"/>
                </a:lnTo>
                <a:lnTo>
                  <a:pt x="39624" y="123444"/>
                </a:lnTo>
                <a:lnTo>
                  <a:pt x="62484" y="89916"/>
                </a:lnTo>
                <a:lnTo>
                  <a:pt x="89916" y="62484"/>
                </a:lnTo>
                <a:lnTo>
                  <a:pt x="123444" y="39624"/>
                </a:lnTo>
                <a:lnTo>
                  <a:pt x="160020" y="24384"/>
                </a:lnTo>
                <a:lnTo>
                  <a:pt x="201168" y="16764"/>
                </a:lnTo>
                <a:lnTo>
                  <a:pt x="222504" y="15240"/>
                </a:lnTo>
                <a:lnTo>
                  <a:pt x="3532327" y="15240"/>
                </a:lnTo>
                <a:lnTo>
                  <a:pt x="3520440" y="10668"/>
                </a:lnTo>
                <a:lnTo>
                  <a:pt x="3499104" y="4572"/>
                </a:lnTo>
                <a:lnTo>
                  <a:pt x="3477768" y="1524"/>
                </a:lnTo>
                <a:lnTo>
                  <a:pt x="3454908" y="0"/>
                </a:lnTo>
                <a:close/>
              </a:path>
              <a:path w="3676015" h="6967855">
                <a:moveTo>
                  <a:pt x="3532327" y="15240"/>
                </a:moveTo>
                <a:lnTo>
                  <a:pt x="3454908" y="15240"/>
                </a:lnTo>
                <a:lnTo>
                  <a:pt x="3476244" y="16764"/>
                </a:lnTo>
                <a:lnTo>
                  <a:pt x="3497580" y="19812"/>
                </a:lnTo>
                <a:lnTo>
                  <a:pt x="3553968" y="39624"/>
                </a:lnTo>
                <a:lnTo>
                  <a:pt x="3587496" y="62484"/>
                </a:lnTo>
                <a:lnTo>
                  <a:pt x="3614928" y="89916"/>
                </a:lnTo>
                <a:lnTo>
                  <a:pt x="3637788" y="123444"/>
                </a:lnTo>
                <a:lnTo>
                  <a:pt x="3653028" y="160020"/>
                </a:lnTo>
                <a:lnTo>
                  <a:pt x="3660648" y="201168"/>
                </a:lnTo>
                <a:lnTo>
                  <a:pt x="3662172" y="6746748"/>
                </a:lnTo>
                <a:lnTo>
                  <a:pt x="3660648" y="6768081"/>
                </a:lnTo>
                <a:lnTo>
                  <a:pt x="3653028" y="6809229"/>
                </a:lnTo>
                <a:lnTo>
                  <a:pt x="3636264" y="6845805"/>
                </a:lnTo>
                <a:lnTo>
                  <a:pt x="3614928" y="6879333"/>
                </a:lnTo>
                <a:lnTo>
                  <a:pt x="3585972" y="6906765"/>
                </a:lnTo>
                <a:lnTo>
                  <a:pt x="3553968" y="6929625"/>
                </a:lnTo>
                <a:lnTo>
                  <a:pt x="3515868" y="6944865"/>
                </a:lnTo>
                <a:lnTo>
                  <a:pt x="3476244" y="6952485"/>
                </a:lnTo>
                <a:lnTo>
                  <a:pt x="3454908" y="6954009"/>
                </a:lnTo>
                <a:lnTo>
                  <a:pt x="3533851" y="6954009"/>
                </a:lnTo>
                <a:lnTo>
                  <a:pt x="3541776" y="6950961"/>
                </a:lnTo>
                <a:lnTo>
                  <a:pt x="3561588" y="6941817"/>
                </a:lnTo>
                <a:lnTo>
                  <a:pt x="3578352" y="6929625"/>
                </a:lnTo>
                <a:lnTo>
                  <a:pt x="3596640" y="6917433"/>
                </a:lnTo>
                <a:lnTo>
                  <a:pt x="3639312" y="6870189"/>
                </a:lnTo>
                <a:lnTo>
                  <a:pt x="3659124" y="6832089"/>
                </a:lnTo>
                <a:lnTo>
                  <a:pt x="3675888" y="6769605"/>
                </a:lnTo>
                <a:lnTo>
                  <a:pt x="3675888" y="220980"/>
                </a:lnTo>
                <a:lnTo>
                  <a:pt x="3671316" y="176784"/>
                </a:lnTo>
                <a:lnTo>
                  <a:pt x="3659124" y="135636"/>
                </a:lnTo>
                <a:lnTo>
                  <a:pt x="3637788" y="97536"/>
                </a:lnTo>
                <a:lnTo>
                  <a:pt x="3611880" y="65532"/>
                </a:lnTo>
                <a:lnTo>
                  <a:pt x="3578352" y="38100"/>
                </a:lnTo>
                <a:lnTo>
                  <a:pt x="3540252" y="18288"/>
                </a:lnTo>
                <a:lnTo>
                  <a:pt x="3532327" y="15240"/>
                </a:lnTo>
                <a:close/>
              </a:path>
            </a:pathLst>
          </a:custGeom>
          <a:solidFill>
            <a:srgbClr val="0150A8"/>
          </a:solidFill>
          <a:ln>
            <a:solidFill>
              <a:srgbClr val="0150A8"/>
            </a:solidFill>
          </a:ln>
        </p:spPr>
        <p:txBody>
          <a:bodyPr wrap="square" lIns="0" tIns="0" rIns="0" bIns="0" rtlCol="0"/>
          <a:lstStyle/>
          <a:p>
            <a:endParaRPr sz="7200"/>
          </a:p>
        </p:txBody>
      </p:sp>
      <p:sp>
        <p:nvSpPr>
          <p:cNvPr id="29" name="object 29"/>
          <p:cNvSpPr txBox="1"/>
          <p:nvPr/>
        </p:nvSpPr>
        <p:spPr>
          <a:xfrm>
            <a:off x="750038" y="40164820"/>
            <a:ext cx="13478093" cy="1736348"/>
          </a:xfrm>
          <a:prstGeom prst="rect">
            <a:avLst/>
          </a:prstGeom>
        </p:spPr>
        <p:txBody>
          <a:bodyPr vert="horz" wrap="square" lIns="0" tIns="45695" rIns="0" bIns="0" rtlCol="0">
            <a:spAutoFit/>
          </a:bodyPr>
          <a:lstStyle/>
          <a:p>
            <a:pPr marL="50800">
              <a:spcBef>
                <a:spcPts val="360"/>
              </a:spcBef>
            </a:pPr>
            <a:r>
              <a:rPr sz="3000" b="1" i="1" spc="-40" dirty="0">
                <a:solidFill>
                  <a:srgbClr val="F2F2F2"/>
                </a:solidFill>
                <a:latin typeface="Arial" panose="020B0604020202020204"/>
                <a:cs typeface="Arial" panose="020B0604020202020204"/>
              </a:rPr>
              <a:t>References</a:t>
            </a:r>
            <a:endParaRPr sz="3000" dirty="0">
              <a:latin typeface="Arial" panose="020B0604020202020204"/>
              <a:cs typeface="Arial" panose="020B0604020202020204"/>
            </a:endParaRPr>
          </a:p>
          <a:p>
            <a:pPr marL="391160" marR="20320" indent="-342900">
              <a:spcBef>
                <a:spcPts val="1935"/>
              </a:spcBef>
              <a:buAutoNum type="arabicPeriod"/>
              <a:tabLst>
                <a:tab pos="393065" algn="l"/>
              </a:tabLst>
            </a:pPr>
            <a:r>
              <a:rPr lang="en-US" sz="1600" b="1" spc="-20" dirty="0">
                <a:solidFill>
                  <a:srgbClr val="F2F2F2"/>
                </a:solidFill>
                <a:latin typeface="Arial" panose="020B0604020202020204"/>
                <a:cs typeface="Arial" panose="020B0604020202020204"/>
              </a:rPr>
              <a:t>Chang X., Xie J., Duan H., Li K., Liu X., Xiong Y., Bai X., Ning K., Xia L.C. "A unified genetic and epigenetic model to predict breast cancer intrinsic subtypes using large DNA-level multi-omics data and hierarchical learning." IEEE Transactions on Computational Biology and Bioinformatics 2025; early access. doi:10.1109/TCBBIO.2025.3613591.</a:t>
            </a:r>
            <a:r>
              <a:rPr sz="1600" b="1" spc="-40" dirty="0">
                <a:solidFill>
                  <a:srgbClr val="F2F2F2"/>
                </a:solidFill>
                <a:latin typeface="Arial" panose="020B0604020202020204"/>
                <a:cs typeface="Arial" panose="020B0604020202020204"/>
              </a:rPr>
              <a:t>Friedman</a:t>
            </a:r>
            <a:r>
              <a:rPr sz="1600" b="1" spc="161" dirty="0">
                <a:solidFill>
                  <a:srgbClr val="F2F2F2"/>
                </a:solidFill>
                <a:latin typeface="Arial" panose="020B0604020202020204"/>
                <a:cs typeface="Arial" panose="020B0604020202020204"/>
              </a:rPr>
              <a:t> </a:t>
            </a:r>
            <a:r>
              <a:rPr sz="1600" b="1" spc="-20" dirty="0">
                <a:solidFill>
                  <a:srgbClr val="F2F2F2"/>
                </a:solidFill>
                <a:latin typeface="Arial" panose="020B0604020202020204"/>
                <a:cs typeface="Arial" panose="020B0604020202020204"/>
              </a:rPr>
              <a:t>J</a:t>
            </a:r>
            <a:r>
              <a:rPr sz="1600" b="1" spc="40" dirty="0">
                <a:solidFill>
                  <a:srgbClr val="F2F2F2"/>
                </a:solidFill>
                <a:latin typeface="Arial" panose="020B0604020202020204"/>
                <a:cs typeface="Arial" panose="020B0604020202020204"/>
              </a:rPr>
              <a:t> </a:t>
            </a:r>
            <a:r>
              <a:rPr sz="1600" b="1" spc="-20" dirty="0">
                <a:solidFill>
                  <a:srgbClr val="F2F2F2"/>
                </a:solidFill>
                <a:latin typeface="Arial" panose="020B0604020202020204"/>
                <a:cs typeface="Arial" panose="020B0604020202020204"/>
              </a:rPr>
              <a:t>&amp;</a:t>
            </a:r>
            <a:r>
              <a:rPr sz="1600" b="1" spc="59" dirty="0">
                <a:solidFill>
                  <a:srgbClr val="F2F2F2"/>
                </a:solidFill>
                <a:latin typeface="Arial" panose="020B0604020202020204"/>
                <a:cs typeface="Arial" panose="020B0604020202020204"/>
              </a:rPr>
              <a:t> </a:t>
            </a:r>
            <a:r>
              <a:rPr sz="1600" b="1" spc="-40" dirty="0">
                <a:solidFill>
                  <a:srgbClr val="F2F2F2"/>
                </a:solidFill>
                <a:latin typeface="Arial" panose="020B0604020202020204"/>
                <a:cs typeface="Arial" panose="020B0604020202020204"/>
              </a:rPr>
              <a:t>al.:</a:t>
            </a:r>
            <a:r>
              <a:rPr sz="1600" b="1" spc="59" dirty="0">
                <a:solidFill>
                  <a:srgbClr val="F2F2F2"/>
                </a:solidFill>
                <a:latin typeface="Arial" panose="020B0604020202020204"/>
                <a:cs typeface="Arial" panose="020B0604020202020204"/>
              </a:rPr>
              <a:t> </a:t>
            </a:r>
            <a:r>
              <a:rPr sz="1600" b="1" i="1" spc="-20" dirty="0">
                <a:solidFill>
                  <a:srgbClr val="F2F2F2"/>
                </a:solidFill>
                <a:latin typeface="Arial" panose="020B0604020202020204"/>
                <a:cs typeface="Arial" panose="020B0604020202020204"/>
              </a:rPr>
              <a:t>Regularization</a:t>
            </a:r>
            <a:r>
              <a:rPr sz="1600" b="1" i="1" spc="221" dirty="0">
                <a:solidFill>
                  <a:srgbClr val="F2F2F2"/>
                </a:solidFill>
                <a:latin typeface="Arial" panose="020B0604020202020204"/>
                <a:cs typeface="Arial" panose="020B0604020202020204"/>
              </a:rPr>
              <a:t> </a:t>
            </a:r>
            <a:r>
              <a:rPr sz="1600" b="1" i="1" spc="-40" dirty="0">
                <a:solidFill>
                  <a:srgbClr val="F2F2F2"/>
                </a:solidFill>
                <a:latin typeface="Arial" panose="020B0604020202020204"/>
                <a:cs typeface="Arial" panose="020B0604020202020204"/>
              </a:rPr>
              <a:t>paths</a:t>
            </a:r>
            <a:r>
              <a:rPr sz="1600" b="1" i="1" spc="139" dirty="0">
                <a:solidFill>
                  <a:srgbClr val="F2F2F2"/>
                </a:solidFill>
                <a:latin typeface="Arial" panose="020B0604020202020204"/>
                <a:cs typeface="Arial" panose="020B0604020202020204"/>
              </a:rPr>
              <a:t> </a:t>
            </a:r>
            <a:r>
              <a:rPr sz="1600" b="1" i="1" spc="-20" dirty="0">
                <a:solidFill>
                  <a:srgbClr val="F2F2F2"/>
                </a:solidFill>
                <a:latin typeface="Arial" panose="020B0604020202020204"/>
                <a:cs typeface="Arial" panose="020B0604020202020204"/>
              </a:rPr>
              <a:t>for</a:t>
            </a:r>
            <a:r>
              <a:rPr sz="1600" b="1" i="1" spc="79" dirty="0">
                <a:solidFill>
                  <a:srgbClr val="F2F2F2"/>
                </a:solidFill>
                <a:latin typeface="Arial" panose="020B0604020202020204"/>
                <a:cs typeface="Arial" panose="020B0604020202020204"/>
              </a:rPr>
              <a:t> </a:t>
            </a:r>
            <a:r>
              <a:rPr sz="1600" b="1" i="1" spc="-40" dirty="0">
                <a:solidFill>
                  <a:srgbClr val="F2F2F2"/>
                </a:solidFill>
                <a:latin typeface="Arial" panose="020B0604020202020204"/>
                <a:cs typeface="Arial" panose="020B0604020202020204"/>
              </a:rPr>
              <a:t>generalized</a:t>
            </a:r>
            <a:r>
              <a:rPr sz="1600" b="1" i="1" spc="161" dirty="0">
                <a:solidFill>
                  <a:srgbClr val="F2F2F2"/>
                </a:solidFill>
                <a:latin typeface="Arial" panose="020B0604020202020204"/>
                <a:cs typeface="Arial" panose="020B0604020202020204"/>
              </a:rPr>
              <a:t> </a:t>
            </a:r>
            <a:r>
              <a:rPr sz="1600" b="1" i="1" spc="-40" dirty="0">
                <a:solidFill>
                  <a:srgbClr val="F2F2F2"/>
                </a:solidFill>
                <a:latin typeface="Arial" panose="020B0604020202020204"/>
                <a:cs typeface="Arial" panose="020B0604020202020204"/>
              </a:rPr>
              <a:t>linear</a:t>
            </a:r>
            <a:r>
              <a:rPr sz="1600" b="1" i="1" spc="161" dirty="0">
                <a:solidFill>
                  <a:srgbClr val="F2F2F2"/>
                </a:solidFill>
                <a:latin typeface="Arial" panose="020B0604020202020204"/>
                <a:cs typeface="Arial" panose="020B0604020202020204"/>
              </a:rPr>
              <a:t> </a:t>
            </a:r>
            <a:r>
              <a:rPr sz="1600" b="1" i="1" spc="-40" dirty="0">
                <a:solidFill>
                  <a:srgbClr val="F2F2F2"/>
                </a:solidFill>
                <a:latin typeface="Arial" panose="020B0604020202020204"/>
                <a:cs typeface="Arial" panose="020B0604020202020204"/>
              </a:rPr>
              <a:t>models</a:t>
            </a:r>
            <a:r>
              <a:rPr sz="1600" b="1" i="1" spc="139" dirty="0">
                <a:solidFill>
                  <a:srgbClr val="F2F2F2"/>
                </a:solidFill>
                <a:latin typeface="Arial" panose="020B0604020202020204"/>
                <a:cs typeface="Arial" panose="020B0604020202020204"/>
              </a:rPr>
              <a:t> </a:t>
            </a:r>
            <a:r>
              <a:rPr sz="1600" b="1" i="1" spc="-40" dirty="0">
                <a:solidFill>
                  <a:srgbClr val="F2F2F2"/>
                </a:solidFill>
                <a:latin typeface="Arial" panose="020B0604020202020204"/>
                <a:cs typeface="Arial" panose="020B0604020202020204"/>
              </a:rPr>
              <a:t>via</a:t>
            </a:r>
            <a:r>
              <a:rPr sz="1600" b="1" i="1" spc="40" dirty="0">
                <a:solidFill>
                  <a:srgbClr val="F2F2F2"/>
                </a:solidFill>
                <a:latin typeface="Arial" panose="020B0604020202020204"/>
                <a:cs typeface="Arial" panose="020B0604020202020204"/>
              </a:rPr>
              <a:t> </a:t>
            </a:r>
            <a:r>
              <a:rPr sz="1600" b="1" i="1" spc="-40" dirty="0">
                <a:solidFill>
                  <a:srgbClr val="F2F2F2"/>
                </a:solidFill>
                <a:latin typeface="Arial" panose="020B0604020202020204"/>
                <a:cs typeface="Arial" panose="020B0604020202020204"/>
              </a:rPr>
              <a:t>coordinate</a:t>
            </a:r>
            <a:r>
              <a:rPr sz="1600" b="1" i="1" spc="221" dirty="0">
                <a:solidFill>
                  <a:srgbClr val="F2F2F2"/>
                </a:solidFill>
                <a:latin typeface="Arial" panose="020B0604020202020204"/>
                <a:cs typeface="Arial" panose="020B0604020202020204"/>
              </a:rPr>
              <a:t> </a:t>
            </a:r>
            <a:r>
              <a:rPr sz="1600" b="1" i="1" spc="-40" dirty="0">
                <a:solidFill>
                  <a:srgbClr val="F2F2F2"/>
                </a:solidFill>
                <a:latin typeface="Arial" panose="020B0604020202020204"/>
                <a:cs typeface="Arial" panose="020B0604020202020204"/>
              </a:rPr>
              <a:t>descent</a:t>
            </a:r>
            <a:r>
              <a:rPr sz="1600" b="1" i="1" spc="161" dirty="0">
                <a:solidFill>
                  <a:srgbClr val="F2F2F2"/>
                </a:solidFill>
                <a:latin typeface="Arial" panose="020B0604020202020204"/>
                <a:cs typeface="Arial" panose="020B0604020202020204"/>
              </a:rPr>
              <a:t> </a:t>
            </a:r>
            <a:r>
              <a:rPr sz="1600" b="1" i="1" spc="-20" dirty="0">
                <a:solidFill>
                  <a:srgbClr val="F2F2F2"/>
                </a:solidFill>
                <a:latin typeface="Arial" panose="020B0604020202020204"/>
                <a:cs typeface="Arial" panose="020B0604020202020204"/>
              </a:rPr>
              <a:t>.</a:t>
            </a:r>
            <a:r>
              <a:rPr sz="1600" b="1" i="1" spc="59" dirty="0">
                <a:solidFill>
                  <a:srgbClr val="F2F2F2"/>
                </a:solidFill>
                <a:latin typeface="Arial" panose="020B0604020202020204"/>
                <a:cs typeface="Arial" panose="020B0604020202020204"/>
              </a:rPr>
              <a:t> </a:t>
            </a:r>
            <a:r>
              <a:rPr sz="1600" b="1" spc="-20" dirty="0">
                <a:solidFill>
                  <a:srgbClr val="F2F2F2"/>
                </a:solidFill>
                <a:latin typeface="Arial" panose="020B0604020202020204"/>
                <a:cs typeface="Arial" panose="020B0604020202020204"/>
              </a:rPr>
              <a:t>J</a:t>
            </a:r>
            <a:r>
              <a:rPr sz="1600" b="1" spc="20" dirty="0">
                <a:solidFill>
                  <a:srgbClr val="F2F2F2"/>
                </a:solidFill>
                <a:latin typeface="Arial" panose="020B0604020202020204"/>
                <a:cs typeface="Arial" panose="020B0604020202020204"/>
              </a:rPr>
              <a:t> </a:t>
            </a:r>
            <a:r>
              <a:rPr sz="1600" b="1" spc="-20" dirty="0">
                <a:solidFill>
                  <a:srgbClr val="F2F2F2"/>
                </a:solidFill>
                <a:latin typeface="Arial" panose="020B0604020202020204"/>
                <a:cs typeface="Arial" panose="020B0604020202020204"/>
              </a:rPr>
              <a:t>Stat</a:t>
            </a:r>
            <a:r>
              <a:rPr sz="1600" b="1" spc="59" dirty="0">
                <a:solidFill>
                  <a:srgbClr val="F2F2F2"/>
                </a:solidFill>
                <a:latin typeface="Arial" panose="020B0604020202020204"/>
                <a:cs typeface="Arial" panose="020B0604020202020204"/>
              </a:rPr>
              <a:t> </a:t>
            </a:r>
            <a:r>
              <a:rPr sz="1600" b="1" spc="-40" dirty="0">
                <a:solidFill>
                  <a:srgbClr val="F2F2F2"/>
                </a:solidFill>
                <a:latin typeface="Arial" panose="020B0604020202020204"/>
                <a:cs typeface="Arial" panose="020B0604020202020204"/>
              </a:rPr>
              <a:t>Softw.</a:t>
            </a:r>
            <a:r>
              <a:rPr sz="1600" b="1" spc="161" dirty="0">
                <a:solidFill>
                  <a:srgbClr val="F2F2F2"/>
                </a:solidFill>
                <a:latin typeface="Arial" panose="020B0604020202020204"/>
                <a:cs typeface="Arial" panose="020B0604020202020204"/>
              </a:rPr>
              <a:t> </a:t>
            </a:r>
            <a:r>
              <a:rPr sz="1600" b="1" spc="-40" dirty="0">
                <a:solidFill>
                  <a:srgbClr val="F2F2F2"/>
                </a:solidFill>
                <a:latin typeface="Arial" panose="020B0604020202020204"/>
                <a:cs typeface="Arial" panose="020B0604020202020204"/>
              </a:rPr>
              <a:t>2010,</a:t>
            </a:r>
            <a:r>
              <a:rPr sz="1600" b="1" spc="99" dirty="0">
                <a:solidFill>
                  <a:srgbClr val="F2F2F2"/>
                </a:solidFill>
                <a:latin typeface="Arial" panose="020B0604020202020204"/>
                <a:cs typeface="Arial" panose="020B0604020202020204"/>
              </a:rPr>
              <a:t> </a:t>
            </a:r>
            <a:r>
              <a:rPr sz="1600" b="1" spc="-40" dirty="0">
                <a:solidFill>
                  <a:srgbClr val="F2F2F2"/>
                </a:solidFill>
                <a:latin typeface="Arial" panose="020B0604020202020204"/>
                <a:cs typeface="Arial" panose="020B0604020202020204"/>
              </a:rPr>
              <a:t>33:</a:t>
            </a:r>
            <a:r>
              <a:rPr sz="1600" b="1" spc="139" dirty="0">
                <a:solidFill>
                  <a:srgbClr val="F2F2F2"/>
                </a:solidFill>
                <a:latin typeface="Arial" panose="020B0604020202020204"/>
                <a:cs typeface="Arial" panose="020B0604020202020204"/>
              </a:rPr>
              <a:t> </a:t>
            </a:r>
            <a:r>
              <a:rPr sz="1600" b="1" spc="-20" dirty="0">
                <a:solidFill>
                  <a:srgbClr val="F2F2F2"/>
                </a:solidFill>
                <a:latin typeface="Arial" panose="020B0604020202020204"/>
                <a:cs typeface="Arial" panose="020B0604020202020204"/>
              </a:rPr>
              <a:t>1-22.</a:t>
            </a:r>
            <a:endParaRPr sz="1600" dirty="0">
              <a:latin typeface="Arial" panose="020B0604020202020204"/>
              <a:cs typeface="Arial" panose="020B0604020202020204"/>
            </a:endParaRPr>
          </a:p>
        </p:txBody>
      </p:sp>
      <p:sp>
        <p:nvSpPr>
          <p:cNvPr id="30" name="object 30"/>
          <p:cNvSpPr txBox="1"/>
          <p:nvPr/>
        </p:nvSpPr>
        <p:spPr>
          <a:xfrm>
            <a:off x="18261806" y="40101035"/>
            <a:ext cx="9186795" cy="1874846"/>
          </a:xfrm>
          <a:prstGeom prst="rect">
            <a:avLst/>
          </a:prstGeom>
        </p:spPr>
        <p:txBody>
          <a:bodyPr vert="horz" wrap="square" lIns="0" tIns="48234" rIns="0" bIns="0" rtlCol="0">
            <a:spAutoFit/>
          </a:bodyPr>
          <a:lstStyle/>
          <a:p>
            <a:pPr marL="50800" marR="20320">
              <a:spcBef>
                <a:spcPts val="380"/>
              </a:spcBef>
            </a:pPr>
            <a:r>
              <a:rPr lang="en-US" sz="2800" b="1" spc="-40" dirty="0">
                <a:solidFill>
                  <a:srgbClr val="F2F2F2"/>
                </a:solidFill>
                <a:latin typeface="Arial" panose="020B0604020202020204"/>
                <a:cs typeface="Arial" panose="020B0604020202020204"/>
              </a:rPr>
              <a:t>Department of Statistics &amp; Financial Mathematics School of Mathematics</a:t>
            </a:r>
          </a:p>
          <a:p>
            <a:pPr marL="50800" marR="20320">
              <a:spcBef>
                <a:spcPts val="380"/>
              </a:spcBef>
            </a:pPr>
            <a:r>
              <a:rPr lang="en-US" sz="2800" b="1" spc="-40" dirty="0">
                <a:solidFill>
                  <a:srgbClr val="F2F2F2"/>
                </a:solidFill>
                <a:latin typeface="Arial" panose="020B0604020202020204"/>
                <a:cs typeface="Arial" panose="020B0604020202020204"/>
              </a:rPr>
              <a:t>South China University of Technology</a:t>
            </a:r>
          </a:p>
          <a:p>
            <a:pPr marL="50800" marR="20320">
              <a:spcBef>
                <a:spcPts val="380"/>
              </a:spcBef>
            </a:pPr>
            <a:r>
              <a:rPr lang="en-US" sz="2800" b="1" spc="-40" dirty="0">
                <a:solidFill>
                  <a:srgbClr val="F2F2F2"/>
                </a:solidFill>
                <a:latin typeface="Arial" panose="020B0604020202020204"/>
                <a:cs typeface="Arial" panose="020B0604020202020204"/>
              </a:rPr>
              <a:t>Guangzhou, Guangdong 510640, China</a:t>
            </a:r>
            <a:endParaRPr sz="2800" dirty="0">
              <a:latin typeface="Arial" panose="020B0604020202020204"/>
              <a:cs typeface="Arial" panose="020B0604020202020204"/>
            </a:endParaRPr>
          </a:p>
        </p:txBody>
      </p:sp>
      <p:sp>
        <p:nvSpPr>
          <p:cNvPr id="149" name="object 149"/>
          <p:cNvSpPr txBox="1"/>
          <p:nvPr/>
        </p:nvSpPr>
        <p:spPr>
          <a:xfrm>
            <a:off x="1080146" y="15458282"/>
            <a:ext cx="12752022" cy="543711"/>
          </a:xfrm>
          <a:prstGeom prst="rect">
            <a:avLst/>
          </a:prstGeom>
        </p:spPr>
        <p:txBody>
          <a:bodyPr vert="horz" wrap="square" lIns="0" tIns="50773" rIns="0" bIns="0" rtlCol="0">
            <a:spAutoFit/>
          </a:bodyPr>
          <a:lstStyle/>
          <a:p>
            <a:pPr marL="561340" marR="20320" indent="-513080">
              <a:spcBef>
                <a:spcPts val="400"/>
              </a:spcBef>
            </a:pPr>
            <a:r>
              <a:rPr lang="en-US" sz="3200" b="1" spc="-20" dirty="0">
                <a:latin typeface="Arial" panose="020B0604020202020204"/>
                <a:cs typeface="Arial" panose="020B0604020202020204"/>
              </a:rPr>
              <a:t>2</a:t>
            </a:r>
            <a:r>
              <a:rPr sz="3200" b="1" spc="-20" dirty="0">
                <a:latin typeface="Arial" panose="020B0604020202020204"/>
                <a:cs typeface="Arial" panose="020B0604020202020204"/>
              </a:rPr>
              <a:t>.</a:t>
            </a:r>
            <a:r>
              <a:rPr lang="en-US" sz="3200" b="1" spc="-20" dirty="0">
                <a:latin typeface="Arial" panose="020B0604020202020204"/>
                <a:cs typeface="Arial" panose="020B0604020202020204"/>
              </a:rPr>
              <a:t> Cohort Characteristics and Clinical Profile Assessment</a:t>
            </a:r>
            <a:endParaRPr sz="3200" dirty="0">
              <a:latin typeface="Arial" panose="020B0604020202020204"/>
              <a:cs typeface="Arial" panose="020B0604020202020204"/>
            </a:endParaRPr>
          </a:p>
        </p:txBody>
      </p:sp>
      <p:pic>
        <p:nvPicPr>
          <p:cNvPr id="257" name="object 257"/>
          <p:cNvPicPr/>
          <p:nvPr/>
        </p:nvPicPr>
        <p:blipFill>
          <a:blip r:embed="rId6" cstate="print"/>
          <a:stretch>
            <a:fillRect/>
          </a:stretch>
        </p:blipFill>
        <p:spPr>
          <a:xfrm>
            <a:off x="933917" y="3047894"/>
            <a:ext cx="292458" cy="24371"/>
          </a:xfrm>
          <a:prstGeom prst="rect">
            <a:avLst/>
          </a:prstGeom>
        </p:spPr>
      </p:pic>
      <p:sp>
        <p:nvSpPr>
          <p:cNvPr id="307" name="object 307"/>
          <p:cNvSpPr txBox="1"/>
          <p:nvPr/>
        </p:nvSpPr>
        <p:spPr>
          <a:xfrm>
            <a:off x="1044088" y="24297619"/>
            <a:ext cx="13695489" cy="543711"/>
          </a:xfrm>
          <a:prstGeom prst="rect">
            <a:avLst/>
          </a:prstGeom>
        </p:spPr>
        <p:txBody>
          <a:bodyPr vert="horz" wrap="square" lIns="0" tIns="50773" rIns="0" bIns="0" rtlCol="0">
            <a:spAutoFit/>
          </a:bodyPr>
          <a:lstStyle/>
          <a:p>
            <a:pPr marL="561340" marR="20320" indent="-513080" algn="just">
              <a:spcBef>
                <a:spcPts val="400"/>
              </a:spcBef>
            </a:pPr>
            <a:r>
              <a:rPr lang="en-US" sz="3200" b="1" spc="-20" dirty="0">
                <a:latin typeface="Arial" panose="020B0604020202020204"/>
                <a:cs typeface="Arial" panose="020B0604020202020204"/>
              </a:rPr>
              <a:t>3</a:t>
            </a:r>
            <a:r>
              <a:rPr sz="3200" b="1" spc="-20" dirty="0">
                <a:latin typeface="Arial" panose="020B0604020202020204"/>
                <a:cs typeface="Arial" panose="020B0604020202020204"/>
              </a:rPr>
              <a:t>.</a:t>
            </a:r>
            <a:r>
              <a:rPr lang="en-US" sz="3200" b="1" spc="-20" dirty="0">
                <a:latin typeface="Arial" panose="020B0604020202020204"/>
                <a:cs typeface="Arial" panose="020B0604020202020204"/>
              </a:rPr>
              <a:t> Evaluation of hierarchical strategies using one-vs-one ROC analysis</a:t>
            </a:r>
            <a:endParaRPr sz="1600" dirty="0">
              <a:latin typeface="Arial" panose="020B0604020202020204"/>
              <a:cs typeface="Arial" panose="020B0604020202020204"/>
            </a:endParaRPr>
          </a:p>
        </p:txBody>
      </p:sp>
      <p:pic>
        <p:nvPicPr>
          <p:cNvPr id="398" name="Picture 4" descr="华南理工大学校徽矢量图下载 - 中国大学矢量校徽大全">
            <a:extLst>
              <a:ext uri="{FF2B5EF4-FFF2-40B4-BE49-F238E27FC236}">
                <a16:creationId xmlns:a16="http://schemas.microsoft.com/office/drawing/2014/main" id="{D0928DEF-FB28-F1B0-01F7-CECA7EB3059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6206" y="1008901"/>
            <a:ext cx="3200400" cy="3234398"/>
          </a:xfrm>
          <a:prstGeom prst="rect">
            <a:avLst/>
          </a:prstGeom>
          <a:noFill/>
          <a:extLst>
            <a:ext uri="{909E8E84-426E-40DD-AFC4-6F175D3DCCD1}">
              <a14:hiddenFill xmlns:a14="http://schemas.microsoft.com/office/drawing/2010/main">
                <a:solidFill>
                  <a:srgbClr val="FFFFFF"/>
                </a:solidFill>
              </a14:hiddenFill>
            </a:ext>
          </a:extLst>
        </p:spPr>
      </p:pic>
      <p:pic>
        <p:nvPicPr>
          <p:cNvPr id="260" name="图片 259">
            <a:extLst>
              <a:ext uri="{FF2B5EF4-FFF2-40B4-BE49-F238E27FC236}">
                <a16:creationId xmlns:a16="http://schemas.microsoft.com/office/drawing/2014/main" id="{174893BE-8892-57DD-BA6A-C91A6156752B}"/>
              </a:ext>
            </a:extLst>
          </p:cNvPr>
          <p:cNvPicPr>
            <a:picLocks noChangeAspect="1"/>
          </p:cNvPicPr>
          <p:nvPr/>
        </p:nvPicPr>
        <p:blipFill>
          <a:blip r:embed="rId8"/>
          <a:stretch>
            <a:fillRect/>
          </a:stretch>
        </p:blipFill>
        <p:spPr>
          <a:xfrm>
            <a:off x="1274340" y="27027747"/>
            <a:ext cx="1074783" cy="720000"/>
          </a:xfrm>
          <a:prstGeom prst="rect">
            <a:avLst/>
          </a:prstGeom>
        </p:spPr>
      </p:pic>
      <p:sp>
        <p:nvSpPr>
          <p:cNvPr id="262" name="文本框 261">
            <a:extLst>
              <a:ext uri="{FF2B5EF4-FFF2-40B4-BE49-F238E27FC236}">
                <a16:creationId xmlns:a16="http://schemas.microsoft.com/office/drawing/2014/main" id="{A914F4D0-BAAF-3A6A-11D6-04BC6C14A5C5}"/>
              </a:ext>
            </a:extLst>
          </p:cNvPr>
          <p:cNvSpPr txBox="1"/>
          <p:nvPr/>
        </p:nvSpPr>
        <p:spPr>
          <a:xfrm>
            <a:off x="2643046" y="10818743"/>
            <a:ext cx="2094965"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TCGA</a:t>
            </a:r>
          </a:p>
          <a:p>
            <a:pPr algn="ctr"/>
            <a:r>
              <a:rPr lang="en-US" altLang="zh-CN" sz="2400" dirty="0">
                <a:latin typeface="Arial" panose="020B0604020202020204" pitchFamily="34" charset="0"/>
                <a:cs typeface="Arial" panose="020B0604020202020204" pitchFamily="34" charset="0"/>
              </a:rPr>
              <a:t>N=931</a:t>
            </a:r>
            <a:endParaRPr lang="zh-CN" altLang="en-US" sz="2400" dirty="0">
              <a:latin typeface="Arial" panose="020B0604020202020204" pitchFamily="34" charset="0"/>
              <a:cs typeface="Arial" panose="020B0604020202020204" pitchFamily="34" charset="0"/>
            </a:endParaRPr>
          </a:p>
        </p:txBody>
      </p:sp>
      <p:sp>
        <p:nvSpPr>
          <p:cNvPr id="263" name="文本框 262">
            <a:extLst>
              <a:ext uri="{FF2B5EF4-FFF2-40B4-BE49-F238E27FC236}">
                <a16:creationId xmlns:a16="http://schemas.microsoft.com/office/drawing/2014/main" id="{8B8C2A99-0DE7-0B78-D01B-A5A64FDC9370}"/>
              </a:ext>
            </a:extLst>
          </p:cNvPr>
          <p:cNvSpPr txBox="1"/>
          <p:nvPr/>
        </p:nvSpPr>
        <p:spPr>
          <a:xfrm>
            <a:off x="2409311" y="12796664"/>
            <a:ext cx="2562437"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METABRIC</a:t>
            </a:r>
          </a:p>
          <a:p>
            <a:pPr algn="ctr"/>
            <a:r>
              <a:rPr lang="en-US" altLang="zh-CN" sz="2400" dirty="0">
                <a:latin typeface="Arial" panose="020B0604020202020204" pitchFamily="34" charset="0"/>
                <a:cs typeface="Arial" panose="020B0604020202020204" pitchFamily="34" charset="0"/>
              </a:rPr>
              <a:t>N=1134</a:t>
            </a:r>
          </a:p>
        </p:txBody>
      </p:sp>
      <p:sp>
        <p:nvSpPr>
          <p:cNvPr id="265" name="文本框 264">
            <a:extLst>
              <a:ext uri="{FF2B5EF4-FFF2-40B4-BE49-F238E27FC236}">
                <a16:creationId xmlns:a16="http://schemas.microsoft.com/office/drawing/2014/main" id="{8744FF08-7724-E5D9-8B8F-F25D00A0FC13}"/>
              </a:ext>
            </a:extLst>
          </p:cNvPr>
          <p:cNvSpPr txBox="1"/>
          <p:nvPr/>
        </p:nvSpPr>
        <p:spPr>
          <a:xfrm>
            <a:off x="6063068" y="10636200"/>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197</a:t>
            </a:r>
            <a:endParaRPr lang="zh-CN" altLang="en-US" sz="2400" dirty="0">
              <a:latin typeface="Arial" panose="020B0604020202020204" pitchFamily="34" charset="0"/>
              <a:cs typeface="Arial" panose="020B0604020202020204" pitchFamily="34" charset="0"/>
            </a:endParaRPr>
          </a:p>
        </p:txBody>
      </p:sp>
      <p:sp>
        <p:nvSpPr>
          <p:cNvPr id="266" name="矩形 265">
            <a:extLst>
              <a:ext uri="{FF2B5EF4-FFF2-40B4-BE49-F238E27FC236}">
                <a16:creationId xmlns:a16="http://schemas.microsoft.com/office/drawing/2014/main" id="{7B3982F7-66B4-9A39-CE5A-308358CE509E}"/>
              </a:ext>
            </a:extLst>
          </p:cNvPr>
          <p:cNvSpPr/>
          <p:nvPr/>
        </p:nvSpPr>
        <p:spPr>
          <a:xfrm>
            <a:off x="4649488" y="10726866"/>
            <a:ext cx="1418400" cy="288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7" name="矩形 266">
            <a:extLst>
              <a:ext uri="{FF2B5EF4-FFF2-40B4-BE49-F238E27FC236}">
                <a16:creationId xmlns:a16="http://schemas.microsoft.com/office/drawing/2014/main" id="{5E2A5430-2DBC-728C-35C9-E83784972FB7}"/>
              </a:ext>
            </a:extLst>
          </p:cNvPr>
          <p:cNvSpPr/>
          <p:nvPr/>
        </p:nvSpPr>
        <p:spPr>
          <a:xfrm>
            <a:off x="4649488" y="11617355"/>
            <a:ext cx="1209600" cy="288000"/>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矩形 267">
            <a:extLst>
              <a:ext uri="{FF2B5EF4-FFF2-40B4-BE49-F238E27FC236}">
                <a16:creationId xmlns:a16="http://schemas.microsoft.com/office/drawing/2014/main" id="{2EAC7627-30D0-6F78-9828-21550A9F990E}"/>
              </a:ext>
            </a:extLst>
          </p:cNvPr>
          <p:cNvSpPr/>
          <p:nvPr/>
        </p:nvSpPr>
        <p:spPr>
          <a:xfrm>
            <a:off x="4649488" y="11327797"/>
            <a:ext cx="561600" cy="28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a:extLst>
              <a:ext uri="{FF2B5EF4-FFF2-40B4-BE49-F238E27FC236}">
                <a16:creationId xmlns:a16="http://schemas.microsoft.com/office/drawing/2014/main" id="{43D17181-AE9A-7550-FB72-A93D6986ECF3}"/>
              </a:ext>
            </a:extLst>
          </p:cNvPr>
          <p:cNvSpPr/>
          <p:nvPr/>
        </p:nvSpPr>
        <p:spPr>
          <a:xfrm>
            <a:off x="4649488" y="11046843"/>
            <a:ext cx="3513600" cy="288000"/>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a:extLst>
              <a:ext uri="{FF2B5EF4-FFF2-40B4-BE49-F238E27FC236}">
                <a16:creationId xmlns:a16="http://schemas.microsoft.com/office/drawing/2014/main" id="{79D1229C-11A5-746E-92CF-F80DCC24D7C2}"/>
              </a:ext>
            </a:extLst>
          </p:cNvPr>
          <p:cNvSpPr/>
          <p:nvPr/>
        </p:nvSpPr>
        <p:spPr>
          <a:xfrm>
            <a:off x="4651541" y="12462687"/>
            <a:ext cx="2376000" cy="288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1" name="矩形 270">
            <a:extLst>
              <a:ext uri="{FF2B5EF4-FFF2-40B4-BE49-F238E27FC236}">
                <a16:creationId xmlns:a16="http://schemas.microsoft.com/office/drawing/2014/main" id="{9766329A-AA25-85BE-5332-5853C71A6E2D}"/>
              </a:ext>
            </a:extLst>
          </p:cNvPr>
          <p:cNvSpPr/>
          <p:nvPr/>
        </p:nvSpPr>
        <p:spPr>
          <a:xfrm>
            <a:off x="4651541" y="13360287"/>
            <a:ext cx="1029600" cy="288000"/>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a:extLst>
              <a:ext uri="{FF2B5EF4-FFF2-40B4-BE49-F238E27FC236}">
                <a16:creationId xmlns:a16="http://schemas.microsoft.com/office/drawing/2014/main" id="{47CD2FF6-7267-5006-29E5-832C102CA53B}"/>
              </a:ext>
            </a:extLst>
          </p:cNvPr>
          <p:cNvSpPr/>
          <p:nvPr/>
        </p:nvSpPr>
        <p:spPr>
          <a:xfrm>
            <a:off x="4651541" y="13055487"/>
            <a:ext cx="1231200" cy="28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a:extLst>
              <a:ext uri="{FF2B5EF4-FFF2-40B4-BE49-F238E27FC236}">
                <a16:creationId xmlns:a16="http://schemas.microsoft.com/office/drawing/2014/main" id="{376901E7-B866-06C7-3A99-46EC7C63CD39}"/>
              </a:ext>
            </a:extLst>
          </p:cNvPr>
          <p:cNvSpPr/>
          <p:nvPr/>
        </p:nvSpPr>
        <p:spPr>
          <a:xfrm>
            <a:off x="4651541" y="12767487"/>
            <a:ext cx="3528000" cy="288000"/>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左大括号 274">
            <a:extLst>
              <a:ext uri="{FF2B5EF4-FFF2-40B4-BE49-F238E27FC236}">
                <a16:creationId xmlns:a16="http://schemas.microsoft.com/office/drawing/2014/main" id="{77EA7FC8-B00A-B1B8-BE7B-4FAEC5848670}"/>
              </a:ext>
            </a:extLst>
          </p:cNvPr>
          <p:cNvSpPr/>
          <p:nvPr/>
        </p:nvSpPr>
        <p:spPr>
          <a:xfrm>
            <a:off x="1997519" y="11012916"/>
            <a:ext cx="778871" cy="2316826"/>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5" name="文本框 304">
            <a:extLst>
              <a:ext uri="{FF2B5EF4-FFF2-40B4-BE49-F238E27FC236}">
                <a16:creationId xmlns:a16="http://schemas.microsoft.com/office/drawing/2014/main" id="{EB07470C-9E7D-73F6-ED72-22D22DC128A3}"/>
              </a:ext>
            </a:extLst>
          </p:cNvPr>
          <p:cNvSpPr txBox="1"/>
          <p:nvPr/>
        </p:nvSpPr>
        <p:spPr>
          <a:xfrm>
            <a:off x="964406" y="13932235"/>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PAM50 subtype</a:t>
            </a:r>
            <a:endParaRPr lang="zh-CN" altLang="en-US" sz="2400" dirty="0">
              <a:latin typeface="Arial" panose="020B0604020202020204" pitchFamily="34" charset="0"/>
              <a:cs typeface="Arial" panose="020B0604020202020204" pitchFamily="34" charset="0"/>
            </a:endParaRPr>
          </a:p>
        </p:txBody>
      </p:sp>
      <p:sp>
        <p:nvSpPr>
          <p:cNvPr id="306" name="矩形 305">
            <a:extLst>
              <a:ext uri="{FF2B5EF4-FFF2-40B4-BE49-F238E27FC236}">
                <a16:creationId xmlns:a16="http://schemas.microsoft.com/office/drawing/2014/main" id="{785A1F64-3C2B-C522-1241-2EFEDDD7D487}"/>
              </a:ext>
            </a:extLst>
          </p:cNvPr>
          <p:cNvSpPr/>
          <p:nvPr/>
        </p:nvSpPr>
        <p:spPr>
          <a:xfrm>
            <a:off x="1082375" y="14501687"/>
            <a:ext cx="288000" cy="288000"/>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7" name="矩形 396">
            <a:extLst>
              <a:ext uri="{FF2B5EF4-FFF2-40B4-BE49-F238E27FC236}">
                <a16:creationId xmlns:a16="http://schemas.microsoft.com/office/drawing/2014/main" id="{21A4A20D-6F70-8278-2020-0166C2DB7AD7}"/>
              </a:ext>
            </a:extLst>
          </p:cNvPr>
          <p:cNvSpPr/>
          <p:nvPr/>
        </p:nvSpPr>
        <p:spPr>
          <a:xfrm>
            <a:off x="8795789" y="14515752"/>
            <a:ext cx="288000" cy="288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9" name="矩形 398">
            <a:extLst>
              <a:ext uri="{FF2B5EF4-FFF2-40B4-BE49-F238E27FC236}">
                <a16:creationId xmlns:a16="http://schemas.microsoft.com/office/drawing/2014/main" id="{82808848-4C3A-A6CB-565F-584AE309FFB0}"/>
              </a:ext>
            </a:extLst>
          </p:cNvPr>
          <p:cNvSpPr/>
          <p:nvPr/>
        </p:nvSpPr>
        <p:spPr>
          <a:xfrm>
            <a:off x="6013776" y="14469359"/>
            <a:ext cx="288000" cy="288000"/>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0" name="矩形 399">
            <a:extLst>
              <a:ext uri="{FF2B5EF4-FFF2-40B4-BE49-F238E27FC236}">
                <a16:creationId xmlns:a16="http://schemas.microsoft.com/office/drawing/2014/main" id="{A0CE8D6F-F45F-334F-CAB1-E91B336C8083}"/>
              </a:ext>
            </a:extLst>
          </p:cNvPr>
          <p:cNvSpPr/>
          <p:nvPr/>
        </p:nvSpPr>
        <p:spPr>
          <a:xfrm>
            <a:off x="3726297" y="14503578"/>
            <a:ext cx="288000" cy="28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1" name="文本框 400">
            <a:extLst>
              <a:ext uri="{FF2B5EF4-FFF2-40B4-BE49-F238E27FC236}">
                <a16:creationId xmlns:a16="http://schemas.microsoft.com/office/drawing/2014/main" id="{8863E50C-E57B-E5A6-AB44-87C7A09F06F6}"/>
              </a:ext>
            </a:extLst>
          </p:cNvPr>
          <p:cNvSpPr txBox="1"/>
          <p:nvPr/>
        </p:nvSpPr>
        <p:spPr>
          <a:xfrm>
            <a:off x="1398069" y="14414854"/>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Basal-like</a:t>
            </a:r>
            <a:endParaRPr lang="zh-CN" altLang="en-US" sz="2400" dirty="0">
              <a:latin typeface="Arial" panose="020B0604020202020204" pitchFamily="34" charset="0"/>
              <a:cs typeface="Arial" panose="020B0604020202020204" pitchFamily="34" charset="0"/>
            </a:endParaRPr>
          </a:p>
        </p:txBody>
      </p:sp>
      <p:sp>
        <p:nvSpPr>
          <p:cNvPr id="402" name="文本框 401">
            <a:extLst>
              <a:ext uri="{FF2B5EF4-FFF2-40B4-BE49-F238E27FC236}">
                <a16:creationId xmlns:a16="http://schemas.microsoft.com/office/drawing/2014/main" id="{B47A6D31-08FB-2630-15AC-162623848FFF}"/>
              </a:ext>
            </a:extLst>
          </p:cNvPr>
          <p:cNvSpPr txBox="1"/>
          <p:nvPr/>
        </p:nvSpPr>
        <p:spPr>
          <a:xfrm>
            <a:off x="4012406" y="14399235"/>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Her2</a:t>
            </a:r>
            <a:endParaRPr lang="zh-CN" altLang="en-US" sz="2400" dirty="0">
              <a:latin typeface="Arial" panose="020B0604020202020204" pitchFamily="34" charset="0"/>
              <a:cs typeface="Arial" panose="020B0604020202020204" pitchFamily="34" charset="0"/>
            </a:endParaRPr>
          </a:p>
        </p:txBody>
      </p:sp>
      <p:sp>
        <p:nvSpPr>
          <p:cNvPr id="403" name="文本框 402">
            <a:extLst>
              <a:ext uri="{FF2B5EF4-FFF2-40B4-BE49-F238E27FC236}">
                <a16:creationId xmlns:a16="http://schemas.microsoft.com/office/drawing/2014/main" id="{6B203FB0-C282-FC4A-1A98-7A27D84EEFAA}"/>
              </a:ext>
            </a:extLst>
          </p:cNvPr>
          <p:cNvSpPr txBox="1"/>
          <p:nvPr/>
        </p:nvSpPr>
        <p:spPr>
          <a:xfrm>
            <a:off x="6301776" y="14406396"/>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Luminal A</a:t>
            </a:r>
            <a:endParaRPr lang="zh-CN" altLang="en-US" sz="2400" dirty="0">
              <a:latin typeface="Arial" panose="020B0604020202020204" pitchFamily="34" charset="0"/>
              <a:cs typeface="Arial" panose="020B0604020202020204" pitchFamily="34" charset="0"/>
            </a:endParaRPr>
          </a:p>
        </p:txBody>
      </p:sp>
      <p:sp>
        <p:nvSpPr>
          <p:cNvPr id="404" name="文本框 403">
            <a:extLst>
              <a:ext uri="{FF2B5EF4-FFF2-40B4-BE49-F238E27FC236}">
                <a16:creationId xmlns:a16="http://schemas.microsoft.com/office/drawing/2014/main" id="{7A7C00D0-806A-923D-AE83-3FCEDCA08E5D}"/>
              </a:ext>
            </a:extLst>
          </p:cNvPr>
          <p:cNvSpPr txBox="1"/>
          <p:nvPr/>
        </p:nvSpPr>
        <p:spPr>
          <a:xfrm>
            <a:off x="9088436" y="14419737"/>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Luminal B</a:t>
            </a:r>
          </a:p>
        </p:txBody>
      </p:sp>
      <p:sp>
        <p:nvSpPr>
          <p:cNvPr id="405" name="文本框 404">
            <a:extLst>
              <a:ext uri="{FF2B5EF4-FFF2-40B4-BE49-F238E27FC236}">
                <a16:creationId xmlns:a16="http://schemas.microsoft.com/office/drawing/2014/main" id="{970A2D67-9154-32E1-5E7A-70141AC47477}"/>
              </a:ext>
            </a:extLst>
          </p:cNvPr>
          <p:cNvSpPr txBox="1"/>
          <p:nvPr/>
        </p:nvSpPr>
        <p:spPr>
          <a:xfrm>
            <a:off x="8163088" y="11010353"/>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488</a:t>
            </a:r>
            <a:endParaRPr lang="zh-CN" altLang="en-US" sz="2400" dirty="0">
              <a:latin typeface="Arial" panose="020B0604020202020204" pitchFamily="34" charset="0"/>
              <a:cs typeface="Arial" panose="020B0604020202020204" pitchFamily="34" charset="0"/>
            </a:endParaRPr>
          </a:p>
        </p:txBody>
      </p:sp>
      <p:sp>
        <p:nvSpPr>
          <p:cNvPr id="406" name="文本框 405">
            <a:extLst>
              <a:ext uri="{FF2B5EF4-FFF2-40B4-BE49-F238E27FC236}">
                <a16:creationId xmlns:a16="http://schemas.microsoft.com/office/drawing/2014/main" id="{89895E94-4475-A867-C1A1-22C7CD30D2DB}"/>
              </a:ext>
            </a:extLst>
          </p:cNvPr>
          <p:cNvSpPr txBox="1"/>
          <p:nvPr/>
        </p:nvSpPr>
        <p:spPr>
          <a:xfrm>
            <a:off x="5224868" y="11257480"/>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78</a:t>
            </a:r>
            <a:endParaRPr lang="zh-CN" altLang="en-US" sz="2400" dirty="0">
              <a:latin typeface="Arial" panose="020B0604020202020204" pitchFamily="34" charset="0"/>
              <a:cs typeface="Arial" panose="020B0604020202020204" pitchFamily="34" charset="0"/>
            </a:endParaRPr>
          </a:p>
        </p:txBody>
      </p:sp>
      <p:sp>
        <p:nvSpPr>
          <p:cNvPr id="407" name="文本框 406">
            <a:extLst>
              <a:ext uri="{FF2B5EF4-FFF2-40B4-BE49-F238E27FC236}">
                <a16:creationId xmlns:a16="http://schemas.microsoft.com/office/drawing/2014/main" id="{A5941BC3-8351-4963-0374-D2DFB07D7949}"/>
              </a:ext>
            </a:extLst>
          </p:cNvPr>
          <p:cNvSpPr txBox="1"/>
          <p:nvPr/>
        </p:nvSpPr>
        <p:spPr>
          <a:xfrm>
            <a:off x="5828669" y="11538588"/>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168</a:t>
            </a:r>
            <a:endParaRPr lang="zh-CN" altLang="en-US" sz="2400" dirty="0">
              <a:latin typeface="Arial" panose="020B0604020202020204" pitchFamily="34" charset="0"/>
              <a:cs typeface="Arial" panose="020B0604020202020204" pitchFamily="34" charset="0"/>
            </a:endParaRPr>
          </a:p>
        </p:txBody>
      </p:sp>
      <p:sp>
        <p:nvSpPr>
          <p:cNvPr id="408" name="文本框 407">
            <a:extLst>
              <a:ext uri="{FF2B5EF4-FFF2-40B4-BE49-F238E27FC236}">
                <a16:creationId xmlns:a16="http://schemas.microsoft.com/office/drawing/2014/main" id="{7EBD9CBD-3D8B-B2EB-BCF2-89BDE5EA6958}"/>
              </a:ext>
            </a:extLst>
          </p:cNvPr>
          <p:cNvSpPr txBox="1"/>
          <p:nvPr/>
        </p:nvSpPr>
        <p:spPr>
          <a:xfrm>
            <a:off x="7044263" y="12384739"/>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330</a:t>
            </a:r>
            <a:endParaRPr lang="zh-CN" altLang="en-US" sz="2400" dirty="0">
              <a:latin typeface="Arial" panose="020B0604020202020204" pitchFamily="34" charset="0"/>
              <a:cs typeface="Arial" panose="020B0604020202020204" pitchFamily="34" charset="0"/>
            </a:endParaRPr>
          </a:p>
        </p:txBody>
      </p:sp>
      <p:sp>
        <p:nvSpPr>
          <p:cNvPr id="409" name="文本框 408">
            <a:extLst>
              <a:ext uri="{FF2B5EF4-FFF2-40B4-BE49-F238E27FC236}">
                <a16:creationId xmlns:a16="http://schemas.microsoft.com/office/drawing/2014/main" id="{BE81FC91-3B5B-EF69-EB45-675183C0ECB7}"/>
              </a:ext>
            </a:extLst>
          </p:cNvPr>
          <p:cNvSpPr txBox="1"/>
          <p:nvPr/>
        </p:nvSpPr>
        <p:spPr>
          <a:xfrm>
            <a:off x="8162860" y="12720113"/>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490</a:t>
            </a:r>
            <a:endParaRPr lang="zh-CN" altLang="en-US" sz="2400" dirty="0">
              <a:latin typeface="Arial" panose="020B0604020202020204" pitchFamily="34" charset="0"/>
              <a:cs typeface="Arial" panose="020B0604020202020204" pitchFamily="34" charset="0"/>
            </a:endParaRPr>
          </a:p>
        </p:txBody>
      </p:sp>
      <p:sp>
        <p:nvSpPr>
          <p:cNvPr id="410" name="文本框 409">
            <a:extLst>
              <a:ext uri="{FF2B5EF4-FFF2-40B4-BE49-F238E27FC236}">
                <a16:creationId xmlns:a16="http://schemas.microsoft.com/office/drawing/2014/main" id="{FE71B79B-1AC6-0A64-4D9E-CE18BCCC9FED}"/>
              </a:ext>
            </a:extLst>
          </p:cNvPr>
          <p:cNvSpPr txBox="1"/>
          <p:nvPr/>
        </p:nvSpPr>
        <p:spPr>
          <a:xfrm>
            <a:off x="5859088" y="12977775"/>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171</a:t>
            </a:r>
            <a:endParaRPr lang="zh-CN" altLang="en-US" sz="2400" dirty="0">
              <a:latin typeface="Arial" panose="020B0604020202020204" pitchFamily="34" charset="0"/>
              <a:cs typeface="Arial" panose="020B0604020202020204" pitchFamily="34" charset="0"/>
            </a:endParaRPr>
          </a:p>
        </p:txBody>
      </p:sp>
      <p:sp>
        <p:nvSpPr>
          <p:cNvPr id="411" name="文本框 410">
            <a:extLst>
              <a:ext uri="{FF2B5EF4-FFF2-40B4-BE49-F238E27FC236}">
                <a16:creationId xmlns:a16="http://schemas.microsoft.com/office/drawing/2014/main" id="{26DADF0A-34F1-21AF-93C6-B32D2F3A7B21}"/>
              </a:ext>
            </a:extLst>
          </p:cNvPr>
          <p:cNvSpPr txBox="1"/>
          <p:nvPr/>
        </p:nvSpPr>
        <p:spPr>
          <a:xfrm>
            <a:off x="5691693" y="13289520"/>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143</a:t>
            </a:r>
            <a:endParaRPr lang="zh-CN" altLang="en-US" sz="2400" dirty="0">
              <a:latin typeface="Arial" panose="020B0604020202020204" pitchFamily="34" charset="0"/>
              <a:cs typeface="Arial" panose="020B0604020202020204" pitchFamily="34" charset="0"/>
            </a:endParaRPr>
          </a:p>
        </p:txBody>
      </p:sp>
      <p:pic>
        <p:nvPicPr>
          <p:cNvPr id="415" name="图片 414">
            <a:extLst>
              <a:ext uri="{FF2B5EF4-FFF2-40B4-BE49-F238E27FC236}">
                <a16:creationId xmlns:a16="http://schemas.microsoft.com/office/drawing/2014/main" id="{3D747BA2-5134-05EF-90F9-B4503BE73733}"/>
              </a:ext>
            </a:extLst>
          </p:cNvPr>
          <p:cNvPicPr>
            <a:picLocks noChangeAspect="1"/>
          </p:cNvPicPr>
          <p:nvPr/>
        </p:nvPicPr>
        <p:blipFill>
          <a:blip r:embed="rId9"/>
          <a:stretch>
            <a:fillRect/>
          </a:stretch>
        </p:blipFill>
        <p:spPr>
          <a:xfrm>
            <a:off x="11140185" y="12000253"/>
            <a:ext cx="783529" cy="720000"/>
          </a:xfrm>
          <a:prstGeom prst="rect">
            <a:avLst/>
          </a:prstGeom>
        </p:spPr>
      </p:pic>
      <p:pic>
        <p:nvPicPr>
          <p:cNvPr id="416" name="图片 415">
            <a:extLst>
              <a:ext uri="{FF2B5EF4-FFF2-40B4-BE49-F238E27FC236}">
                <a16:creationId xmlns:a16="http://schemas.microsoft.com/office/drawing/2014/main" id="{EEFD2DCB-90B6-285E-A188-990F51D60894}"/>
              </a:ext>
            </a:extLst>
          </p:cNvPr>
          <p:cNvPicPr>
            <a:picLocks noChangeAspect="1"/>
          </p:cNvPicPr>
          <p:nvPr/>
        </p:nvPicPr>
        <p:blipFill>
          <a:blip r:embed="rId10"/>
          <a:stretch>
            <a:fillRect/>
          </a:stretch>
        </p:blipFill>
        <p:spPr>
          <a:xfrm>
            <a:off x="11287533" y="10776388"/>
            <a:ext cx="520001" cy="1080000"/>
          </a:xfrm>
          <a:prstGeom prst="rect">
            <a:avLst/>
          </a:prstGeom>
        </p:spPr>
      </p:pic>
      <p:pic>
        <p:nvPicPr>
          <p:cNvPr id="417" name="图片 416">
            <a:extLst>
              <a:ext uri="{FF2B5EF4-FFF2-40B4-BE49-F238E27FC236}">
                <a16:creationId xmlns:a16="http://schemas.microsoft.com/office/drawing/2014/main" id="{95D8B6C0-4F2B-7180-A7D0-5F40C2F70928}"/>
              </a:ext>
            </a:extLst>
          </p:cNvPr>
          <p:cNvPicPr>
            <a:picLocks noChangeAspect="1"/>
          </p:cNvPicPr>
          <p:nvPr/>
        </p:nvPicPr>
        <p:blipFill>
          <a:blip r:embed="rId11"/>
          <a:stretch>
            <a:fillRect/>
          </a:stretch>
        </p:blipFill>
        <p:spPr>
          <a:xfrm>
            <a:off x="11143593" y="12983398"/>
            <a:ext cx="1168212" cy="720000"/>
          </a:xfrm>
          <a:prstGeom prst="rect">
            <a:avLst/>
          </a:prstGeom>
        </p:spPr>
      </p:pic>
      <p:sp>
        <p:nvSpPr>
          <p:cNvPr id="418" name="文本框 417">
            <a:extLst>
              <a:ext uri="{FF2B5EF4-FFF2-40B4-BE49-F238E27FC236}">
                <a16:creationId xmlns:a16="http://schemas.microsoft.com/office/drawing/2014/main" id="{245F6E11-1CE8-2228-7FEF-1F6BC2825A40}"/>
              </a:ext>
            </a:extLst>
          </p:cNvPr>
          <p:cNvSpPr txBox="1"/>
          <p:nvPr/>
        </p:nvSpPr>
        <p:spPr>
          <a:xfrm>
            <a:off x="12165559" y="10972889"/>
            <a:ext cx="2094965"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mutation</a:t>
            </a:r>
          </a:p>
          <a:p>
            <a:pPr algn="ctr"/>
            <a:r>
              <a:rPr lang="en-US" altLang="zh-CN" sz="2400" dirty="0">
                <a:latin typeface="Arial" panose="020B0604020202020204" pitchFamily="34" charset="0"/>
                <a:cs typeface="Arial" panose="020B0604020202020204" pitchFamily="34" charset="0"/>
              </a:rPr>
              <a:t>n=16770</a:t>
            </a:r>
            <a:endParaRPr lang="zh-CN" altLang="en-US" sz="2400" dirty="0">
              <a:latin typeface="Arial" panose="020B0604020202020204" pitchFamily="34" charset="0"/>
              <a:cs typeface="Arial" panose="020B0604020202020204" pitchFamily="34" charset="0"/>
            </a:endParaRPr>
          </a:p>
        </p:txBody>
      </p:sp>
      <p:sp>
        <p:nvSpPr>
          <p:cNvPr id="419" name="文本框 418">
            <a:extLst>
              <a:ext uri="{FF2B5EF4-FFF2-40B4-BE49-F238E27FC236}">
                <a16:creationId xmlns:a16="http://schemas.microsoft.com/office/drawing/2014/main" id="{47D9ED7C-D1EB-F4D6-6252-2E4E86636A3A}"/>
              </a:ext>
            </a:extLst>
          </p:cNvPr>
          <p:cNvSpPr txBox="1"/>
          <p:nvPr/>
        </p:nvSpPr>
        <p:spPr>
          <a:xfrm>
            <a:off x="12431475" y="12845592"/>
            <a:ext cx="1710494" cy="1323439"/>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CNA</a:t>
            </a:r>
          </a:p>
          <a:p>
            <a:pPr algn="ctr"/>
            <a:r>
              <a:rPr lang="en-US" altLang="zh-CN" sz="2400" dirty="0">
                <a:latin typeface="Arial" panose="020B0604020202020204" pitchFamily="34" charset="0"/>
                <a:cs typeface="Arial" panose="020B0604020202020204" pitchFamily="34" charset="0"/>
              </a:rPr>
              <a:t>n=8467</a:t>
            </a:r>
          </a:p>
          <a:p>
            <a:endParaRPr lang="en-US" altLang="zh-CN" sz="3200" dirty="0">
              <a:latin typeface="Arial" panose="020B0604020202020204" pitchFamily="34" charset="0"/>
              <a:cs typeface="Arial" panose="020B0604020202020204" pitchFamily="34" charset="0"/>
            </a:endParaRPr>
          </a:p>
        </p:txBody>
      </p:sp>
      <p:sp>
        <p:nvSpPr>
          <p:cNvPr id="420" name="文本框 419">
            <a:extLst>
              <a:ext uri="{FF2B5EF4-FFF2-40B4-BE49-F238E27FC236}">
                <a16:creationId xmlns:a16="http://schemas.microsoft.com/office/drawing/2014/main" id="{420FFE7F-AF7C-A4F0-7D31-5B79AE45EC22}"/>
              </a:ext>
            </a:extLst>
          </p:cNvPr>
          <p:cNvSpPr txBox="1"/>
          <p:nvPr/>
        </p:nvSpPr>
        <p:spPr>
          <a:xfrm>
            <a:off x="11928966" y="11959729"/>
            <a:ext cx="2568149"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Methylation</a:t>
            </a:r>
          </a:p>
          <a:p>
            <a:pPr algn="ctr"/>
            <a:r>
              <a:rPr lang="en-US" altLang="zh-CN" sz="2400" dirty="0">
                <a:latin typeface="Arial" panose="020B0604020202020204" pitchFamily="34" charset="0"/>
                <a:cs typeface="Arial" panose="020B0604020202020204" pitchFamily="34" charset="0"/>
              </a:rPr>
              <a:t>n=25594</a:t>
            </a:r>
            <a:endParaRPr lang="zh-CN" altLang="en-US" sz="2400" dirty="0">
              <a:latin typeface="Arial" panose="020B0604020202020204" pitchFamily="34" charset="0"/>
              <a:cs typeface="Arial" panose="020B0604020202020204" pitchFamily="34" charset="0"/>
            </a:endParaRPr>
          </a:p>
        </p:txBody>
      </p:sp>
      <p:cxnSp>
        <p:nvCxnSpPr>
          <p:cNvPr id="422" name="直接连接符 421">
            <a:extLst>
              <a:ext uri="{FF2B5EF4-FFF2-40B4-BE49-F238E27FC236}">
                <a16:creationId xmlns:a16="http://schemas.microsoft.com/office/drawing/2014/main" id="{64FF7BBE-CFF2-7008-E5BD-77A0CB71A61E}"/>
              </a:ext>
            </a:extLst>
          </p:cNvPr>
          <p:cNvCxnSpPr>
            <a:cxnSpLocks/>
          </p:cNvCxnSpPr>
          <p:nvPr/>
        </p:nvCxnSpPr>
        <p:spPr>
          <a:xfrm>
            <a:off x="9192568" y="11357139"/>
            <a:ext cx="1684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4" name="直接连接符 423">
            <a:extLst>
              <a:ext uri="{FF2B5EF4-FFF2-40B4-BE49-F238E27FC236}">
                <a16:creationId xmlns:a16="http://schemas.microsoft.com/office/drawing/2014/main" id="{DFF9EFFA-A78D-005C-18A7-08C1783732EB}"/>
              </a:ext>
            </a:extLst>
          </p:cNvPr>
          <p:cNvCxnSpPr>
            <a:cxnSpLocks/>
          </p:cNvCxnSpPr>
          <p:nvPr/>
        </p:nvCxnSpPr>
        <p:spPr>
          <a:xfrm>
            <a:off x="9237851" y="11367240"/>
            <a:ext cx="1610852" cy="10026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7" name="直接连接符 426">
            <a:extLst>
              <a:ext uri="{FF2B5EF4-FFF2-40B4-BE49-F238E27FC236}">
                <a16:creationId xmlns:a16="http://schemas.microsoft.com/office/drawing/2014/main" id="{3E1540A0-E122-B19E-7E02-FADADBFBAC6D}"/>
              </a:ext>
            </a:extLst>
          </p:cNvPr>
          <p:cNvCxnSpPr>
            <a:cxnSpLocks/>
          </p:cNvCxnSpPr>
          <p:nvPr/>
        </p:nvCxnSpPr>
        <p:spPr>
          <a:xfrm>
            <a:off x="9194514" y="11342384"/>
            <a:ext cx="1734994" cy="20179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0" name="直接连接符 429">
            <a:extLst>
              <a:ext uri="{FF2B5EF4-FFF2-40B4-BE49-F238E27FC236}">
                <a16:creationId xmlns:a16="http://schemas.microsoft.com/office/drawing/2014/main" id="{03160839-4066-A66D-8557-919CB8EE6F14}"/>
              </a:ext>
            </a:extLst>
          </p:cNvPr>
          <p:cNvCxnSpPr>
            <a:cxnSpLocks/>
          </p:cNvCxnSpPr>
          <p:nvPr/>
        </p:nvCxnSpPr>
        <p:spPr>
          <a:xfrm>
            <a:off x="9180756" y="13360287"/>
            <a:ext cx="1784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直接连接符 430">
            <a:extLst>
              <a:ext uri="{FF2B5EF4-FFF2-40B4-BE49-F238E27FC236}">
                <a16:creationId xmlns:a16="http://schemas.microsoft.com/office/drawing/2014/main" id="{1CA160E3-FC2E-F98A-D238-C72CB9C8D355}"/>
              </a:ext>
            </a:extLst>
          </p:cNvPr>
          <p:cNvCxnSpPr>
            <a:cxnSpLocks/>
          </p:cNvCxnSpPr>
          <p:nvPr/>
        </p:nvCxnSpPr>
        <p:spPr>
          <a:xfrm flipV="1">
            <a:off x="9222712" y="12347565"/>
            <a:ext cx="1625991" cy="10127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6" name="直接连接符 435">
            <a:extLst>
              <a:ext uri="{FF2B5EF4-FFF2-40B4-BE49-F238E27FC236}">
                <a16:creationId xmlns:a16="http://schemas.microsoft.com/office/drawing/2014/main" id="{8AADB575-D9B4-9267-8843-7F23CE47C7D7}"/>
              </a:ext>
            </a:extLst>
          </p:cNvPr>
          <p:cNvCxnSpPr>
            <a:cxnSpLocks/>
          </p:cNvCxnSpPr>
          <p:nvPr/>
        </p:nvCxnSpPr>
        <p:spPr>
          <a:xfrm flipV="1">
            <a:off x="9210967" y="11334843"/>
            <a:ext cx="1680217" cy="20254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4" name="object 33">
            <a:extLst>
              <a:ext uri="{FF2B5EF4-FFF2-40B4-BE49-F238E27FC236}">
                <a16:creationId xmlns:a16="http://schemas.microsoft.com/office/drawing/2014/main" id="{9A12677F-1F6E-1B53-C50B-930DBC676C6E}"/>
              </a:ext>
            </a:extLst>
          </p:cNvPr>
          <p:cNvSpPr txBox="1"/>
          <p:nvPr/>
        </p:nvSpPr>
        <p:spPr>
          <a:xfrm>
            <a:off x="750038" y="29800545"/>
            <a:ext cx="13930368" cy="1431136"/>
          </a:xfrm>
          <a:prstGeom prst="rect">
            <a:avLst/>
          </a:prstGeom>
        </p:spPr>
        <p:txBody>
          <a:bodyPr vert="horz" wrap="square" lIns="0" tIns="45695" rIns="0" bIns="0" rtlCol="0">
            <a:spAutoFit/>
          </a:bodyPr>
          <a:lstStyle/>
          <a:p>
            <a:pPr marL="152400" marR="121920" algn="just">
              <a:spcBef>
                <a:spcPts val="360"/>
              </a:spcBef>
            </a:pPr>
            <a:r>
              <a:rPr lang="en-US" sz="1800" b="1" spc="-20" dirty="0">
                <a:latin typeface="Arial" panose="020B0604020202020204"/>
                <a:cs typeface="Arial" panose="020B0604020202020204"/>
              </a:rPr>
              <a:t>Figure 2. Performance comparison between the hierarchical UGES model and the one-step multiclass strategy. </a:t>
            </a:r>
            <a:r>
              <a:rPr lang="en-US" sz="1800" spc="-20" dirty="0">
                <a:latin typeface="Arial" panose="020B0604020202020204"/>
                <a:cs typeface="Arial" panose="020B0604020202020204"/>
              </a:rPr>
              <a:t>Subtype prediction was conducted on the combined test set (TCGA + METABRIC). UGES was evaluated under the proposed hierarchical architecture (B,(H,(LA,LB))) and compared with a one-step multiclass approach (B,H,LA,LB). To assess subtype discrimination capability, one-vs-one ROC analyses were performed across six intrinsic subtype pairs (Basal–Her2, Basal–LumA, Basal–LumB, Her2–LumA, Her2–LumB, LumA–LumB), and ROC curves with corresponding AUC values were derived from predicted probabilities.</a:t>
            </a:r>
            <a:endParaRPr sz="1800" baseline="12000" dirty="0">
              <a:latin typeface="Arial" panose="020B0604020202020204"/>
              <a:cs typeface="Arial" panose="020B0604020202020204"/>
            </a:endParaRPr>
          </a:p>
        </p:txBody>
      </p:sp>
      <p:pic>
        <p:nvPicPr>
          <p:cNvPr id="455" name="图片 454">
            <a:extLst>
              <a:ext uri="{FF2B5EF4-FFF2-40B4-BE49-F238E27FC236}">
                <a16:creationId xmlns:a16="http://schemas.microsoft.com/office/drawing/2014/main" id="{8C212A3D-1035-9FC7-B987-ECBF798C670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10087" y="3236913"/>
            <a:ext cx="306208" cy="295008"/>
          </a:xfrm>
          <a:prstGeom prst="rect">
            <a:avLst/>
          </a:prstGeom>
        </p:spPr>
      </p:pic>
      <p:pic>
        <p:nvPicPr>
          <p:cNvPr id="456" name="图片 455">
            <a:extLst>
              <a:ext uri="{FF2B5EF4-FFF2-40B4-BE49-F238E27FC236}">
                <a16:creationId xmlns:a16="http://schemas.microsoft.com/office/drawing/2014/main" id="{3BABB761-1A41-0796-40A5-67C5D539FF20}"/>
              </a:ext>
            </a:extLst>
          </p:cNvPr>
          <p:cNvPicPr>
            <a:picLocks noChangeAspect="1"/>
          </p:cNvPicPr>
          <p:nvPr/>
        </p:nvPicPr>
        <p:blipFill>
          <a:blip r:embed="rId13"/>
          <a:stretch>
            <a:fillRect/>
          </a:stretch>
        </p:blipFill>
        <p:spPr>
          <a:xfrm>
            <a:off x="1080321" y="11803886"/>
            <a:ext cx="750000" cy="720000"/>
          </a:xfrm>
          <a:prstGeom prst="rect">
            <a:avLst/>
          </a:prstGeom>
        </p:spPr>
      </p:pic>
      <p:sp>
        <p:nvSpPr>
          <p:cNvPr id="457" name="文本框 456">
            <a:extLst>
              <a:ext uri="{FF2B5EF4-FFF2-40B4-BE49-F238E27FC236}">
                <a16:creationId xmlns:a16="http://schemas.microsoft.com/office/drawing/2014/main" id="{5F14A9E7-9960-6A92-4CD1-5290DDCD33C6}"/>
              </a:ext>
            </a:extLst>
          </p:cNvPr>
          <p:cNvSpPr txBox="1"/>
          <p:nvPr/>
        </p:nvSpPr>
        <p:spPr>
          <a:xfrm>
            <a:off x="-254794" y="27747746"/>
            <a:ext cx="4084706"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TCGA</a:t>
            </a:r>
          </a:p>
          <a:p>
            <a:pPr algn="ctr"/>
            <a:r>
              <a:rPr lang="en-US" altLang="zh-CN" sz="2400" dirty="0" err="1">
                <a:latin typeface="Arial" panose="020B0604020202020204" pitchFamily="34" charset="0"/>
                <a:cs typeface="Arial" panose="020B0604020202020204" pitchFamily="34" charset="0"/>
              </a:rPr>
              <a:t>Metabric</a:t>
            </a:r>
            <a:endParaRPr lang="zh-CN" altLang="en-US" sz="2400" dirty="0">
              <a:latin typeface="Arial" panose="020B0604020202020204" pitchFamily="34" charset="0"/>
              <a:cs typeface="Arial" panose="020B0604020202020204" pitchFamily="34" charset="0"/>
            </a:endParaRPr>
          </a:p>
        </p:txBody>
      </p:sp>
      <p:sp>
        <p:nvSpPr>
          <p:cNvPr id="571" name="文本框 570">
            <a:extLst>
              <a:ext uri="{FF2B5EF4-FFF2-40B4-BE49-F238E27FC236}">
                <a16:creationId xmlns:a16="http://schemas.microsoft.com/office/drawing/2014/main" id="{BDCA358F-A373-665A-EEEB-75DB7268C732}"/>
              </a:ext>
            </a:extLst>
          </p:cNvPr>
          <p:cNvSpPr txBox="1"/>
          <p:nvPr/>
        </p:nvSpPr>
        <p:spPr>
          <a:xfrm>
            <a:off x="3269260" y="26545036"/>
            <a:ext cx="3105346" cy="1323439"/>
          </a:xfrm>
          <a:prstGeom prst="rect">
            <a:avLst/>
          </a:prstGeom>
          <a:noFill/>
        </p:spPr>
        <p:txBody>
          <a:bodyPr wrap="square" rtlCol="0">
            <a:spAutoFit/>
          </a:bodyPr>
          <a:lstStyle/>
          <a:p>
            <a:pPr algn="ctr"/>
            <a:r>
              <a:rPr lang="en-US" altLang="zh-CN" sz="2400" dirty="0">
                <a:solidFill>
                  <a:srgbClr val="0070C0"/>
                </a:solidFill>
                <a:latin typeface="Arial" panose="020B0604020202020204" pitchFamily="34" charset="0"/>
                <a:cs typeface="Arial" panose="020B0604020202020204" pitchFamily="34" charset="0"/>
              </a:rPr>
              <a:t>UGES strategy</a:t>
            </a:r>
          </a:p>
          <a:p>
            <a:pPr algn="ctr"/>
            <a:r>
              <a:rPr lang="en-US" altLang="zh-CN" sz="2400" spc="-20" dirty="0">
                <a:solidFill>
                  <a:srgbClr val="0070C0"/>
                </a:solidFill>
                <a:latin typeface="Arial" panose="020B0604020202020204"/>
                <a:cs typeface="Arial" panose="020B0604020202020204"/>
              </a:rPr>
              <a:t>(B,(H,(LA,LB)))</a:t>
            </a:r>
            <a:endParaRPr lang="en-US" altLang="zh-CN" sz="2400" dirty="0">
              <a:solidFill>
                <a:srgbClr val="0070C0"/>
              </a:solidFill>
              <a:latin typeface="Arial" panose="020B0604020202020204" pitchFamily="34" charset="0"/>
              <a:cs typeface="Arial" panose="020B0604020202020204" pitchFamily="34" charset="0"/>
            </a:endParaRPr>
          </a:p>
          <a:p>
            <a:pPr algn="ctr"/>
            <a:endParaRPr lang="zh-CN" altLang="en-US" sz="3200" dirty="0">
              <a:latin typeface="Arial" panose="020B0604020202020204" pitchFamily="34" charset="0"/>
              <a:cs typeface="Arial" panose="020B0604020202020204" pitchFamily="34" charset="0"/>
            </a:endParaRPr>
          </a:p>
        </p:txBody>
      </p:sp>
      <p:sp>
        <p:nvSpPr>
          <p:cNvPr id="574" name="文本框 573">
            <a:extLst>
              <a:ext uri="{FF2B5EF4-FFF2-40B4-BE49-F238E27FC236}">
                <a16:creationId xmlns:a16="http://schemas.microsoft.com/office/drawing/2014/main" id="{D14ABEDC-5FEF-4CC1-789E-83B4C6FDE7F5}"/>
              </a:ext>
            </a:extLst>
          </p:cNvPr>
          <p:cNvSpPr txBox="1"/>
          <p:nvPr/>
        </p:nvSpPr>
        <p:spPr>
          <a:xfrm>
            <a:off x="3185338" y="28155297"/>
            <a:ext cx="3105346" cy="461665"/>
          </a:xfrm>
          <a:prstGeom prst="rect">
            <a:avLst/>
          </a:prstGeom>
          <a:noFill/>
        </p:spPr>
        <p:txBody>
          <a:bodyPr wrap="square" rtlCol="0">
            <a:spAutoFit/>
          </a:bodyPr>
          <a:lstStyle/>
          <a:p>
            <a:pPr algn="ctr"/>
            <a:r>
              <a:rPr lang="en-US" altLang="zh-CN" sz="2400" spc="-20" dirty="0">
                <a:latin typeface="Arial" panose="020B0604020202020204"/>
                <a:cs typeface="Arial" panose="020B0604020202020204"/>
              </a:rPr>
              <a:t>(B,H,LA,LB)</a:t>
            </a:r>
            <a:endParaRPr lang="zh-CN" altLang="en-US" sz="2400" dirty="0">
              <a:latin typeface="Arial" panose="020B0604020202020204" pitchFamily="34" charset="0"/>
              <a:cs typeface="Arial" panose="020B0604020202020204" pitchFamily="34" charset="0"/>
            </a:endParaRPr>
          </a:p>
        </p:txBody>
      </p:sp>
      <p:sp>
        <p:nvSpPr>
          <p:cNvPr id="606" name="0">
            <a:extLst>
              <a:ext uri="{FF2B5EF4-FFF2-40B4-BE49-F238E27FC236}">
                <a16:creationId xmlns:a16="http://schemas.microsoft.com/office/drawing/2014/main" id="{0A2D2007-6CF0-554C-9145-A86FED3EC852}"/>
              </a:ext>
            </a:extLst>
          </p:cNvPr>
          <p:cNvSpPr/>
          <p:nvPr/>
        </p:nvSpPr>
        <p:spPr>
          <a:xfrm>
            <a:off x="1433848" y="26902349"/>
            <a:ext cx="1455686" cy="1690795"/>
          </a:xfrm>
          <a:prstGeom prst="arc">
            <a:avLst>
              <a:gd name="adj1" fmla="val 16200000"/>
              <a:gd name="adj2" fmla="val 5361130"/>
            </a:avLst>
          </a:prstGeom>
          <a:ln w="44450" cap="rnd">
            <a:gradFill>
              <a:gsLst>
                <a:gs pos="15000">
                  <a:schemeClr val="accent1"/>
                </a:gs>
                <a:gs pos="30000">
                  <a:schemeClr val="accent2"/>
                </a:gs>
                <a:gs pos="45000">
                  <a:schemeClr val="accent3"/>
                </a:gs>
                <a:gs pos="90000">
                  <a:schemeClr val="accent6"/>
                </a:gs>
                <a:gs pos="75000">
                  <a:schemeClr val="accent5"/>
                </a:gs>
                <a:gs pos="60000">
                  <a:schemeClr val="accent4"/>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577" name="组合 576">
            <a:extLst>
              <a:ext uri="{FF2B5EF4-FFF2-40B4-BE49-F238E27FC236}">
                <a16:creationId xmlns:a16="http://schemas.microsoft.com/office/drawing/2014/main" id="{624AB815-8325-9E9E-852E-B62E6152541D}"/>
              </a:ext>
            </a:extLst>
          </p:cNvPr>
          <p:cNvGrpSpPr/>
          <p:nvPr/>
        </p:nvGrpSpPr>
        <p:grpSpPr>
          <a:xfrm>
            <a:off x="2889534" y="26960534"/>
            <a:ext cx="907030" cy="581379"/>
            <a:chOff x="4198431" y="2056102"/>
            <a:chExt cx="1251356" cy="699796"/>
          </a:xfrm>
        </p:grpSpPr>
        <p:cxnSp>
          <p:nvCxnSpPr>
            <p:cNvPr id="599" name="1">
              <a:extLst>
                <a:ext uri="{FF2B5EF4-FFF2-40B4-BE49-F238E27FC236}">
                  <a16:creationId xmlns:a16="http://schemas.microsoft.com/office/drawing/2014/main" id="{BDC24C4D-4647-2A4E-5B7B-FD6A54B3527D}"/>
                </a:ext>
              </a:extLst>
            </p:cNvPr>
            <p:cNvCxnSpPr>
              <a:cxnSpLocks/>
            </p:cNvCxnSpPr>
            <p:nvPr/>
          </p:nvCxnSpPr>
          <p:spPr>
            <a:xfrm>
              <a:off x="4909787" y="2065361"/>
              <a:ext cx="540000" cy="0"/>
            </a:xfrm>
            <a:prstGeom prst="line">
              <a:avLst/>
            </a:prstGeom>
            <a:ln w="28575" cap="rnd"/>
          </p:spPr>
          <p:style>
            <a:lnRef idx="1">
              <a:schemeClr val="accent1"/>
            </a:lnRef>
            <a:fillRef idx="0">
              <a:schemeClr val="accent1"/>
            </a:fillRef>
            <a:effectRef idx="0">
              <a:schemeClr val="accent1"/>
            </a:effectRef>
            <a:fontRef idx="minor">
              <a:schemeClr val="tx1"/>
            </a:fontRef>
          </p:style>
        </p:cxnSp>
        <p:cxnSp>
          <p:nvCxnSpPr>
            <p:cNvPr id="604" name="1">
              <a:extLst>
                <a:ext uri="{FF2B5EF4-FFF2-40B4-BE49-F238E27FC236}">
                  <a16:creationId xmlns:a16="http://schemas.microsoft.com/office/drawing/2014/main" id="{5594428A-6DCA-D9FE-FBB6-5995AC7FDC27}"/>
                </a:ext>
              </a:extLst>
            </p:cNvPr>
            <p:cNvCxnSpPr/>
            <p:nvPr/>
          </p:nvCxnSpPr>
          <p:spPr>
            <a:xfrm flipH="1">
              <a:off x="4198431" y="2056102"/>
              <a:ext cx="699796" cy="699796"/>
            </a:xfrm>
            <a:prstGeom prst="line">
              <a:avLst/>
            </a:prstGeom>
            <a:ln w="28575" cap="rnd"/>
          </p:spPr>
          <p:style>
            <a:lnRef idx="1">
              <a:schemeClr val="accent1"/>
            </a:lnRef>
            <a:fillRef idx="0">
              <a:schemeClr val="accent1"/>
            </a:fillRef>
            <a:effectRef idx="0">
              <a:schemeClr val="accent1"/>
            </a:effectRef>
            <a:fontRef idx="minor">
              <a:schemeClr val="tx1"/>
            </a:fontRef>
          </p:style>
        </p:cxnSp>
      </p:grpSp>
      <p:grpSp>
        <p:nvGrpSpPr>
          <p:cNvPr id="580" name="组合 579">
            <a:extLst>
              <a:ext uri="{FF2B5EF4-FFF2-40B4-BE49-F238E27FC236}">
                <a16:creationId xmlns:a16="http://schemas.microsoft.com/office/drawing/2014/main" id="{40956B24-B15F-054B-E94F-2E267C9690B8}"/>
              </a:ext>
            </a:extLst>
          </p:cNvPr>
          <p:cNvGrpSpPr/>
          <p:nvPr/>
        </p:nvGrpSpPr>
        <p:grpSpPr>
          <a:xfrm>
            <a:off x="2876928" y="27868475"/>
            <a:ext cx="950628" cy="535905"/>
            <a:chOff x="4297680" y="4243377"/>
            <a:chExt cx="1140547" cy="603087"/>
          </a:xfrm>
        </p:grpSpPr>
        <p:cxnSp>
          <p:nvCxnSpPr>
            <p:cNvPr id="581" name="4">
              <a:extLst>
                <a:ext uri="{FF2B5EF4-FFF2-40B4-BE49-F238E27FC236}">
                  <a16:creationId xmlns:a16="http://schemas.microsoft.com/office/drawing/2014/main" id="{4A6BA626-73B6-9519-34AD-05A238ED7E6A}"/>
                </a:ext>
              </a:extLst>
            </p:cNvPr>
            <p:cNvCxnSpPr>
              <a:cxnSpLocks/>
            </p:cNvCxnSpPr>
            <p:nvPr/>
          </p:nvCxnSpPr>
          <p:spPr>
            <a:xfrm>
              <a:off x="4898227" y="4846464"/>
              <a:ext cx="540000" cy="0"/>
            </a:xfrm>
            <a:prstGeom prst="line">
              <a:avLst/>
            </a:prstGeom>
            <a:ln w="28575" cap="rnd">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6" name="4">
              <a:extLst>
                <a:ext uri="{FF2B5EF4-FFF2-40B4-BE49-F238E27FC236}">
                  <a16:creationId xmlns:a16="http://schemas.microsoft.com/office/drawing/2014/main" id="{49C43622-1BFD-7AC8-62B6-E82C1C4969FB}"/>
                </a:ext>
              </a:extLst>
            </p:cNvPr>
            <p:cNvCxnSpPr/>
            <p:nvPr/>
          </p:nvCxnSpPr>
          <p:spPr>
            <a:xfrm flipH="1" flipV="1">
              <a:off x="4297680" y="4243377"/>
              <a:ext cx="600547" cy="600547"/>
            </a:xfrm>
            <a:prstGeom prst="line">
              <a:avLst/>
            </a:prstGeom>
            <a:ln w="28575" cap="rnd">
              <a:solidFill>
                <a:schemeClr val="accent4"/>
              </a:solidFill>
            </a:ln>
          </p:spPr>
          <p:style>
            <a:lnRef idx="1">
              <a:schemeClr val="accent1"/>
            </a:lnRef>
            <a:fillRef idx="0">
              <a:schemeClr val="accent1"/>
            </a:fillRef>
            <a:effectRef idx="0">
              <a:schemeClr val="accent1"/>
            </a:effectRef>
            <a:fontRef idx="minor">
              <a:schemeClr val="tx1"/>
            </a:fontRef>
          </p:style>
        </p:cxnSp>
      </p:grpSp>
      <p:cxnSp>
        <p:nvCxnSpPr>
          <p:cNvPr id="616" name="1">
            <a:extLst>
              <a:ext uri="{FF2B5EF4-FFF2-40B4-BE49-F238E27FC236}">
                <a16:creationId xmlns:a16="http://schemas.microsoft.com/office/drawing/2014/main" id="{4CAFF5F6-05D1-6B60-3A98-82C2931444B0}"/>
              </a:ext>
            </a:extLst>
          </p:cNvPr>
          <p:cNvCxnSpPr>
            <a:cxnSpLocks/>
          </p:cNvCxnSpPr>
          <p:nvPr/>
        </p:nvCxnSpPr>
        <p:spPr>
          <a:xfrm>
            <a:off x="5828669" y="27011969"/>
            <a:ext cx="1066968" cy="0"/>
          </a:xfrm>
          <a:prstGeom prst="line">
            <a:avLst/>
          </a:prstGeom>
          <a:ln w="28575" cap="rnd"/>
        </p:spPr>
        <p:style>
          <a:lnRef idx="1">
            <a:schemeClr val="accent1"/>
          </a:lnRef>
          <a:fillRef idx="0">
            <a:schemeClr val="accent1"/>
          </a:fillRef>
          <a:effectRef idx="0">
            <a:schemeClr val="accent1"/>
          </a:effectRef>
          <a:fontRef idx="minor">
            <a:schemeClr val="tx1"/>
          </a:fontRef>
        </p:style>
      </p:cxnSp>
      <p:cxnSp>
        <p:nvCxnSpPr>
          <p:cNvPr id="623" name="4">
            <a:extLst>
              <a:ext uri="{FF2B5EF4-FFF2-40B4-BE49-F238E27FC236}">
                <a16:creationId xmlns:a16="http://schemas.microsoft.com/office/drawing/2014/main" id="{5CDE4E02-8394-2C33-AB77-F333C43CADBE}"/>
              </a:ext>
            </a:extLst>
          </p:cNvPr>
          <p:cNvCxnSpPr>
            <a:cxnSpLocks/>
          </p:cNvCxnSpPr>
          <p:nvPr/>
        </p:nvCxnSpPr>
        <p:spPr>
          <a:xfrm>
            <a:off x="5805074" y="28412281"/>
            <a:ext cx="1065600" cy="0"/>
          </a:xfrm>
          <a:prstGeom prst="line">
            <a:avLst/>
          </a:prstGeom>
          <a:ln w="28575" cap="rnd">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624" name="表格 623">
            <a:extLst>
              <a:ext uri="{FF2B5EF4-FFF2-40B4-BE49-F238E27FC236}">
                <a16:creationId xmlns:a16="http://schemas.microsoft.com/office/drawing/2014/main" id="{ADBD7C27-CC11-5224-6874-6B61AA1AFF60}"/>
              </a:ext>
            </a:extLst>
          </p:cNvPr>
          <p:cNvGraphicFramePr>
            <a:graphicFrameLocks noGrp="1"/>
          </p:cNvGraphicFramePr>
          <p:nvPr>
            <p:extLst>
              <p:ext uri="{D42A27DB-BD31-4B8C-83A1-F6EECF244321}">
                <p14:modId xmlns:p14="http://schemas.microsoft.com/office/powerpoint/2010/main" val="4217502346"/>
              </p:ext>
            </p:extLst>
          </p:nvPr>
        </p:nvGraphicFramePr>
        <p:xfrm>
          <a:off x="6870674" y="25609917"/>
          <a:ext cx="1213189" cy="3910228"/>
        </p:xfrm>
        <a:graphic>
          <a:graphicData uri="http://schemas.openxmlformats.org/drawingml/2006/table">
            <a:tbl>
              <a:tblPr firstRow="1" bandRow="1">
                <a:tableStyleId>{21E4AEA4-8DFA-4A89-87EB-49C32662AFE0}</a:tableStyleId>
              </a:tblPr>
              <a:tblGrid>
                <a:gridCol w="1213189">
                  <a:extLst>
                    <a:ext uri="{9D8B030D-6E8A-4147-A177-3AD203B41FA5}">
                      <a16:colId xmlns:a16="http://schemas.microsoft.com/office/drawing/2014/main" val="3635472729"/>
                    </a:ext>
                  </a:extLst>
                </a:gridCol>
              </a:tblGrid>
              <a:tr h="977557">
                <a:tc>
                  <a:txBody>
                    <a:bodyPr/>
                    <a:lstStyle/>
                    <a:p>
                      <a:pPr algn="ctr"/>
                      <a:r>
                        <a:rPr lang="en-US" altLang="zh-CN" sz="2400" b="1" dirty="0">
                          <a:solidFill>
                            <a:schemeClr val="tx1"/>
                          </a:solidFill>
                          <a:latin typeface="Arial" panose="020B0604020202020204" pitchFamily="34" charset="0"/>
                          <a:cs typeface="Arial" panose="020B0604020202020204" pitchFamily="34" charset="0"/>
                        </a:rPr>
                        <a:t>Basal</a:t>
                      </a:r>
                      <a:endParaRPr lang="zh-CN" altLang="en-US" sz="2400" b="1"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9927892"/>
                  </a:ext>
                </a:extLst>
              </a:tr>
              <a:tr h="977557">
                <a:tc>
                  <a:txBody>
                    <a:bodyPr/>
                    <a:lstStyle/>
                    <a:p>
                      <a:pPr algn="ctr"/>
                      <a:r>
                        <a:rPr lang="en-US" altLang="zh-CN" sz="2400" b="1" dirty="0">
                          <a:latin typeface="Arial" panose="020B0604020202020204" pitchFamily="34" charset="0"/>
                          <a:cs typeface="Arial" panose="020B0604020202020204" pitchFamily="34" charset="0"/>
                        </a:rPr>
                        <a:t>Her2</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82907582"/>
                  </a:ext>
                </a:extLst>
              </a:tr>
              <a:tr h="977557">
                <a:tc>
                  <a:txBody>
                    <a:bodyPr/>
                    <a:lstStyle/>
                    <a:p>
                      <a:pPr algn="ctr"/>
                      <a:r>
                        <a:rPr lang="en-US" altLang="zh-CN" sz="2400" b="1" dirty="0">
                          <a:latin typeface="Arial" panose="020B0604020202020204" pitchFamily="34" charset="0"/>
                          <a:cs typeface="Arial" panose="020B0604020202020204" pitchFamily="34" charset="0"/>
                        </a:rPr>
                        <a:t>LumA</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9729837"/>
                  </a:ext>
                </a:extLst>
              </a:tr>
              <a:tr h="977557">
                <a:tc>
                  <a:txBody>
                    <a:bodyPr/>
                    <a:lstStyle/>
                    <a:p>
                      <a:pPr algn="ctr"/>
                      <a:r>
                        <a:rPr lang="en-US" altLang="zh-CN" sz="2400" b="1" dirty="0">
                          <a:latin typeface="Arial" panose="020B0604020202020204" pitchFamily="34" charset="0"/>
                          <a:cs typeface="Arial" panose="020B0604020202020204" pitchFamily="34" charset="0"/>
                        </a:rPr>
                        <a:t>LumB</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10125082"/>
                  </a:ext>
                </a:extLst>
              </a:tr>
            </a:tbl>
          </a:graphicData>
        </a:graphic>
      </p:graphicFrame>
      <p:graphicFrame>
        <p:nvGraphicFramePr>
          <p:cNvPr id="625" name="表格 624">
            <a:extLst>
              <a:ext uri="{FF2B5EF4-FFF2-40B4-BE49-F238E27FC236}">
                <a16:creationId xmlns:a16="http://schemas.microsoft.com/office/drawing/2014/main" id="{B4ACECDF-5C20-CA4F-EFC6-5FF5168BF679}"/>
              </a:ext>
            </a:extLst>
          </p:cNvPr>
          <p:cNvGraphicFramePr>
            <a:graphicFrameLocks noGrp="1"/>
          </p:cNvGraphicFramePr>
          <p:nvPr>
            <p:extLst>
              <p:ext uri="{D42A27DB-BD31-4B8C-83A1-F6EECF244321}">
                <p14:modId xmlns:p14="http://schemas.microsoft.com/office/powerpoint/2010/main" val="3646914115"/>
              </p:ext>
            </p:extLst>
          </p:nvPr>
        </p:nvGraphicFramePr>
        <p:xfrm>
          <a:off x="8729866" y="25593560"/>
          <a:ext cx="1143000" cy="3894820"/>
        </p:xfrm>
        <a:graphic>
          <a:graphicData uri="http://schemas.openxmlformats.org/drawingml/2006/table">
            <a:tbl>
              <a:tblPr firstRow="1" bandRow="1">
                <a:tableStyleId>{F5AB1C69-6EDB-4FF4-983F-18BD219EF322}</a:tableStyleId>
              </a:tblPr>
              <a:tblGrid>
                <a:gridCol w="1143000">
                  <a:extLst>
                    <a:ext uri="{9D8B030D-6E8A-4147-A177-3AD203B41FA5}">
                      <a16:colId xmlns:a16="http://schemas.microsoft.com/office/drawing/2014/main" val="3635472729"/>
                    </a:ext>
                  </a:extLst>
                </a:gridCol>
              </a:tblGrid>
              <a:tr h="973705">
                <a:tc>
                  <a:txBody>
                    <a:bodyPr/>
                    <a:lstStyle/>
                    <a:p>
                      <a:pPr algn="ctr"/>
                      <a:r>
                        <a:rPr lang="en-US" altLang="zh-CN" sz="2400" b="1" dirty="0">
                          <a:solidFill>
                            <a:schemeClr val="tx1"/>
                          </a:solidFill>
                          <a:latin typeface="Arial" panose="020B0604020202020204" pitchFamily="34" charset="0"/>
                          <a:cs typeface="Arial" panose="020B0604020202020204" pitchFamily="34" charset="0"/>
                        </a:rPr>
                        <a:t>Basal</a:t>
                      </a:r>
                      <a:endParaRPr lang="zh-CN" altLang="en-US" sz="2400" b="1" dirty="0">
                        <a:solidFill>
                          <a:schemeClr val="tx1"/>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649927892"/>
                  </a:ext>
                </a:extLst>
              </a:tr>
              <a:tr h="973705">
                <a:tc>
                  <a:txBody>
                    <a:bodyPr/>
                    <a:lstStyle/>
                    <a:p>
                      <a:pPr algn="ctr"/>
                      <a:r>
                        <a:rPr lang="en-US" altLang="zh-CN" sz="2400" b="1" dirty="0">
                          <a:latin typeface="Arial" panose="020B0604020202020204" pitchFamily="34" charset="0"/>
                          <a:cs typeface="Arial" panose="020B0604020202020204" pitchFamily="34" charset="0"/>
                        </a:rPr>
                        <a:t>Her2</a:t>
                      </a:r>
                      <a:endParaRPr lang="zh-CN" altLang="en-US" sz="2400" b="1" dirty="0">
                        <a:latin typeface="Arial" panose="020B0604020202020204" pitchFamily="34" charset="0"/>
                        <a:cs typeface="Arial" panose="020B0604020202020204" pitchFamily="34" charset="0"/>
                      </a:endParaRPr>
                    </a:p>
                  </a:txBody>
                  <a:tcPr anchor="ctr">
                    <a:lnT w="38100" cmpd="sng">
                      <a:noFill/>
                    </a:lnT>
                  </a:tcPr>
                </a:tc>
                <a:extLst>
                  <a:ext uri="{0D108BD9-81ED-4DB2-BD59-A6C34878D82A}">
                    <a16:rowId xmlns:a16="http://schemas.microsoft.com/office/drawing/2014/main" val="1382907582"/>
                  </a:ext>
                </a:extLst>
              </a:tr>
              <a:tr h="973705">
                <a:tc>
                  <a:txBody>
                    <a:bodyPr/>
                    <a:lstStyle/>
                    <a:p>
                      <a:pPr algn="ctr"/>
                      <a:r>
                        <a:rPr lang="en-US" altLang="zh-CN" sz="2400" b="1" dirty="0">
                          <a:latin typeface="Arial" panose="020B0604020202020204" pitchFamily="34" charset="0"/>
                          <a:cs typeface="Arial" panose="020B0604020202020204" pitchFamily="34" charset="0"/>
                        </a:rPr>
                        <a:t>LumA</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9729837"/>
                  </a:ext>
                </a:extLst>
              </a:tr>
              <a:tr h="973705">
                <a:tc>
                  <a:txBody>
                    <a:bodyPr/>
                    <a:lstStyle/>
                    <a:p>
                      <a:pPr algn="ctr"/>
                      <a:r>
                        <a:rPr lang="en-US" altLang="zh-CN" sz="2400" b="1" dirty="0">
                          <a:latin typeface="Arial" panose="020B0604020202020204" pitchFamily="34" charset="0"/>
                          <a:cs typeface="Arial" panose="020B0604020202020204" pitchFamily="34" charset="0"/>
                        </a:rPr>
                        <a:t>LumB</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10125082"/>
                  </a:ext>
                </a:extLst>
              </a:tr>
            </a:tbl>
          </a:graphicData>
        </a:graphic>
      </p:graphicFrame>
      <p:sp>
        <p:nvSpPr>
          <p:cNvPr id="628" name="文本框 627">
            <a:extLst>
              <a:ext uri="{FF2B5EF4-FFF2-40B4-BE49-F238E27FC236}">
                <a16:creationId xmlns:a16="http://schemas.microsoft.com/office/drawing/2014/main" id="{0F727215-19F4-1A5A-3AA6-D414A3EC6CC9}"/>
              </a:ext>
            </a:extLst>
          </p:cNvPr>
          <p:cNvSpPr txBox="1"/>
          <p:nvPr/>
        </p:nvSpPr>
        <p:spPr>
          <a:xfrm>
            <a:off x="5377065" y="24762868"/>
            <a:ext cx="4114800"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Predicted</a:t>
            </a:r>
          </a:p>
          <a:p>
            <a:pPr algn="ctr"/>
            <a:r>
              <a:rPr lang="en-US" altLang="zh-CN" sz="2400" dirty="0">
                <a:latin typeface="Arial" panose="020B0604020202020204" pitchFamily="34" charset="0"/>
                <a:cs typeface="Arial" panose="020B0604020202020204" pitchFamily="34" charset="0"/>
              </a:rPr>
              <a:t>subtype</a:t>
            </a:r>
          </a:p>
        </p:txBody>
      </p:sp>
      <p:sp>
        <p:nvSpPr>
          <p:cNvPr id="629" name="文本框 628">
            <a:extLst>
              <a:ext uri="{FF2B5EF4-FFF2-40B4-BE49-F238E27FC236}">
                <a16:creationId xmlns:a16="http://schemas.microsoft.com/office/drawing/2014/main" id="{35F26B84-2FF1-0847-57CE-6F7E68A18FB5}"/>
              </a:ext>
            </a:extLst>
          </p:cNvPr>
          <p:cNvSpPr txBox="1"/>
          <p:nvPr/>
        </p:nvSpPr>
        <p:spPr>
          <a:xfrm>
            <a:off x="7710743" y="24754682"/>
            <a:ext cx="3105346"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True</a:t>
            </a:r>
          </a:p>
          <a:p>
            <a:pPr algn="ctr"/>
            <a:r>
              <a:rPr lang="en-US" altLang="zh-CN" sz="2400" dirty="0">
                <a:latin typeface="Arial" panose="020B0604020202020204" pitchFamily="34" charset="0"/>
                <a:cs typeface="Arial" panose="020B0604020202020204" pitchFamily="34" charset="0"/>
              </a:rPr>
              <a:t>subtype</a:t>
            </a:r>
          </a:p>
        </p:txBody>
      </p:sp>
      <p:pic>
        <p:nvPicPr>
          <p:cNvPr id="637" name="图形 636">
            <a:extLst>
              <a:ext uri="{FF2B5EF4-FFF2-40B4-BE49-F238E27FC236}">
                <a16:creationId xmlns:a16="http://schemas.microsoft.com/office/drawing/2014/main" id="{77A3D28E-D637-58B3-C82E-61240BF52D53}"/>
              </a:ext>
            </a:extLst>
          </p:cNvPr>
          <p:cNvPicPr>
            <a:picLocks noChangeAspect="1"/>
          </p:cNvPicPr>
          <p:nvPr>
            <p:custDataLst>
              <p:tags r:id="rId1"/>
            </p:custDataLst>
          </p:nvPr>
        </p:nvPicPr>
        <p:blipFill>
          <a:blip r:embed="rId14">
            <a:extLst>
              <a:ext uri="{96DAC541-7B7A-43D3-8B79-37D633B846F1}">
                <asvg:svgBlip xmlns:asvg="http://schemas.microsoft.com/office/drawing/2016/SVG/main" r:embed="rId15"/>
              </a:ext>
            </a:extLst>
          </a:blip>
          <a:stretch>
            <a:fillRect/>
          </a:stretch>
        </p:blipFill>
        <p:spPr>
          <a:xfrm>
            <a:off x="7891833" y="27060230"/>
            <a:ext cx="1080000" cy="1080000"/>
          </a:xfrm>
          <a:prstGeom prst="rect">
            <a:avLst/>
          </a:prstGeom>
        </p:spPr>
      </p:pic>
      <p:pic>
        <p:nvPicPr>
          <p:cNvPr id="639" name="图形 638">
            <a:extLst>
              <a:ext uri="{FF2B5EF4-FFF2-40B4-BE49-F238E27FC236}">
                <a16:creationId xmlns:a16="http://schemas.microsoft.com/office/drawing/2014/main" id="{1A961352-2FFD-4305-2962-0BB93603C884}"/>
              </a:ext>
            </a:extLst>
          </p:cNvPr>
          <p:cNvPicPr>
            <a:picLocks noChangeAspect="1"/>
          </p:cNvPicPr>
          <p:nvPr>
            <p:custDataLst>
              <p:tags r:id="rId2"/>
            </p:custDataLst>
          </p:nvPr>
        </p:nvPicPr>
        <p:blipFill>
          <a:blip r:embed="rId16">
            <a:extLst>
              <a:ext uri="{96DAC541-7B7A-43D3-8B79-37D633B846F1}">
                <asvg:svgBlip xmlns:asvg="http://schemas.microsoft.com/office/drawing/2016/SVG/main" r:embed="rId17"/>
              </a:ext>
            </a:extLst>
          </a:blip>
          <a:stretch>
            <a:fillRect/>
          </a:stretch>
        </p:blipFill>
        <p:spPr>
          <a:xfrm rot="5400000">
            <a:off x="9949065" y="27221952"/>
            <a:ext cx="720000" cy="720000"/>
          </a:xfrm>
          <a:prstGeom prst="rect">
            <a:avLst/>
          </a:prstGeom>
        </p:spPr>
      </p:pic>
      <p:pic>
        <p:nvPicPr>
          <p:cNvPr id="640" name="图片 639">
            <a:extLst>
              <a:ext uri="{FF2B5EF4-FFF2-40B4-BE49-F238E27FC236}">
                <a16:creationId xmlns:a16="http://schemas.microsoft.com/office/drawing/2014/main" id="{72382C9B-5F1B-1CEF-19A1-36FEC757A222}"/>
              </a:ext>
            </a:extLst>
          </p:cNvPr>
          <p:cNvPicPr>
            <a:picLocks noChangeAspect="1"/>
          </p:cNvPicPr>
          <p:nvPr/>
        </p:nvPicPr>
        <p:blipFill>
          <a:blip r:embed="rId18"/>
          <a:stretch>
            <a:fillRect/>
          </a:stretch>
        </p:blipFill>
        <p:spPr>
          <a:xfrm>
            <a:off x="10877288" y="26861952"/>
            <a:ext cx="1423626" cy="1440000"/>
          </a:xfrm>
          <a:prstGeom prst="rect">
            <a:avLst/>
          </a:prstGeom>
        </p:spPr>
      </p:pic>
      <p:sp>
        <p:nvSpPr>
          <p:cNvPr id="641" name="文本框 640">
            <a:extLst>
              <a:ext uri="{FF2B5EF4-FFF2-40B4-BE49-F238E27FC236}">
                <a16:creationId xmlns:a16="http://schemas.microsoft.com/office/drawing/2014/main" id="{9048E503-DD4E-595A-AB55-BCEAED30A502}"/>
              </a:ext>
            </a:extLst>
          </p:cNvPr>
          <p:cNvSpPr txBox="1"/>
          <p:nvPr/>
        </p:nvSpPr>
        <p:spPr>
          <a:xfrm>
            <a:off x="10047497" y="25999292"/>
            <a:ext cx="3105346"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class confusion matrix</a:t>
            </a:r>
            <a:endParaRPr lang="zh-CN" altLang="en-US" sz="2400" dirty="0">
              <a:latin typeface="Arial" panose="020B0604020202020204" pitchFamily="34" charset="0"/>
              <a:cs typeface="Arial" panose="020B0604020202020204" pitchFamily="34" charset="0"/>
            </a:endParaRPr>
          </a:p>
        </p:txBody>
      </p:sp>
      <p:pic>
        <p:nvPicPr>
          <p:cNvPr id="642" name="图形 641">
            <a:extLst>
              <a:ext uri="{FF2B5EF4-FFF2-40B4-BE49-F238E27FC236}">
                <a16:creationId xmlns:a16="http://schemas.microsoft.com/office/drawing/2014/main" id="{0428B826-0F37-0EE9-1D32-C13533EB12F0}"/>
              </a:ext>
            </a:extLst>
          </p:cNvPr>
          <p:cNvPicPr>
            <a:picLocks noChangeAspect="1"/>
          </p:cNvPicPr>
          <p:nvPr>
            <p:custDataLst>
              <p:tags r:id="rId3"/>
            </p:custDataLst>
          </p:nvPr>
        </p:nvPicPr>
        <p:blipFill>
          <a:blip r:embed="rId16">
            <a:extLst>
              <a:ext uri="{96DAC541-7B7A-43D3-8B79-37D633B846F1}">
                <asvg:svgBlip xmlns:asvg="http://schemas.microsoft.com/office/drawing/2016/SVG/main" r:embed="rId17"/>
              </a:ext>
            </a:extLst>
          </a:blip>
          <a:stretch>
            <a:fillRect/>
          </a:stretch>
        </p:blipFill>
        <p:spPr>
          <a:xfrm rot="5400000">
            <a:off x="12375553" y="27221952"/>
            <a:ext cx="720000" cy="720000"/>
          </a:xfrm>
          <a:prstGeom prst="rect">
            <a:avLst/>
          </a:prstGeom>
        </p:spPr>
      </p:pic>
      <p:pic>
        <p:nvPicPr>
          <p:cNvPr id="648" name="图片 647">
            <a:extLst>
              <a:ext uri="{FF2B5EF4-FFF2-40B4-BE49-F238E27FC236}">
                <a16:creationId xmlns:a16="http://schemas.microsoft.com/office/drawing/2014/main" id="{CDB04330-30E6-6E4A-418B-65A4445B3434}"/>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2367638" y="27292681"/>
            <a:ext cx="7019368" cy="4320000"/>
          </a:xfrm>
          <a:prstGeom prst="rect">
            <a:avLst/>
          </a:prstGeom>
        </p:spPr>
      </p:pic>
      <p:sp>
        <p:nvSpPr>
          <p:cNvPr id="18" name="object 25">
            <a:extLst>
              <a:ext uri="{FF2B5EF4-FFF2-40B4-BE49-F238E27FC236}">
                <a16:creationId xmlns:a16="http://schemas.microsoft.com/office/drawing/2014/main" id="{AB217E1D-8BC1-39FB-AF09-20F02C9239A5}"/>
              </a:ext>
            </a:extLst>
          </p:cNvPr>
          <p:cNvSpPr txBox="1"/>
          <p:nvPr/>
        </p:nvSpPr>
        <p:spPr>
          <a:xfrm>
            <a:off x="15671006" y="8997251"/>
            <a:ext cx="13140444" cy="1507928"/>
          </a:xfrm>
          <a:prstGeom prst="rect">
            <a:avLst/>
          </a:prstGeom>
        </p:spPr>
        <p:txBody>
          <a:bodyPr vert="horz" wrap="square" lIns="0" tIns="350345" rIns="0" bIns="0" rtlCol="0">
            <a:spAutoFit/>
          </a:bodyPr>
          <a:lstStyle/>
          <a:p>
            <a:pPr marL="436880">
              <a:spcBef>
                <a:spcPts val="2760"/>
              </a:spcBef>
            </a:pPr>
            <a:r>
              <a:rPr sz="3200" b="1" spc="-59" dirty="0">
                <a:solidFill>
                  <a:srgbClr val="0150A8"/>
                </a:solidFill>
                <a:latin typeface="Arial" panose="020B0604020202020204"/>
                <a:cs typeface="Arial" panose="020B0604020202020204"/>
              </a:rPr>
              <a:t>RESULTS :</a:t>
            </a:r>
          </a:p>
          <a:p>
            <a:pPr marL="662940" marR="121920" indent="-513080">
              <a:spcBef>
                <a:spcPts val="1800"/>
              </a:spcBef>
            </a:pPr>
            <a:r>
              <a:rPr sz="2800" b="1" spc="-20" dirty="0">
                <a:latin typeface="Arial" panose="020B0604020202020204"/>
                <a:cs typeface="Arial" panose="020B0604020202020204"/>
              </a:rPr>
              <a:t>1.</a:t>
            </a:r>
            <a:r>
              <a:rPr sz="2800" b="1" spc="201" dirty="0">
                <a:latin typeface="Arial" panose="020B0604020202020204"/>
                <a:cs typeface="Arial" panose="020B0604020202020204"/>
              </a:rPr>
              <a:t> </a:t>
            </a:r>
            <a:r>
              <a:rPr lang="en-US" sz="2800" b="1" spc="-20" dirty="0">
                <a:latin typeface="Arial" panose="020B0604020202020204"/>
                <a:cs typeface="Arial" panose="020B0604020202020204"/>
              </a:rPr>
              <a:t>UGES Outperforms One-Step Classification in Subtype Discrimination</a:t>
            </a:r>
            <a:endParaRPr lang="en-US" sz="2800" b="1" spc="-40" dirty="0">
              <a:latin typeface="Arial" panose="020B0604020202020204"/>
              <a:cs typeface="Arial" panose="020B0604020202020204"/>
            </a:endParaRPr>
          </a:p>
        </p:txBody>
      </p:sp>
      <p:sp>
        <p:nvSpPr>
          <p:cNvPr id="19" name="文本框 18">
            <a:extLst>
              <a:ext uri="{FF2B5EF4-FFF2-40B4-BE49-F238E27FC236}">
                <a16:creationId xmlns:a16="http://schemas.microsoft.com/office/drawing/2014/main" id="{21878BAA-80E4-0B82-7535-8FEF37F02D47}"/>
              </a:ext>
            </a:extLst>
          </p:cNvPr>
          <p:cNvSpPr txBox="1"/>
          <p:nvPr/>
        </p:nvSpPr>
        <p:spPr>
          <a:xfrm>
            <a:off x="15602833" y="17744281"/>
            <a:ext cx="13555573" cy="1754326"/>
          </a:xfrm>
          <a:prstGeom prst="rect">
            <a:avLst/>
          </a:prstGeom>
          <a:noFill/>
        </p:spPr>
        <p:txBody>
          <a:bodyPr wrap="square" rtlCol="0">
            <a:spAutoFit/>
          </a:bodyPr>
          <a:lstStyle/>
          <a:p>
            <a:pPr algn="just"/>
            <a:r>
              <a:rPr lang="en-US" altLang="zh-CN" sz="1800" b="1" dirty="0">
                <a:latin typeface="Arial" panose="020B0604020202020204" pitchFamily="34" charset="0"/>
                <a:cs typeface="Arial" panose="020B0604020202020204" pitchFamily="34" charset="0"/>
              </a:rPr>
              <a:t>Figure 4. Discrimination performance of UGES under different hierarchical classification strategies. </a:t>
            </a:r>
            <a:r>
              <a:rPr lang="en-US" altLang="zh-CN" sz="1800" dirty="0">
                <a:latin typeface="Arial" panose="020B0604020202020204" pitchFamily="34" charset="0"/>
                <a:cs typeface="Arial" panose="020B0604020202020204" pitchFamily="34" charset="0"/>
              </a:rPr>
              <a:t>Pairwise one-vs-one ROC analysis was applied across all six subtype comparisons (Basal–Her2, Basal–LumA, Basal–LumB, Her2–LumA, Her2–LumB, LumA–LumB) on the combined test cohort (TCGA + METABRIC). The proposed hierarchical structure (B,(H,(LA,LB))) (left) achieved the highest discrimination performance, especially for the clinically challenging Luminal A vs. Luminal B classification (AUC = 0.948), outperforming the alternative one-step structure (B,H,LA,LB) (right; AUC = 0.828). All UGES subtype pairings demonstrated excellent AUC values, supporting the effectiveness and robustness of the hierarchical design.</a:t>
            </a:r>
            <a:endParaRPr lang="zh-CN" altLang="en-US" sz="1800" dirty="0">
              <a:latin typeface="Arial" panose="020B0604020202020204" pitchFamily="34" charset="0"/>
              <a:cs typeface="Arial" panose="020B0604020202020204" pitchFamily="34" charset="0"/>
            </a:endParaRPr>
          </a:p>
        </p:txBody>
      </p:sp>
      <p:graphicFrame>
        <p:nvGraphicFramePr>
          <p:cNvPr id="22" name="表格 21">
            <a:extLst>
              <a:ext uri="{FF2B5EF4-FFF2-40B4-BE49-F238E27FC236}">
                <a16:creationId xmlns:a16="http://schemas.microsoft.com/office/drawing/2014/main" id="{BE37AE10-4D5D-28D6-49B1-6937EDD3C0AB}"/>
              </a:ext>
            </a:extLst>
          </p:cNvPr>
          <p:cNvGraphicFramePr>
            <a:graphicFrameLocks noGrp="1"/>
          </p:cNvGraphicFramePr>
          <p:nvPr>
            <p:extLst>
              <p:ext uri="{D42A27DB-BD31-4B8C-83A1-F6EECF244321}">
                <p14:modId xmlns:p14="http://schemas.microsoft.com/office/powerpoint/2010/main" val="3779681518"/>
              </p:ext>
            </p:extLst>
          </p:nvPr>
        </p:nvGraphicFramePr>
        <p:xfrm>
          <a:off x="916295" y="16163674"/>
          <a:ext cx="9535871" cy="6954210"/>
        </p:xfrm>
        <a:graphic>
          <a:graphicData uri="http://schemas.openxmlformats.org/drawingml/2006/table">
            <a:tbl>
              <a:tblPr firstRow="1" firstCol="1" bandRow="1">
                <a:tableStyleId>{5940675A-B579-460E-94D1-54222C63F5DA}</a:tableStyleId>
              </a:tblPr>
              <a:tblGrid>
                <a:gridCol w="1438230">
                  <a:extLst>
                    <a:ext uri="{9D8B030D-6E8A-4147-A177-3AD203B41FA5}">
                      <a16:colId xmlns:a16="http://schemas.microsoft.com/office/drawing/2014/main" val="2337176688"/>
                    </a:ext>
                  </a:extLst>
                </a:gridCol>
                <a:gridCol w="1475060">
                  <a:extLst>
                    <a:ext uri="{9D8B030D-6E8A-4147-A177-3AD203B41FA5}">
                      <a16:colId xmlns:a16="http://schemas.microsoft.com/office/drawing/2014/main" val="1710098434"/>
                    </a:ext>
                  </a:extLst>
                </a:gridCol>
                <a:gridCol w="1475060">
                  <a:extLst>
                    <a:ext uri="{9D8B030D-6E8A-4147-A177-3AD203B41FA5}">
                      <a16:colId xmlns:a16="http://schemas.microsoft.com/office/drawing/2014/main" val="1574444167"/>
                    </a:ext>
                  </a:extLst>
                </a:gridCol>
                <a:gridCol w="1475060">
                  <a:extLst>
                    <a:ext uri="{9D8B030D-6E8A-4147-A177-3AD203B41FA5}">
                      <a16:colId xmlns:a16="http://schemas.microsoft.com/office/drawing/2014/main" val="1127197553"/>
                    </a:ext>
                  </a:extLst>
                </a:gridCol>
                <a:gridCol w="911555">
                  <a:extLst>
                    <a:ext uri="{9D8B030D-6E8A-4147-A177-3AD203B41FA5}">
                      <a16:colId xmlns:a16="http://schemas.microsoft.com/office/drawing/2014/main" val="754133359"/>
                    </a:ext>
                  </a:extLst>
                </a:gridCol>
                <a:gridCol w="911555">
                  <a:extLst>
                    <a:ext uri="{9D8B030D-6E8A-4147-A177-3AD203B41FA5}">
                      <a16:colId xmlns:a16="http://schemas.microsoft.com/office/drawing/2014/main" val="3922475979"/>
                    </a:ext>
                  </a:extLst>
                </a:gridCol>
                <a:gridCol w="877947">
                  <a:extLst>
                    <a:ext uri="{9D8B030D-6E8A-4147-A177-3AD203B41FA5}">
                      <a16:colId xmlns:a16="http://schemas.microsoft.com/office/drawing/2014/main" val="2832746555"/>
                    </a:ext>
                  </a:extLst>
                </a:gridCol>
                <a:gridCol w="971404">
                  <a:extLst>
                    <a:ext uri="{9D8B030D-6E8A-4147-A177-3AD203B41FA5}">
                      <a16:colId xmlns:a16="http://schemas.microsoft.com/office/drawing/2014/main" val="2488853709"/>
                    </a:ext>
                  </a:extLst>
                </a:gridCol>
              </a:tblGrid>
              <a:tr h="122630">
                <a:tc gridSpan="2">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Cohort</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gridSpan="3">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Sample Size (Missing)</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tc gridSpan="3">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Events</a:t>
                      </a:r>
                      <a:r>
                        <a:rPr lang="en-US" sz="1400" kern="100" baseline="30000" dirty="0">
                          <a:effectLst/>
                          <a:latin typeface="Arial" panose="020B0604020202020204" pitchFamily="34" charset="0"/>
                          <a:cs typeface="Arial" panose="020B0604020202020204" pitchFamily="34" charset="0"/>
                        </a:rPr>
                        <a:t>1</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205113495"/>
                  </a:ext>
                </a:extLst>
              </a:tr>
              <a:tr h="147063">
                <a:tc gridSpan="2">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TCGA</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gridSpan="3">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931 (5)</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tc gridSpan="3">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122</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20822523"/>
                  </a:ext>
                </a:extLst>
              </a:tr>
              <a:tr h="122630">
                <a:tc gridSpan="2">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METABRIC</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gridSpan="3">
                  <a:txBody>
                    <a:bodyPr/>
                    <a:lstStyle/>
                    <a:p>
                      <a:pPr algn="ctr">
                        <a:lnSpc>
                          <a:spcPct val="140000"/>
                        </a:lnSpc>
                        <a:buNone/>
                      </a:pPr>
                      <a:r>
                        <a:rPr lang="en-US" sz="1400" kern="100">
                          <a:effectLst/>
                          <a:latin typeface="Arial" panose="020B0604020202020204" pitchFamily="34" charset="0"/>
                          <a:cs typeface="Arial" panose="020B0604020202020204" pitchFamily="34" charset="0"/>
                        </a:rPr>
                        <a:t>1134 (309)</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tc gridSpan="3">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487</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39955881"/>
                  </a:ext>
                </a:extLst>
              </a:tr>
              <a:tr h="75307">
                <a:tc gridSpan="2">
                  <a:txBody>
                    <a:bodyPr/>
                    <a:lstStyle/>
                    <a:p>
                      <a:pPr algn="ctr">
                        <a:lnSpc>
                          <a:spcPct val="140000"/>
                        </a:lnSpc>
                        <a:buNone/>
                      </a:pPr>
                      <a:r>
                        <a:rPr lang="en-US" altLang="zh-CN" sz="1400" dirty="0">
                          <a:latin typeface="Arial" panose="020B0604020202020204" pitchFamily="34" charset="0"/>
                          <a:cs typeface="Arial" panose="020B0604020202020204" pitchFamily="34" charset="0"/>
                        </a:rPr>
                        <a:t>Combined</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gridSpan="3">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2065 (314)</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tc gridSpan="3">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609</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75745014"/>
                  </a:ext>
                </a:extLst>
              </a:tr>
              <a:tr h="122630">
                <a:tc gridSpan="8">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Multivariable Cox Regression Results</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56445682"/>
                  </a:ext>
                </a:extLst>
              </a:tr>
              <a:tr h="261131">
                <a:tc gridSpan="2">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Clinical Feature</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Dataset</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Count (%) / Mean (Range)</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Hazard Ratio</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95%CI</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P </a:t>
                      </a:r>
                      <a:r>
                        <a:rPr lang="en-US" altLang="zh-CN" sz="1400" kern="100" dirty="0">
                          <a:effectLst/>
                          <a:latin typeface="Arial" panose="020B0604020202020204" pitchFamily="34" charset="0"/>
                          <a:cs typeface="Arial" panose="020B0604020202020204" pitchFamily="34" charset="0"/>
                        </a:rPr>
                        <a:t>value</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Significance</a:t>
                      </a:r>
                      <a:r>
                        <a:rPr lang="en-US" sz="1400" kern="100" baseline="30000" dirty="0">
                          <a:effectLst/>
                          <a:latin typeface="Arial" panose="020B0604020202020204" pitchFamily="34" charset="0"/>
                          <a:cs typeface="Arial" panose="020B0604020202020204" pitchFamily="34" charset="0"/>
                        </a:rPr>
                        <a:t>2</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2007820649"/>
                  </a:ext>
                </a:extLst>
              </a:tr>
              <a:tr h="261131">
                <a:tc rowSpan="3">
                  <a:txBody>
                    <a:bodyPr/>
                    <a:lstStyle/>
                    <a:p>
                      <a:pPr algn="ctr">
                        <a:lnSpc>
                          <a:spcPct val="140000"/>
                        </a:lnSpc>
                        <a:buNone/>
                      </a:pPr>
                      <a:r>
                        <a:rPr lang="en-US" altLang="zh-CN" sz="1400" kern="100" dirty="0">
                          <a:effectLst/>
                          <a:latin typeface="Arial" panose="020B0604020202020204" pitchFamily="34" charset="0"/>
                          <a:ea typeface="宋体" panose="02010600030101010101" pitchFamily="2" charset="-122"/>
                          <a:cs typeface="Arial" panose="020B0604020202020204" pitchFamily="34" charset="0"/>
                        </a:rPr>
                        <a:t>Age</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rowSpan="3">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at diagnosis</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TCGA</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58.4 (26-90)</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1.038</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(1.024, 1.053)</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2.3e-07</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653285714"/>
                  </a:ext>
                </a:extLst>
              </a:tr>
              <a:tr h="261131">
                <a:tc vMerge="1">
                  <a:txBody>
                    <a:bodyPr/>
                    <a:lstStyle/>
                    <a:p>
                      <a:endParaRPr lang="zh-CN" altLang="en-US"/>
                    </a:p>
                  </a:txBody>
                  <a:tcPr/>
                </a:tc>
                <a:tc vMerge="1">
                  <a:txBody>
                    <a:bodyPr/>
                    <a:lstStyle/>
                    <a:p>
                      <a:endParaRPr lang="zh-CN" altLang="en-US"/>
                    </a:p>
                  </a:txBody>
                  <a:tcP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METABRIC</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61.6 (21-96)</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1.041</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(1.033, 1.050)</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&lt; 2e-16</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2165575864"/>
                  </a:ext>
                </a:extLst>
              </a:tr>
              <a:tr h="261131">
                <a:tc vMerge="1">
                  <a:txBody>
                    <a:bodyPr/>
                    <a:lstStyle/>
                    <a:p>
                      <a:endParaRPr lang="zh-CN" altLang="en-US"/>
                    </a:p>
                  </a:txBody>
                  <a:tcPr/>
                </a:tc>
                <a:tc vMerge="1">
                  <a:txBody>
                    <a:bodyPr/>
                    <a:lstStyle/>
                    <a:p>
                      <a:endParaRPr lang="zh-CN" altLang="en-US"/>
                    </a:p>
                  </a:txBody>
                  <a:tcPr/>
                </a:tc>
                <a:tc>
                  <a:txBody>
                    <a:bodyPr/>
                    <a:lstStyle/>
                    <a:p>
                      <a:pPr algn="ctr">
                        <a:lnSpc>
                          <a:spcPct val="140000"/>
                        </a:lnSpc>
                        <a:buNone/>
                      </a:pPr>
                      <a:r>
                        <a:rPr lang="en-US" altLang="zh-CN" sz="1400" kern="100" dirty="0">
                          <a:effectLst/>
                          <a:latin typeface="Arial" panose="020B0604020202020204" pitchFamily="34" charset="0"/>
                          <a:ea typeface="宋体" panose="02010600030101010101" pitchFamily="2" charset="-122"/>
                          <a:cs typeface="Arial" panose="020B0604020202020204" pitchFamily="34" charset="0"/>
                        </a:rPr>
                        <a:t>Combined</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60.1 (21-96)</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1.038</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(1.031, 1.045)</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&lt; 2e-16</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2131706219"/>
                  </a:ext>
                </a:extLst>
              </a:tr>
              <a:tr h="261131">
                <a:tc rowSpan="2">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ER Status</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marL="0" algn="ctr">
                        <a:lnSpc>
                          <a:spcPct val="140000"/>
                        </a:lnSpc>
                        <a:buNone/>
                      </a:pPr>
                      <a:r>
                        <a:rPr lang="en-US" altLang="zh-CN" sz="1400" kern="100" dirty="0">
                          <a:solidFill>
                            <a:schemeClr val="tx1"/>
                          </a:solidFill>
                          <a:effectLst/>
                          <a:latin typeface="Arial" panose="020B0604020202020204" pitchFamily="34" charset="0"/>
                          <a:ea typeface="宋体" panose="02010600030101010101" pitchFamily="2" charset="-122"/>
                          <a:cs typeface="Arial" panose="020B0604020202020204" pitchFamily="34" charset="0"/>
                        </a:rPr>
                        <a:t>Negative (reference)</a:t>
                      </a:r>
                    </a:p>
                  </a:txBody>
                  <a:tcPr marL="68580" marR="68580" marT="0" marB="0" anchor="ctr"/>
                </a:tc>
                <a:tc rowSpan="2">
                  <a:txBody>
                    <a:bodyPr/>
                    <a:lstStyle/>
                    <a:p>
                      <a:pPr algn="ctr">
                        <a:lnSpc>
                          <a:spcPct val="140000"/>
                        </a:lnSpc>
                        <a:buNone/>
                      </a:pPr>
                      <a:r>
                        <a:rPr lang="en-US" sz="1400" kern="100">
                          <a:effectLst/>
                          <a:latin typeface="Arial" panose="020B0604020202020204" pitchFamily="34" charset="0"/>
                          <a:cs typeface="Arial" panose="020B0604020202020204" pitchFamily="34" charset="0"/>
                        </a:rPr>
                        <a:t>METABRIC</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218 (19.22%)</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 </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 </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 </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 </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3666675358"/>
                  </a:ext>
                </a:extLst>
              </a:tr>
              <a:tr h="261131">
                <a:tc vMerge="1">
                  <a:txBody>
                    <a:bodyPr/>
                    <a:lstStyle/>
                    <a:p>
                      <a:endParaRPr lang="zh-CN" altLang="en-US"/>
                    </a:p>
                  </a:txBody>
                  <a:tcPr/>
                </a:tc>
                <a:tc>
                  <a:txBody>
                    <a:bodyPr/>
                    <a:lstStyle/>
                    <a:p>
                      <a:pPr algn="ctr">
                        <a:lnSpc>
                          <a:spcPct val="140000"/>
                        </a:lnSpc>
                        <a:buNone/>
                      </a:pPr>
                      <a:r>
                        <a:rPr lang="en-US" altLang="zh-CN" sz="1400" kern="100" dirty="0">
                          <a:effectLst/>
                          <a:latin typeface="Arial" panose="020B0604020202020204" pitchFamily="34" charset="0"/>
                          <a:cs typeface="Arial" panose="020B0604020202020204" pitchFamily="34" charset="0"/>
                        </a:rPr>
                        <a:t>Positive</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vMerge="1">
                  <a:txBody>
                    <a:bodyPr/>
                    <a:lstStyle/>
                    <a:p>
                      <a:endParaRPr lang="zh-CN" altLang="en-US"/>
                    </a:p>
                  </a:txBody>
                  <a:tcP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916 (80.78%)</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0.749</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(0.563, 0.997)</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0.0474</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652396878"/>
                  </a:ext>
                </a:extLst>
              </a:tr>
              <a:tr h="261131">
                <a:tc rowSpan="2">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PR Status</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marL="0" algn="ctr">
                        <a:lnSpc>
                          <a:spcPct val="140000"/>
                        </a:lnSpc>
                        <a:buNone/>
                      </a:pPr>
                      <a:r>
                        <a:rPr lang="en-US" altLang="zh-CN" sz="1400" kern="100" dirty="0">
                          <a:solidFill>
                            <a:schemeClr val="tx1"/>
                          </a:solidFill>
                          <a:effectLst/>
                          <a:latin typeface="Arial" panose="020B0604020202020204" pitchFamily="34" charset="0"/>
                          <a:ea typeface="宋体" panose="02010600030101010101" pitchFamily="2" charset="-122"/>
                          <a:cs typeface="Arial" panose="020B0604020202020204" pitchFamily="34" charset="0"/>
                        </a:rPr>
                        <a:t>Negative (reference)</a:t>
                      </a:r>
                    </a:p>
                  </a:txBody>
                  <a:tcPr marL="68580" marR="68580" marT="0" marB="0" anchor="ctr"/>
                </a:tc>
                <a:tc rowSpan="2">
                  <a:txBody>
                    <a:bodyPr/>
                    <a:lstStyle/>
                    <a:p>
                      <a:pPr algn="ctr">
                        <a:lnSpc>
                          <a:spcPct val="140000"/>
                        </a:lnSpc>
                        <a:buNone/>
                      </a:pPr>
                      <a:r>
                        <a:rPr lang="en-US" sz="1400" kern="100">
                          <a:effectLst/>
                          <a:latin typeface="Arial" panose="020B0604020202020204" pitchFamily="34" charset="0"/>
                          <a:cs typeface="Arial" panose="020B0604020202020204" pitchFamily="34" charset="0"/>
                        </a:rPr>
                        <a:t>METABRIC</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506 (44.62%)</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 </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 </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 </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 </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3987409150"/>
                  </a:ext>
                </a:extLst>
              </a:tr>
              <a:tr h="261131">
                <a:tc vMerge="1">
                  <a:txBody>
                    <a:bodyPr/>
                    <a:lstStyle/>
                    <a:p>
                      <a:endParaRPr lang="zh-CN" altLang="en-US"/>
                    </a:p>
                  </a:txBody>
                  <a:tcPr/>
                </a:tc>
                <a:tc>
                  <a:txBody>
                    <a:bodyPr/>
                    <a:lstStyle/>
                    <a:p>
                      <a:pPr algn="ctr">
                        <a:lnSpc>
                          <a:spcPct val="140000"/>
                        </a:lnSpc>
                        <a:buNone/>
                      </a:pPr>
                      <a:r>
                        <a:rPr lang="en-US" altLang="zh-CN" sz="1400" kern="100" dirty="0">
                          <a:effectLst/>
                          <a:latin typeface="Arial" panose="020B0604020202020204" pitchFamily="34" charset="0"/>
                          <a:ea typeface="宋体" panose="02010600030101010101" pitchFamily="2" charset="-122"/>
                          <a:cs typeface="Arial" panose="020B0604020202020204" pitchFamily="34" charset="0"/>
                        </a:rPr>
                        <a:t>Positive</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vMerge="1">
                  <a:txBody>
                    <a:bodyPr/>
                    <a:lstStyle/>
                    <a:p>
                      <a:endParaRPr lang="zh-CN" altLang="en-US"/>
                    </a:p>
                  </a:txBody>
                  <a:tcP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628 (55.38%)</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0.917</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(0.737, 1.140)</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0.4340</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n.s.</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748619975"/>
                  </a:ext>
                </a:extLst>
              </a:tr>
              <a:tr h="261131">
                <a:tc rowSpan="2">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Her2 Status</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marL="0" algn="ctr">
                        <a:lnSpc>
                          <a:spcPct val="140000"/>
                        </a:lnSpc>
                        <a:buNone/>
                      </a:pPr>
                      <a:r>
                        <a:rPr lang="en-US" altLang="zh-CN" sz="1400" kern="100" dirty="0">
                          <a:solidFill>
                            <a:schemeClr val="tx1"/>
                          </a:solidFill>
                          <a:effectLst/>
                          <a:latin typeface="Arial" panose="020B0604020202020204" pitchFamily="34" charset="0"/>
                          <a:ea typeface="宋体" panose="02010600030101010101" pitchFamily="2" charset="-122"/>
                          <a:cs typeface="Arial" panose="020B0604020202020204" pitchFamily="34" charset="0"/>
                        </a:rPr>
                        <a:t>Negative (reference)</a:t>
                      </a:r>
                    </a:p>
                  </a:txBody>
                  <a:tcPr marL="68580" marR="68580" marT="0" marB="0" anchor="ctr"/>
                </a:tc>
                <a:tc rowSpan="2">
                  <a:txBody>
                    <a:bodyPr/>
                    <a:lstStyle/>
                    <a:p>
                      <a:pPr algn="ctr">
                        <a:lnSpc>
                          <a:spcPct val="140000"/>
                        </a:lnSpc>
                        <a:buNone/>
                      </a:pPr>
                      <a:r>
                        <a:rPr lang="en-US" sz="1400" kern="100">
                          <a:effectLst/>
                          <a:latin typeface="Arial" panose="020B0604020202020204" pitchFamily="34" charset="0"/>
                          <a:cs typeface="Arial" panose="020B0604020202020204" pitchFamily="34" charset="0"/>
                        </a:rPr>
                        <a:t>METABRIC</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981 (86.51%)</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 </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 </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 </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 </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526506049"/>
                  </a:ext>
                </a:extLst>
              </a:tr>
              <a:tr h="261131">
                <a:tc vMerge="1">
                  <a:txBody>
                    <a:bodyPr/>
                    <a:lstStyle/>
                    <a:p>
                      <a:endParaRPr lang="zh-CN" altLang="en-US"/>
                    </a:p>
                  </a:txBody>
                  <a:tcPr/>
                </a:tc>
                <a:tc>
                  <a:txBody>
                    <a:bodyPr/>
                    <a:lstStyle/>
                    <a:p>
                      <a:pPr algn="ctr">
                        <a:lnSpc>
                          <a:spcPct val="140000"/>
                        </a:lnSpc>
                        <a:buNone/>
                      </a:pPr>
                      <a:r>
                        <a:rPr lang="en-US" altLang="zh-CN" sz="1400" kern="100" dirty="0">
                          <a:effectLst/>
                          <a:latin typeface="Arial" panose="020B0604020202020204" pitchFamily="34" charset="0"/>
                          <a:ea typeface="宋体" panose="02010600030101010101" pitchFamily="2" charset="-122"/>
                          <a:cs typeface="Arial" panose="020B0604020202020204" pitchFamily="34" charset="0"/>
                        </a:rPr>
                        <a:t>Positive</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vMerge="1">
                  <a:txBody>
                    <a:bodyPr/>
                    <a:lstStyle/>
                    <a:p>
                      <a:endParaRPr lang="zh-CN" altLang="en-US"/>
                    </a:p>
                  </a:txBody>
                  <a:tcP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153 (13.49%)</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1.643</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a:effectLst/>
                          <a:latin typeface="Arial" panose="020B0604020202020204" pitchFamily="34" charset="0"/>
                          <a:cs typeface="Arial" panose="020B0604020202020204" pitchFamily="34" charset="0"/>
                        </a:rPr>
                        <a:t>(1.244, 2.169)</a:t>
                      </a:r>
                      <a:endParaRPr lang="zh-CN" sz="14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0.0005</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400" kern="100" dirty="0">
                          <a:effectLst/>
                          <a:latin typeface="Arial" panose="020B0604020202020204" pitchFamily="34" charset="0"/>
                          <a:cs typeface="Arial" panose="020B0604020202020204" pitchFamily="34" charset="0"/>
                        </a:rPr>
                        <a:t>***</a:t>
                      </a:r>
                      <a:endParaRPr lang="zh-CN" sz="14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920818816"/>
                  </a:ext>
                </a:extLst>
              </a:tr>
            </a:tbl>
          </a:graphicData>
        </a:graphic>
      </p:graphicFrame>
      <p:sp>
        <p:nvSpPr>
          <p:cNvPr id="473" name="文本框 472">
            <a:extLst>
              <a:ext uri="{FF2B5EF4-FFF2-40B4-BE49-F238E27FC236}">
                <a16:creationId xmlns:a16="http://schemas.microsoft.com/office/drawing/2014/main" id="{63E241F1-D2AB-6ABD-0CC0-25EC7AFB7759}"/>
              </a:ext>
            </a:extLst>
          </p:cNvPr>
          <p:cNvSpPr txBox="1"/>
          <p:nvPr/>
        </p:nvSpPr>
        <p:spPr>
          <a:xfrm>
            <a:off x="892087" y="23091343"/>
            <a:ext cx="9597320" cy="1086964"/>
          </a:xfrm>
          <a:prstGeom prst="rect">
            <a:avLst/>
          </a:prstGeom>
          <a:noFill/>
        </p:spPr>
        <p:txBody>
          <a:bodyPr wrap="square" rtlCol="0">
            <a:spAutoFit/>
          </a:bodyPr>
          <a:lstStyle/>
          <a:p>
            <a:pPr marL="0" marR="0" lvl="0" indent="0" algn="l" defTabSz="914400" eaLnBrk="1" fontAlgn="auto" latinLnBrk="0" hangingPunct="1">
              <a:lnSpc>
                <a:spcPct val="140000"/>
              </a:lnSpc>
              <a:spcBef>
                <a:spcPts val="0"/>
              </a:spcBef>
              <a:spcAft>
                <a:spcPts val="0"/>
              </a:spcAft>
              <a:buClrTx/>
              <a:buSzTx/>
              <a:buFontTx/>
              <a:buNone/>
              <a:tabLst/>
              <a:defRPr/>
            </a:pPr>
            <a:r>
              <a:rPr kumimoji="0" lang="en-US" altLang="zh-CN" sz="1600" b="0" i="0" u="none" strike="noStrike" kern="1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The event refers to patient death or censoring during follow-up.</a:t>
            </a:r>
            <a:br>
              <a:rPr kumimoji="0" lang="en-US" altLang="zh-CN" sz="1600" b="0" i="0" u="none" strike="noStrike" kern="1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altLang="zh-CN" sz="1600" b="0" i="0" u="none" strike="noStrike" kern="1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Statistical significance is based on the fitted multivariable Cox regression model.</a:t>
            </a:r>
            <a:r>
              <a:rPr kumimoji="0" lang="zh-CN" altLang="en-US" sz="1600" b="0" i="0" u="none" strike="noStrike" kern="1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 </a:t>
            </a:r>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n.s. = not significant; *p &lt; 0.05; **p &lt; 0.01; *p &lt; 0.001.</a:t>
            </a:r>
            <a:endParaRPr kumimoji="0" lang="zh-CN" altLang="en-US" sz="1600" b="0" i="0" u="none" strike="noStrike" kern="1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474" name="文本框 473">
                <a:extLst>
                  <a:ext uri="{FF2B5EF4-FFF2-40B4-BE49-F238E27FC236}">
                    <a16:creationId xmlns:a16="http://schemas.microsoft.com/office/drawing/2014/main" id="{F5FAA3F4-35E8-1D02-6B89-1FD8DB7CE778}"/>
                  </a:ext>
                </a:extLst>
              </p:cNvPr>
              <p:cNvSpPr txBox="1"/>
              <p:nvPr/>
            </p:nvSpPr>
            <p:spPr>
              <a:xfrm>
                <a:off x="10618624" y="16144081"/>
                <a:ext cx="3878491" cy="7848302"/>
              </a:xfrm>
              <a:prstGeom prst="rect">
                <a:avLst/>
              </a:prstGeom>
              <a:noFill/>
            </p:spPr>
            <p:txBody>
              <a:bodyPr wrap="square" rtlCol="0">
                <a:spAutoFit/>
              </a:bodyPr>
              <a:lstStyle/>
              <a:p>
                <a:pPr algn="just"/>
                <a:r>
                  <a:rPr lang="en-US" altLang="zh-CN" sz="1800" b="1" dirty="0">
                    <a:latin typeface="Arial" panose="020B0604020202020204" pitchFamily="34" charset="0"/>
                    <a:cs typeface="Arial" panose="020B0604020202020204" pitchFamily="34" charset="0"/>
                  </a:rPr>
                  <a:t>Table 1. Clinical and demographic characteristics of the TCGA, METABRIC, and combined breast cancer cohorts. </a:t>
                </a:r>
                <a:r>
                  <a:rPr lang="en-US" altLang="zh-CN" sz="1800" dirty="0">
                    <a:latin typeface="Arial" panose="020B0604020202020204" pitchFamily="34" charset="0"/>
                    <a:cs typeface="Arial" panose="020B0604020202020204" pitchFamily="34" charset="0"/>
                  </a:rPr>
                  <a:t>A total of 2,065 breast cancer samples were analyzed, including 931 from TCGA and 1,134 from METABRIC. The three analytical cohorts—TCGA, METABRIC, and TCGA+METABRIC combined—are representative of general breast cancer populations based on key clinical features. Older age was significantly associated with increased mortality risk (HR = 1.039 per year, 95% CI: [1.029, 1.049], </a:t>
                </a:r>
                <a14:m>
                  <m:oMath xmlns:m="http://schemas.openxmlformats.org/officeDocument/2006/math">
                    <m:r>
                      <a:rPr lang="en-US" altLang="zh-CN" sz="1800" b="0" i="1" smtClean="0">
                        <a:latin typeface="Cambria Math" panose="02040503050406030204" pitchFamily="18" charset="0"/>
                        <a:cs typeface="Arial" panose="020B0604020202020204" pitchFamily="34" charset="0"/>
                      </a:rPr>
                      <m:t>𝑝</m:t>
                    </m:r>
                    <m:r>
                      <a:rPr lang="en-US" altLang="zh-CN" sz="1800" b="0" i="1" smtClean="0">
                        <a:latin typeface="Cambria Math" panose="02040503050406030204" pitchFamily="18" charset="0"/>
                        <a:ea typeface="Cambria Math" panose="02040503050406030204" pitchFamily="18" charset="0"/>
                        <a:cs typeface="Arial" panose="020B0604020202020204" pitchFamily="34" charset="0"/>
                      </a:rPr>
                      <m:t>&lt;2×</m:t>
                    </m:r>
                    <m:sSup>
                      <m:sSupPr>
                        <m:ctrlPr>
                          <a:rPr lang="en-US" altLang="zh-CN" sz="1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altLang="zh-CN" sz="18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altLang="zh-CN" sz="1800" b="0" i="1" smtClean="0">
                            <a:latin typeface="Cambria Math" panose="02040503050406030204" pitchFamily="18" charset="0"/>
                            <a:ea typeface="Cambria Math" panose="02040503050406030204" pitchFamily="18" charset="0"/>
                            <a:cs typeface="Arial" panose="020B0604020202020204" pitchFamily="34" charset="0"/>
                          </a:rPr>
                          <m:t>−16</m:t>
                        </m:r>
                      </m:sup>
                    </m:sSup>
                  </m:oMath>
                </a14:m>
                <a:r>
                  <a:rPr lang="en-US" altLang="zh-CN" sz="1800" dirty="0">
                    <a:latin typeface="Arial" panose="020B0604020202020204" pitchFamily="34" charset="0"/>
                    <a:cs typeface="Arial" panose="020B0604020202020204" pitchFamily="34" charset="0"/>
                  </a:rPr>
                  <a:t>). ER-positive status was linked to improved survival (HR = 0.749, 95% CI: [0.563, 0.997], p = 0.0474), while HER2-positive status was associated with poorer outcomes (HR = 1.643, 95% CI: [1.244, 2.169], p = 0.0005). These findings are consistent with established clinical knowledge and support the suitability of these cohorts for subsequent UGES evaluation. </a:t>
                </a:r>
                <a:endParaRPr lang="zh-CN" altLang="en-US" sz="1800" dirty="0">
                  <a:latin typeface="Arial" panose="020B0604020202020204" pitchFamily="34" charset="0"/>
                  <a:cs typeface="Arial" panose="020B0604020202020204" pitchFamily="34" charset="0"/>
                </a:endParaRPr>
              </a:p>
            </p:txBody>
          </p:sp>
        </mc:Choice>
        <mc:Fallback xmlns="">
          <p:sp>
            <p:nvSpPr>
              <p:cNvPr id="474" name="文本框 473">
                <a:extLst>
                  <a:ext uri="{FF2B5EF4-FFF2-40B4-BE49-F238E27FC236}">
                    <a16:creationId xmlns:a16="http://schemas.microsoft.com/office/drawing/2014/main" id="{F5FAA3F4-35E8-1D02-6B89-1FD8DB7CE778}"/>
                  </a:ext>
                </a:extLst>
              </p:cNvPr>
              <p:cNvSpPr txBox="1">
                <a:spLocks noRot="1" noChangeAspect="1" noMove="1" noResize="1" noEditPoints="1" noAdjustHandles="1" noChangeArrowheads="1" noChangeShapeType="1" noTextEdit="1"/>
              </p:cNvSpPr>
              <p:nvPr/>
            </p:nvSpPr>
            <p:spPr>
              <a:xfrm>
                <a:off x="10618624" y="16144081"/>
                <a:ext cx="3878491" cy="7848302"/>
              </a:xfrm>
              <a:prstGeom prst="rect">
                <a:avLst/>
              </a:prstGeom>
              <a:blipFill>
                <a:blip r:embed="rId20"/>
                <a:stretch>
                  <a:fillRect l="-1415" t="-388" r="-2987"/>
                </a:stretch>
              </a:blipFill>
            </p:spPr>
            <p:txBody>
              <a:bodyPr/>
              <a:lstStyle/>
              <a:p>
                <a:r>
                  <a:rPr lang="zh-CN" altLang="en-US">
                    <a:noFill/>
                  </a:rPr>
                  <a:t> </a:t>
                </a:r>
              </a:p>
            </p:txBody>
          </p:sp>
        </mc:Fallback>
      </mc:AlternateContent>
      <p:sp>
        <p:nvSpPr>
          <p:cNvPr id="475" name="文本框 474">
            <a:extLst>
              <a:ext uri="{FF2B5EF4-FFF2-40B4-BE49-F238E27FC236}">
                <a16:creationId xmlns:a16="http://schemas.microsoft.com/office/drawing/2014/main" id="{0057DBAD-7DF9-5484-86CD-A6CD1DAC7A75}"/>
              </a:ext>
            </a:extLst>
          </p:cNvPr>
          <p:cNvSpPr txBox="1"/>
          <p:nvPr/>
        </p:nvSpPr>
        <p:spPr>
          <a:xfrm>
            <a:off x="986729" y="14945027"/>
            <a:ext cx="6905104" cy="369332"/>
          </a:xfrm>
          <a:prstGeom prst="rect">
            <a:avLst/>
          </a:prstGeom>
          <a:noFill/>
        </p:spPr>
        <p:txBody>
          <a:bodyPr wrap="square" rtlCol="0">
            <a:spAutoFit/>
          </a:bodyPr>
          <a:lstStyle/>
          <a:p>
            <a:r>
              <a:rPr lang="en-US" altLang="zh-CN" sz="1800" b="1" dirty="0">
                <a:latin typeface="Arial" panose="020B0604020202020204" pitchFamily="34" charset="0"/>
                <a:cs typeface="Arial" panose="020B0604020202020204" pitchFamily="34" charset="0"/>
              </a:rPr>
              <a:t>Figure 1. </a:t>
            </a:r>
            <a:r>
              <a:rPr lang="en-US" altLang="zh-CN" sz="1800" dirty="0">
                <a:latin typeface="Arial" panose="020B0604020202020204" pitchFamily="34" charset="0"/>
                <a:cs typeface="Arial" panose="020B0604020202020204" pitchFamily="34" charset="0"/>
              </a:rPr>
              <a:t>Cohort Overview and Multi-Omics Feature Composition.</a:t>
            </a:r>
            <a:endParaRPr lang="zh-CN" altLang="en-US" sz="1800" b="1" dirty="0">
              <a:latin typeface="Arial" panose="020B0604020202020204" pitchFamily="34" charset="0"/>
              <a:cs typeface="Arial" panose="020B0604020202020204" pitchFamily="34" charset="0"/>
            </a:endParaRPr>
          </a:p>
        </p:txBody>
      </p:sp>
      <p:sp>
        <p:nvSpPr>
          <p:cNvPr id="476" name="object 307">
            <a:extLst>
              <a:ext uri="{FF2B5EF4-FFF2-40B4-BE49-F238E27FC236}">
                <a16:creationId xmlns:a16="http://schemas.microsoft.com/office/drawing/2014/main" id="{B41A2071-CE10-D4AB-893B-D8DABD5F549C}"/>
              </a:ext>
            </a:extLst>
          </p:cNvPr>
          <p:cNvSpPr txBox="1"/>
          <p:nvPr/>
        </p:nvSpPr>
        <p:spPr>
          <a:xfrm>
            <a:off x="862998" y="31297571"/>
            <a:ext cx="13695489" cy="543711"/>
          </a:xfrm>
          <a:prstGeom prst="rect">
            <a:avLst/>
          </a:prstGeom>
        </p:spPr>
        <p:txBody>
          <a:bodyPr vert="horz" wrap="square" lIns="0" tIns="50773" rIns="0" bIns="0" rtlCol="0">
            <a:spAutoFit/>
          </a:bodyPr>
          <a:lstStyle/>
          <a:p>
            <a:pPr marL="561340" marR="20320" indent="-513080" algn="just">
              <a:spcBef>
                <a:spcPts val="400"/>
              </a:spcBef>
            </a:pPr>
            <a:r>
              <a:rPr lang="en-US" sz="3200" b="1" spc="-20" dirty="0">
                <a:latin typeface="Arial" panose="020B0604020202020204"/>
                <a:cs typeface="Arial" panose="020B0604020202020204"/>
              </a:rPr>
              <a:t>4</a:t>
            </a:r>
            <a:r>
              <a:rPr sz="3200" b="1" spc="-20" dirty="0">
                <a:latin typeface="Arial" panose="020B0604020202020204"/>
                <a:cs typeface="Arial" panose="020B0604020202020204"/>
              </a:rPr>
              <a:t>.</a:t>
            </a:r>
            <a:r>
              <a:rPr lang="en-US" altLang="zh-CN" sz="3200" dirty="0"/>
              <a:t> </a:t>
            </a:r>
            <a:r>
              <a:rPr lang="en-US" altLang="zh-CN" sz="3200" b="1" spc="-20" dirty="0">
                <a:latin typeface="Arial" panose="020B0604020202020204"/>
                <a:cs typeface="Arial" panose="020B0604020202020204"/>
              </a:rPr>
              <a:t>Survival Analysis: Comparison Between UGES and PAM50 Subtypes</a:t>
            </a:r>
            <a:r>
              <a:rPr lang="en-US" sz="3200" b="1" spc="-20" dirty="0">
                <a:latin typeface="Arial" panose="020B0604020202020204"/>
                <a:cs typeface="Arial" panose="020B0604020202020204"/>
              </a:rPr>
              <a:t>  </a:t>
            </a:r>
            <a:endParaRPr sz="3200" b="1" spc="-20" dirty="0">
              <a:latin typeface="Arial" panose="020B0604020202020204"/>
              <a:cs typeface="Arial" panose="020B0604020202020204"/>
            </a:endParaRPr>
          </a:p>
        </p:txBody>
      </p:sp>
      <p:sp>
        <p:nvSpPr>
          <p:cNvPr id="483" name="矩形 482">
            <a:extLst>
              <a:ext uri="{FF2B5EF4-FFF2-40B4-BE49-F238E27FC236}">
                <a16:creationId xmlns:a16="http://schemas.microsoft.com/office/drawing/2014/main" id="{AD482011-0943-57CD-FA18-25CAD3D13898}"/>
              </a:ext>
            </a:extLst>
          </p:cNvPr>
          <p:cNvSpPr/>
          <p:nvPr/>
        </p:nvSpPr>
        <p:spPr>
          <a:xfrm>
            <a:off x="781598" y="33275454"/>
            <a:ext cx="4221710" cy="1431137"/>
          </a:xfrm>
          <a:prstGeom prst="rect">
            <a:avLst/>
          </a:prstGeom>
          <a:solidFill>
            <a:srgbClr val="DBCAC3"/>
          </a:solidFill>
          <a:ln w="6350">
            <a:solidFill>
              <a:srgbClr val="9059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Subtype Group Assignment </a:t>
            </a:r>
          </a:p>
          <a:p>
            <a:pPr algn="ctr"/>
            <a:r>
              <a:rPr lang="en-US" altLang="zh-CN" sz="2400" dirty="0">
                <a:solidFill>
                  <a:schemeClr val="tx1"/>
                </a:solidFill>
                <a:latin typeface="Arial" panose="020B0604020202020204" pitchFamily="34" charset="0"/>
                <a:cs typeface="Arial" panose="020B0604020202020204" pitchFamily="34" charset="0"/>
              </a:rPr>
              <a:t>Balanced comparison dataset</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485" name="矩形 484">
            <a:extLst>
              <a:ext uri="{FF2B5EF4-FFF2-40B4-BE49-F238E27FC236}">
                <a16:creationId xmlns:a16="http://schemas.microsoft.com/office/drawing/2014/main" id="{5371B50D-2AD4-ED36-025B-65B2A0F6527C}"/>
              </a:ext>
            </a:extLst>
          </p:cNvPr>
          <p:cNvSpPr/>
          <p:nvPr/>
        </p:nvSpPr>
        <p:spPr>
          <a:xfrm>
            <a:off x="5758505" y="31993682"/>
            <a:ext cx="3746965" cy="1610702"/>
          </a:xfrm>
          <a:prstGeom prst="rect">
            <a:avLst/>
          </a:prstGeom>
          <a:solidFill>
            <a:srgbClr val="DBCAC3"/>
          </a:solidFill>
          <a:ln w="6350">
            <a:solidFill>
              <a:srgbClr val="9059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Univariate Survival Model</a:t>
            </a:r>
          </a:p>
          <a:p>
            <a:r>
              <a:rPr lang="en-US" altLang="zh-CN" sz="2400" dirty="0">
                <a:solidFill>
                  <a:schemeClr val="tx1"/>
                </a:solidFill>
                <a:latin typeface="Arial" panose="020B0604020202020204" pitchFamily="34" charset="0"/>
                <a:cs typeface="Arial" panose="020B0604020202020204" pitchFamily="34" charset="0"/>
              </a:rPr>
              <a:t>• Kaplan–Meier estimation</a:t>
            </a:r>
          </a:p>
          <a:p>
            <a:r>
              <a:rPr lang="en-US" altLang="zh-CN" sz="2400" dirty="0">
                <a:solidFill>
                  <a:schemeClr val="tx1"/>
                </a:solidFill>
                <a:latin typeface="Arial" panose="020B0604020202020204" pitchFamily="34" charset="0"/>
                <a:cs typeface="Arial" panose="020B0604020202020204" pitchFamily="34" charset="0"/>
              </a:rPr>
              <a:t>• Log-rank test</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486" name="矩形 485">
            <a:extLst>
              <a:ext uri="{FF2B5EF4-FFF2-40B4-BE49-F238E27FC236}">
                <a16:creationId xmlns:a16="http://schemas.microsoft.com/office/drawing/2014/main" id="{B0093245-1BD9-9925-5D91-25A5A53B193C}"/>
              </a:ext>
            </a:extLst>
          </p:cNvPr>
          <p:cNvSpPr/>
          <p:nvPr/>
        </p:nvSpPr>
        <p:spPr>
          <a:xfrm>
            <a:off x="5597808" y="34061584"/>
            <a:ext cx="4205798" cy="1610702"/>
          </a:xfrm>
          <a:prstGeom prst="rect">
            <a:avLst/>
          </a:prstGeom>
          <a:solidFill>
            <a:srgbClr val="DBCAC3"/>
          </a:solidFill>
          <a:ln w="6350">
            <a:solidFill>
              <a:srgbClr val="9059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Multivariable Cox Regression</a:t>
            </a:r>
          </a:p>
          <a:p>
            <a:pPr algn="ctr"/>
            <a:r>
              <a:rPr lang="en-US" altLang="zh-CN" sz="2400" dirty="0">
                <a:solidFill>
                  <a:schemeClr val="tx1"/>
                </a:solidFill>
                <a:latin typeface="Arial" panose="020B0604020202020204" pitchFamily="34" charset="0"/>
                <a:cs typeface="Arial" panose="020B0604020202020204" pitchFamily="34" charset="0"/>
              </a:rPr>
              <a:t>• coxph() + Age Covariate</a:t>
            </a:r>
          </a:p>
          <a:p>
            <a:pPr algn="ctr"/>
            <a:r>
              <a:rPr lang="en-US" altLang="zh-CN" sz="2400" dirty="0">
                <a:solidFill>
                  <a:schemeClr val="tx1"/>
                </a:solidFill>
                <a:latin typeface="Arial" panose="020B0604020202020204" pitchFamily="34" charset="0"/>
                <a:cs typeface="Arial" panose="020B0604020202020204" pitchFamily="34" charset="0"/>
              </a:rPr>
              <a:t>• Forest Plot Visualization</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487" name="矩形 486">
            <a:extLst>
              <a:ext uri="{FF2B5EF4-FFF2-40B4-BE49-F238E27FC236}">
                <a16:creationId xmlns:a16="http://schemas.microsoft.com/office/drawing/2014/main" id="{5DD259CC-7DF1-751B-7C48-1E10AC627E58}"/>
              </a:ext>
            </a:extLst>
          </p:cNvPr>
          <p:cNvSpPr/>
          <p:nvPr/>
        </p:nvSpPr>
        <p:spPr>
          <a:xfrm>
            <a:off x="10503840" y="33173838"/>
            <a:ext cx="4242357" cy="1610702"/>
          </a:xfrm>
          <a:prstGeom prst="rect">
            <a:avLst/>
          </a:prstGeom>
          <a:solidFill>
            <a:srgbClr val="DBCAC3"/>
          </a:solidFill>
          <a:ln w="6350">
            <a:solidFill>
              <a:srgbClr val="9059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Multiple Testing Adjustment</a:t>
            </a:r>
          </a:p>
          <a:p>
            <a:r>
              <a:rPr lang="en-US" altLang="zh-CN" sz="2400" dirty="0">
                <a:solidFill>
                  <a:schemeClr val="tx1"/>
                </a:solidFill>
                <a:latin typeface="Arial" panose="020B0604020202020204" pitchFamily="34" charset="0"/>
                <a:cs typeface="Arial" panose="020B0604020202020204" pitchFamily="34" charset="0"/>
              </a:rPr>
              <a:t>• Benjamini-Hochberg method</a:t>
            </a:r>
          </a:p>
          <a:p>
            <a:r>
              <a:rPr lang="en-US" altLang="zh-CN" sz="2400" dirty="0">
                <a:solidFill>
                  <a:schemeClr val="tx1"/>
                </a:solidFill>
                <a:latin typeface="Arial" panose="020B0604020202020204" pitchFamily="34" charset="0"/>
                <a:cs typeface="Arial" panose="020B0604020202020204" pitchFamily="34" charset="0"/>
              </a:rPr>
              <a:t>• FDR &lt; 0.05</a:t>
            </a:r>
            <a:endParaRPr lang="zh-CN" altLang="en-US" sz="2400" dirty="0">
              <a:solidFill>
                <a:schemeClr val="tx1"/>
              </a:solidFill>
              <a:latin typeface="Arial" panose="020B0604020202020204" pitchFamily="34" charset="0"/>
              <a:cs typeface="Arial" panose="020B0604020202020204" pitchFamily="34" charset="0"/>
            </a:endParaRPr>
          </a:p>
        </p:txBody>
      </p:sp>
      <p:cxnSp>
        <p:nvCxnSpPr>
          <p:cNvPr id="489" name="直接箭头连接符 488">
            <a:extLst>
              <a:ext uri="{FF2B5EF4-FFF2-40B4-BE49-F238E27FC236}">
                <a16:creationId xmlns:a16="http://schemas.microsoft.com/office/drawing/2014/main" id="{309A7631-343A-70B9-4B90-256BA6CBE5B8}"/>
              </a:ext>
            </a:extLst>
          </p:cNvPr>
          <p:cNvCxnSpPr>
            <a:cxnSpLocks/>
            <a:stCxn id="483" idx="3"/>
            <a:endCxn id="485" idx="1"/>
          </p:cNvCxnSpPr>
          <p:nvPr/>
        </p:nvCxnSpPr>
        <p:spPr>
          <a:xfrm flipV="1">
            <a:off x="5003308" y="32799033"/>
            <a:ext cx="755197" cy="1191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0" name="直接箭头连接符 489">
            <a:extLst>
              <a:ext uri="{FF2B5EF4-FFF2-40B4-BE49-F238E27FC236}">
                <a16:creationId xmlns:a16="http://schemas.microsoft.com/office/drawing/2014/main" id="{BB059544-AE2B-FB67-3628-75A08B148884}"/>
              </a:ext>
            </a:extLst>
          </p:cNvPr>
          <p:cNvCxnSpPr>
            <a:cxnSpLocks/>
            <a:stCxn id="483" idx="3"/>
            <a:endCxn id="486" idx="1"/>
          </p:cNvCxnSpPr>
          <p:nvPr/>
        </p:nvCxnSpPr>
        <p:spPr>
          <a:xfrm>
            <a:off x="5003308" y="33991023"/>
            <a:ext cx="594500" cy="8759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8" name="直接连接符 497">
            <a:extLst>
              <a:ext uri="{FF2B5EF4-FFF2-40B4-BE49-F238E27FC236}">
                <a16:creationId xmlns:a16="http://schemas.microsoft.com/office/drawing/2014/main" id="{82B31FDC-750D-B0B3-D638-DDC169059D8B}"/>
              </a:ext>
            </a:extLst>
          </p:cNvPr>
          <p:cNvCxnSpPr>
            <a:cxnSpLocks/>
            <a:stCxn id="485" idx="3"/>
          </p:cNvCxnSpPr>
          <p:nvPr/>
        </p:nvCxnSpPr>
        <p:spPr>
          <a:xfrm>
            <a:off x="9505470" y="32799033"/>
            <a:ext cx="564993" cy="0"/>
          </a:xfrm>
          <a:prstGeom prst="line">
            <a:avLst/>
          </a:prstGeom>
        </p:spPr>
        <p:style>
          <a:lnRef idx="1">
            <a:schemeClr val="dk1"/>
          </a:lnRef>
          <a:fillRef idx="0">
            <a:schemeClr val="dk1"/>
          </a:fillRef>
          <a:effectRef idx="0">
            <a:schemeClr val="dk1"/>
          </a:effectRef>
          <a:fontRef idx="minor">
            <a:schemeClr val="tx1"/>
          </a:fontRef>
        </p:style>
      </p:cxnSp>
      <p:cxnSp>
        <p:nvCxnSpPr>
          <p:cNvPr id="500" name="直接连接符 499">
            <a:extLst>
              <a:ext uri="{FF2B5EF4-FFF2-40B4-BE49-F238E27FC236}">
                <a16:creationId xmlns:a16="http://schemas.microsoft.com/office/drawing/2014/main" id="{E2F85F50-9BEA-1021-7C71-61C3D7DE0139}"/>
              </a:ext>
            </a:extLst>
          </p:cNvPr>
          <p:cNvCxnSpPr>
            <a:cxnSpLocks/>
            <a:stCxn id="486" idx="3"/>
          </p:cNvCxnSpPr>
          <p:nvPr/>
        </p:nvCxnSpPr>
        <p:spPr>
          <a:xfrm>
            <a:off x="9803606" y="34866935"/>
            <a:ext cx="269606" cy="0"/>
          </a:xfrm>
          <a:prstGeom prst="line">
            <a:avLst/>
          </a:prstGeom>
        </p:spPr>
        <p:style>
          <a:lnRef idx="1">
            <a:schemeClr val="dk1"/>
          </a:lnRef>
          <a:fillRef idx="0">
            <a:schemeClr val="dk1"/>
          </a:fillRef>
          <a:effectRef idx="0">
            <a:schemeClr val="dk1"/>
          </a:effectRef>
          <a:fontRef idx="minor">
            <a:schemeClr val="tx1"/>
          </a:fontRef>
        </p:style>
      </p:cxnSp>
      <p:cxnSp>
        <p:nvCxnSpPr>
          <p:cNvPr id="504" name="直接连接符 503">
            <a:extLst>
              <a:ext uri="{FF2B5EF4-FFF2-40B4-BE49-F238E27FC236}">
                <a16:creationId xmlns:a16="http://schemas.microsoft.com/office/drawing/2014/main" id="{1BB0962B-ED22-7108-C8A1-BFC5E217A367}"/>
              </a:ext>
            </a:extLst>
          </p:cNvPr>
          <p:cNvCxnSpPr>
            <a:cxnSpLocks/>
          </p:cNvCxnSpPr>
          <p:nvPr/>
        </p:nvCxnSpPr>
        <p:spPr>
          <a:xfrm flipV="1">
            <a:off x="10042141" y="32766184"/>
            <a:ext cx="0" cy="2083800"/>
          </a:xfrm>
          <a:prstGeom prst="line">
            <a:avLst/>
          </a:prstGeom>
        </p:spPr>
        <p:style>
          <a:lnRef idx="1">
            <a:schemeClr val="dk1"/>
          </a:lnRef>
          <a:fillRef idx="0">
            <a:schemeClr val="dk1"/>
          </a:fillRef>
          <a:effectRef idx="0">
            <a:schemeClr val="dk1"/>
          </a:effectRef>
          <a:fontRef idx="minor">
            <a:schemeClr val="tx1"/>
          </a:fontRef>
        </p:style>
      </p:cxnSp>
      <p:cxnSp>
        <p:nvCxnSpPr>
          <p:cNvPr id="512" name="直接箭头连接符 511">
            <a:extLst>
              <a:ext uri="{FF2B5EF4-FFF2-40B4-BE49-F238E27FC236}">
                <a16:creationId xmlns:a16="http://schemas.microsoft.com/office/drawing/2014/main" id="{DE2FC94D-2157-2134-8164-77405B1F828B}"/>
              </a:ext>
            </a:extLst>
          </p:cNvPr>
          <p:cNvCxnSpPr>
            <a:cxnSpLocks/>
          </p:cNvCxnSpPr>
          <p:nvPr/>
        </p:nvCxnSpPr>
        <p:spPr>
          <a:xfrm>
            <a:off x="10032206" y="33985384"/>
            <a:ext cx="4928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4" name="object 33">
            <a:extLst>
              <a:ext uri="{FF2B5EF4-FFF2-40B4-BE49-F238E27FC236}">
                <a16:creationId xmlns:a16="http://schemas.microsoft.com/office/drawing/2014/main" id="{1B78E472-C3A8-B81B-64F7-BB4986DEBFD8}"/>
              </a:ext>
            </a:extLst>
          </p:cNvPr>
          <p:cNvSpPr txBox="1"/>
          <p:nvPr/>
        </p:nvSpPr>
        <p:spPr>
          <a:xfrm>
            <a:off x="991669" y="35785342"/>
            <a:ext cx="13930368" cy="323140"/>
          </a:xfrm>
          <a:prstGeom prst="rect">
            <a:avLst/>
          </a:prstGeom>
        </p:spPr>
        <p:txBody>
          <a:bodyPr vert="horz" wrap="square" lIns="0" tIns="45695" rIns="0" bIns="0" rtlCol="0">
            <a:spAutoFit/>
          </a:bodyPr>
          <a:lstStyle/>
          <a:p>
            <a:pPr marL="152400" marR="121920" algn="just">
              <a:spcBef>
                <a:spcPts val="360"/>
              </a:spcBef>
            </a:pPr>
            <a:r>
              <a:rPr lang="en-US" sz="1800" b="1" spc="-20" dirty="0">
                <a:latin typeface="Arial" panose="020B0604020202020204"/>
                <a:cs typeface="Arial" panose="020B0604020202020204"/>
              </a:rPr>
              <a:t>Figure 3. </a:t>
            </a:r>
            <a:r>
              <a:rPr lang="en-US" altLang="zh-CN" sz="1800" dirty="0">
                <a:latin typeface="Arial" panose="020B0604020202020204" pitchFamily="34" charset="0"/>
                <a:cs typeface="Arial" panose="020B0604020202020204" pitchFamily="34" charset="0"/>
              </a:rPr>
              <a:t>Workflow of Survival Analysis Comparing UGES and PAM50 Subtypes.</a:t>
            </a:r>
            <a:endParaRPr sz="1800" baseline="12000"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A929EE5E-B67B-B9CD-9C66-AFD88E797B15}"/>
              </a:ext>
            </a:extLst>
          </p:cNvPr>
          <p:cNvSpPr txBox="1"/>
          <p:nvPr/>
        </p:nvSpPr>
        <p:spPr>
          <a:xfrm>
            <a:off x="12324634" y="27032157"/>
            <a:ext cx="3105346" cy="1200329"/>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ROC</a:t>
            </a:r>
          </a:p>
          <a:p>
            <a:pPr algn="ctr"/>
            <a:r>
              <a:rPr lang="en-US" altLang="zh-CN" sz="2400" dirty="0">
                <a:latin typeface="Arial" panose="020B0604020202020204" pitchFamily="34" charset="0"/>
                <a:cs typeface="Arial" panose="020B0604020202020204" pitchFamily="34" charset="0"/>
              </a:rPr>
              <a:t>&amp;</a:t>
            </a:r>
          </a:p>
          <a:p>
            <a:pPr algn="ctr"/>
            <a:r>
              <a:rPr lang="en-US" altLang="zh-CN" sz="2400" dirty="0">
                <a:latin typeface="Arial" panose="020B0604020202020204" pitchFamily="34" charset="0"/>
                <a:cs typeface="Arial" panose="020B0604020202020204" pitchFamily="34" charset="0"/>
              </a:rPr>
              <a:t>AUC</a:t>
            </a:r>
            <a:endParaRPr lang="zh-CN" altLang="en-US" sz="2400" dirty="0">
              <a:latin typeface="Arial" panose="020B0604020202020204" pitchFamily="34" charset="0"/>
              <a:cs typeface="Arial" panose="020B0604020202020204" pitchFamily="34" charset="0"/>
            </a:endParaRPr>
          </a:p>
        </p:txBody>
      </p:sp>
      <p:sp>
        <p:nvSpPr>
          <p:cNvPr id="17" name="矩形: 圆角 16">
            <a:extLst>
              <a:ext uri="{FF2B5EF4-FFF2-40B4-BE49-F238E27FC236}">
                <a16:creationId xmlns:a16="http://schemas.microsoft.com/office/drawing/2014/main" id="{06D044E4-3A47-A935-6C59-E63788B9612F}"/>
              </a:ext>
            </a:extLst>
          </p:cNvPr>
          <p:cNvSpPr/>
          <p:nvPr/>
        </p:nvSpPr>
        <p:spPr>
          <a:xfrm>
            <a:off x="452577" y="4938721"/>
            <a:ext cx="29423315" cy="3128160"/>
          </a:xfrm>
          <a:prstGeom prst="roundRect">
            <a:avLst/>
          </a:prstGeom>
          <a:noFill/>
          <a:ln w="76200">
            <a:solidFill>
              <a:srgbClr val="0150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1DA3DB7D-F1ED-4BD1-0EC1-26B179D082A2}"/>
              </a:ext>
            </a:extLst>
          </p:cNvPr>
          <p:cNvPicPr>
            <a:picLocks noChangeAspect="1"/>
          </p:cNvPicPr>
          <p:nvPr/>
        </p:nvPicPr>
        <p:blipFill>
          <a:blip r:embed="rId21"/>
          <a:stretch>
            <a:fillRect/>
          </a:stretch>
        </p:blipFill>
        <p:spPr>
          <a:xfrm>
            <a:off x="15856650" y="11133409"/>
            <a:ext cx="6480000" cy="6480000"/>
          </a:xfrm>
          <a:prstGeom prst="rect">
            <a:avLst/>
          </a:prstGeom>
        </p:spPr>
      </p:pic>
      <p:pic>
        <p:nvPicPr>
          <p:cNvPr id="23" name="图片 22">
            <a:extLst>
              <a:ext uri="{FF2B5EF4-FFF2-40B4-BE49-F238E27FC236}">
                <a16:creationId xmlns:a16="http://schemas.microsoft.com/office/drawing/2014/main" id="{0CCE9481-A314-304B-8414-38739C4B5937}"/>
              </a:ext>
            </a:extLst>
          </p:cNvPr>
          <p:cNvPicPr>
            <a:picLocks noChangeAspect="1"/>
          </p:cNvPicPr>
          <p:nvPr/>
        </p:nvPicPr>
        <p:blipFill>
          <a:blip r:embed="rId22"/>
          <a:stretch>
            <a:fillRect/>
          </a:stretch>
        </p:blipFill>
        <p:spPr>
          <a:xfrm>
            <a:off x="22407933" y="11172912"/>
            <a:ext cx="6674273" cy="6480000"/>
          </a:xfrm>
          <a:prstGeom prst="rect">
            <a:avLst/>
          </a:prstGeom>
        </p:spPr>
      </p:pic>
      <p:sp>
        <p:nvSpPr>
          <p:cNvPr id="5" name="文本框 4">
            <a:extLst>
              <a:ext uri="{FF2B5EF4-FFF2-40B4-BE49-F238E27FC236}">
                <a16:creationId xmlns:a16="http://schemas.microsoft.com/office/drawing/2014/main" id="{3E7A2253-03DA-7764-3326-76ED3BB36A69}"/>
              </a:ext>
            </a:extLst>
          </p:cNvPr>
          <p:cNvSpPr txBox="1"/>
          <p:nvPr/>
        </p:nvSpPr>
        <p:spPr>
          <a:xfrm>
            <a:off x="17728406" y="10810081"/>
            <a:ext cx="4114800" cy="584775"/>
          </a:xfrm>
          <a:prstGeom prst="rect">
            <a:avLst/>
          </a:prstGeom>
          <a:noFill/>
        </p:spPr>
        <p:txBody>
          <a:bodyPr wrap="square" rtlCol="0">
            <a:spAutoFit/>
          </a:bodyPr>
          <a:lstStyle/>
          <a:p>
            <a:r>
              <a:rPr lang="en-US" altLang="zh-CN" sz="3200" b="1" dirty="0">
                <a:latin typeface="Arial" panose="020B0604020202020204" pitchFamily="34" charset="0"/>
                <a:cs typeface="Arial" panose="020B0604020202020204" pitchFamily="34" charset="0"/>
              </a:rPr>
              <a:t>(B,(H,(LA,LB)))</a:t>
            </a:r>
            <a:endParaRPr lang="zh-CN" altLang="en-US" sz="3200" b="1" dirty="0"/>
          </a:p>
        </p:txBody>
      </p:sp>
      <p:sp>
        <p:nvSpPr>
          <p:cNvPr id="24" name="文本框 23">
            <a:extLst>
              <a:ext uri="{FF2B5EF4-FFF2-40B4-BE49-F238E27FC236}">
                <a16:creationId xmlns:a16="http://schemas.microsoft.com/office/drawing/2014/main" id="{025B878F-D364-808A-56A8-9F566659956A}"/>
              </a:ext>
            </a:extLst>
          </p:cNvPr>
          <p:cNvSpPr txBox="1"/>
          <p:nvPr/>
        </p:nvSpPr>
        <p:spPr>
          <a:xfrm>
            <a:off x="24967406" y="10842656"/>
            <a:ext cx="4114800" cy="584775"/>
          </a:xfrm>
          <a:prstGeom prst="rect">
            <a:avLst/>
          </a:prstGeom>
          <a:noFill/>
        </p:spPr>
        <p:txBody>
          <a:bodyPr wrap="square" rtlCol="0">
            <a:spAutoFit/>
          </a:bodyPr>
          <a:lstStyle/>
          <a:p>
            <a:r>
              <a:rPr lang="en-US" altLang="zh-CN" sz="3200" b="1" dirty="0">
                <a:latin typeface="Arial" panose="020B0604020202020204" pitchFamily="34" charset="0"/>
                <a:cs typeface="Arial" panose="020B0604020202020204" pitchFamily="34" charset="0"/>
              </a:rPr>
              <a:t>(B,H,LA,LB)</a:t>
            </a:r>
            <a:endParaRPr lang="zh-CN" altLang="en-US" sz="3200" b="1" dirty="0"/>
          </a:p>
        </p:txBody>
      </p:sp>
      <p:sp>
        <p:nvSpPr>
          <p:cNvPr id="27" name="object 25">
            <a:extLst>
              <a:ext uri="{FF2B5EF4-FFF2-40B4-BE49-F238E27FC236}">
                <a16:creationId xmlns:a16="http://schemas.microsoft.com/office/drawing/2014/main" id="{2CB6A70E-AAA0-718E-5096-553C646D8770}"/>
              </a:ext>
            </a:extLst>
          </p:cNvPr>
          <p:cNvSpPr txBox="1"/>
          <p:nvPr/>
        </p:nvSpPr>
        <p:spPr>
          <a:xfrm>
            <a:off x="15518606" y="19192081"/>
            <a:ext cx="13140444" cy="784654"/>
          </a:xfrm>
          <a:prstGeom prst="rect">
            <a:avLst/>
          </a:prstGeom>
        </p:spPr>
        <p:txBody>
          <a:bodyPr vert="horz" wrap="square" lIns="0" tIns="350345" rIns="0" bIns="0" rtlCol="0">
            <a:spAutoFit/>
          </a:bodyPr>
          <a:lstStyle/>
          <a:p>
            <a:pPr marL="662940" marR="121920" indent="-513080">
              <a:spcBef>
                <a:spcPts val="1800"/>
              </a:spcBef>
            </a:pPr>
            <a:r>
              <a:rPr lang="en-US" sz="2800" b="1" spc="-20" dirty="0">
                <a:latin typeface="Arial" panose="020B0604020202020204"/>
                <a:cs typeface="Arial" panose="020B0604020202020204"/>
              </a:rPr>
              <a:t>2</a:t>
            </a:r>
            <a:r>
              <a:rPr sz="2800" b="1" spc="-20" dirty="0">
                <a:latin typeface="Arial" panose="020B0604020202020204"/>
                <a:cs typeface="Arial" panose="020B0604020202020204"/>
              </a:rPr>
              <a:t>.</a:t>
            </a:r>
            <a:r>
              <a:rPr sz="2800" b="1" spc="201" dirty="0">
                <a:latin typeface="Arial" panose="020B0604020202020204"/>
                <a:cs typeface="Arial" panose="020B0604020202020204"/>
              </a:rPr>
              <a:t> </a:t>
            </a:r>
            <a:r>
              <a:rPr lang="fr-FR" sz="2800" b="1" spc="-20" dirty="0">
                <a:latin typeface="Arial" panose="020B0604020202020204"/>
                <a:cs typeface="Arial" panose="020B0604020202020204"/>
              </a:rPr>
              <a:t>Subtype Reclassification: UGES vs. PAM50</a:t>
            </a:r>
            <a:endParaRPr lang="en-US" sz="2800" b="1" spc="-40" dirty="0">
              <a:latin typeface="Arial" panose="020B0604020202020204"/>
              <a:cs typeface="Arial" panose="020B0604020202020204"/>
            </a:endParaRPr>
          </a:p>
        </p:txBody>
      </p:sp>
      <p:sp>
        <p:nvSpPr>
          <p:cNvPr id="28" name="文本框 27">
            <a:extLst>
              <a:ext uri="{FF2B5EF4-FFF2-40B4-BE49-F238E27FC236}">
                <a16:creationId xmlns:a16="http://schemas.microsoft.com/office/drawing/2014/main" id="{3EED566D-876D-829F-F95A-F28955542B40}"/>
              </a:ext>
            </a:extLst>
          </p:cNvPr>
          <p:cNvSpPr txBox="1"/>
          <p:nvPr/>
        </p:nvSpPr>
        <p:spPr>
          <a:xfrm>
            <a:off x="15467761" y="20201102"/>
            <a:ext cx="3464619" cy="6186309"/>
          </a:xfrm>
          <a:prstGeom prst="rect">
            <a:avLst/>
          </a:prstGeom>
          <a:noFill/>
        </p:spPr>
        <p:txBody>
          <a:bodyPr wrap="square" rtlCol="0">
            <a:spAutoFit/>
          </a:bodyPr>
          <a:lstStyle/>
          <a:p>
            <a:pPr algn="just"/>
            <a:r>
              <a:rPr lang="en-US" altLang="zh-CN" sz="1800" b="1" dirty="0">
                <a:latin typeface="Arial" panose="020B0604020202020204" pitchFamily="34" charset="0"/>
                <a:cs typeface="Arial" panose="020B0604020202020204" pitchFamily="34" charset="0"/>
              </a:rPr>
              <a:t>Figure 5. Alluvial plot of subtype reassignment between PAM50 and UGES. </a:t>
            </a:r>
            <a:r>
              <a:rPr lang="en-US" altLang="zh-CN" sz="1800" dirty="0">
                <a:latin typeface="Arial" panose="020B0604020202020204" pitchFamily="34" charset="0"/>
                <a:cs typeface="Arial" panose="020B0604020202020204" pitchFamily="34" charset="0"/>
              </a:rPr>
              <a:t>This alluvial plot visualizes the transitions in intrinsic subtype assignments when applying UGES compared with PAM50 across 2,065 breast cancer samples. A total of 11.57% of tumors (239/2,065) were reassigned by UGES. The most notable shift occurred within the Luminal-like group, where 11.25% of Luminal A tumors defined by PAM50 were reclassified as Luminal B by UGES. This pattern aligns with the well-recognized genomic and epigenetic similarity between Luminal A and Luminal B subtypes, which makes them challenging to distinguish.</a:t>
            </a:r>
            <a:endParaRPr lang="zh-CN" altLang="en-US" sz="1800" dirty="0">
              <a:latin typeface="Arial" panose="020B0604020202020204" pitchFamily="34" charset="0"/>
              <a:cs typeface="Arial" panose="020B0604020202020204" pitchFamily="34" charset="0"/>
            </a:endParaRPr>
          </a:p>
        </p:txBody>
      </p:sp>
      <p:grpSp>
        <p:nvGrpSpPr>
          <p:cNvPr id="33" name="组合 32">
            <a:extLst>
              <a:ext uri="{FF2B5EF4-FFF2-40B4-BE49-F238E27FC236}">
                <a16:creationId xmlns:a16="http://schemas.microsoft.com/office/drawing/2014/main" id="{DAFD31EA-5C38-D87C-C0FD-D5E245106F41}"/>
              </a:ext>
            </a:extLst>
          </p:cNvPr>
          <p:cNvGrpSpPr/>
          <p:nvPr/>
        </p:nvGrpSpPr>
        <p:grpSpPr>
          <a:xfrm>
            <a:off x="18913543" y="20098512"/>
            <a:ext cx="10800000" cy="6480000"/>
            <a:chOff x="18150155" y="20467391"/>
            <a:chExt cx="11472070" cy="7200000"/>
          </a:xfrm>
        </p:grpSpPr>
        <p:pic>
          <p:nvPicPr>
            <p:cNvPr id="26" name="图片 25">
              <a:extLst>
                <a:ext uri="{FF2B5EF4-FFF2-40B4-BE49-F238E27FC236}">
                  <a16:creationId xmlns:a16="http://schemas.microsoft.com/office/drawing/2014/main" id="{AEF506A1-CF9A-83D9-7BCE-CF0435994BC0}"/>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8150155" y="20467391"/>
              <a:ext cx="11472070" cy="7200000"/>
            </a:xfrm>
            <a:prstGeom prst="rect">
              <a:avLst/>
            </a:prstGeom>
          </p:spPr>
        </p:pic>
        <p:sp>
          <p:nvSpPr>
            <p:cNvPr id="32" name="矩形 31">
              <a:extLst>
                <a:ext uri="{FF2B5EF4-FFF2-40B4-BE49-F238E27FC236}">
                  <a16:creationId xmlns:a16="http://schemas.microsoft.com/office/drawing/2014/main" id="{A6B38AF2-F455-30B0-E575-CA276E937D4A}"/>
                </a:ext>
              </a:extLst>
            </p:cNvPr>
            <p:cNvSpPr/>
            <p:nvPr/>
          </p:nvSpPr>
          <p:spPr>
            <a:xfrm>
              <a:off x="28430969" y="23306881"/>
              <a:ext cx="968516" cy="3924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object 25">
            <a:extLst>
              <a:ext uri="{FF2B5EF4-FFF2-40B4-BE49-F238E27FC236}">
                <a16:creationId xmlns:a16="http://schemas.microsoft.com/office/drawing/2014/main" id="{43D58477-41C3-6009-AEB9-E94F06963381}"/>
              </a:ext>
            </a:extLst>
          </p:cNvPr>
          <p:cNvSpPr txBox="1"/>
          <p:nvPr/>
        </p:nvSpPr>
        <p:spPr>
          <a:xfrm>
            <a:off x="15570970" y="26206110"/>
            <a:ext cx="13140444" cy="784654"/>
          </a:xfrm>
          <a:prstGeom prst="rect">
            <a:avLst/>
          </a:prstGeom>
        </p:spPr>
        <p:txBody>
          <a:bodyPr vert="horz" wrap="square" lIns="0" tIns="350345" rIns="0" bIns="0" rtlCol="0">
            <a:spAutoFit/>
          </a:bodyPr>
          <a:lstStyle/>
          <a:p>
            <a:pPr marL="662940" marR="121920" indent="-513080">
              <a:spcBef>
                <a:spcPts val="1800"/>
              </a:spcBef>
            </a:pPr>
            <a:r>
              <a:rPr lang="en-US" sz="2800" b="1" spc="-20" dirty="0">
                <a:latin typeface="Arial" panose="020B0604020202020204"/>
                <a:cs typeface="Arial" panose="020B0604020202020204"/>
              </a:rPr>
              <a:t>3</a:t>
            </a:r>
            <a:r>
              <a:rPr sz="2800" b="1" spc="-20" dirty="0">
                <a:latin typeface="Arial" panose="020B0604020202020204"/>
                <a:cs typeface="Arial" panose="020B0604020202020204"/>
              </a:rPr>
              <a:t>.</a:t>
            </a:r>
            <a:r>
              <a:rPr sz="2800" b="1" spc="201" dirty="0">
                <a:latin typeface="Arial" panose="020B0604020202020204"/>
                <a:cs typeface="Arial" panose="020B0604020202020204"/>
              </a:rPr>
              <a:t> </a:t>
            </a:r>
            <a:r>
              <a:rPr lang="en-US" sz="2800" b="1" spc="-20" dirty="0">
                <a:latin typeface="Arial" panose="020B0604020202020204"/>
                <a:cs typeface="Arial" panose="020B0604020202020204"/>
              </a:rPr>
              <a:t>Enhanced Prognostic Stratification Using UGES Subtyping</a:t>
            </a:r>
            <a:endParaRPr lang="en-US" sz="2800" b="1" spc="-40" dirty="0">
              <a:latin typeface="Arial" panose="020B0604020202020204"/>
              <a:cs typeface="Arial" panose="020B0604020202020204"/>
            </a:endParaRPr>
          </a:p>
        </p:txBody>
      </p:sp>
      <p:sp>
        <p:nvSpPr>
          <p:cNvPr id="4" name="文本框 3">
            <a:extLst>
              <a:ext uri="{FF2B5EF4-FFF2-40B4-BE49-F238E27FC236}">
                <a16:creationId xmlns:a16="http://schemas.microsoft.com/office/drawing/2014/main" id="{36A85A9A-8CDE-8FBD-A315-ECA3150023B3}"/>
              </a:ext>
            </a:extLst>
          </p:cNvPr>
          <p:cNvSpPr txBox="1"/>
          <p:nvPr/>
        </p:nvSpPr>
        <p:spPr>
          <a:xfrm>
            <a:off x="22527594" y="31765081"/>
            <a:ext cx="7188560" cy="3139321"/>
          </a:xfrm>
          <a:prstGeom prst="rect">
            <a:avLst/>
          </a:prstGeom>
          <a:noFill/>
        </p:spPr>
        <p:txBody>
          <a:bodyPr wrap="square" rtlCol="0">
            <a:spAutoFit/>
          </a:bodyPr>
          <a:lstStyle/>
          <a:p>
            <a:pPr algn="just"/>
            <a:r>
              <a:rPr lang="en-US" altLang="zh-CN" sz="1800" b="1" dirty="0">
                <a:latin typeface="Arial" panose="020B0604020202020204" pitchFamily="34" charset="0"/>
                <a:cs typeface="Arial" panose="020B0604020202020204" pitchFamily="34" charset="0"/>
              </a:rPr>
              <a:t>Figure 6. Multivariable survival analysis comparing prognostic stratification between UGES and PAM50 subtypes. </a:t>
            </a:r>
            <a:r>
              <a:rPr lang="en-US" altLang="zh-CN" sz="1800" dirty="0">
                <a:latin typeface="Arial" panose="020B0604020202020204" pitchFamily="34" charset="0"/>
                <a:cs typeface="Arial" panose="020B0604020202020204" pitchFamily="34" charset="0"/>
              </a:rPr>
              <a:t>Multivariable Cox proportional hazards models were constructed to evaluate subtype-specific prognostic value while adjusting for age. UGES subtyping provided significantly improved stratification of overall survival (p = 9.7×10⁻⁵⁵), outperforming PAM50 (p = 2.2×10⁻⁴⁷). Under UGES classification, survival differences among intrinsic subtypes became more statistically significant — particularly for Her2, which transitioned from borderline significance under PAM50 to a clearly poorer-outcome subtype. LumA consistently showed the most favorable prognosis (HR &lt; 1). </a:t>
            </a:r>
          </a:p>
        </p:txBody>
      </p:sp>
      <mc:AlternateContent xmlns:mc="http://schemas.openxmlformats.org/markup-compatibility/2006" xmlns:a14="http://schemas.microsoft.com/office/drawing/2010/main">
        <mc:Choice Requires="a14">
          <p:graphicFrame>
            <p:nvGraphicFramePr>
              <p:cNvPr id="25" name="表格 24">
                <a:extLst>
                  <a:ext uri="{FF2B5EF4-FFF2-40B4-BE49-F238E27FC236}">
                    <a16:creationId xmlns:a16="http://schemas.microsoft.com/office/drawing/2014/main" id="{E79679A5-FCBA-7E1D-8340-DA2EB8132006}"/>
                  </a:ext>
                </a:extLst>
              </p:cNvPr>
              <p:cNvGraphicFramePr>
                <a:graphicFrameLocks noGrp="1"/>
              </p:cNvGraphicFramePr>
              <p:nvPr>
                <p:extLst>
                  <p:ext uri="{D42A27DB-BD31-4B8C-83A1-F6EECF244321}">
                    <p14:modId xmlns:p14="http://schemas.microsoft.com/office/powerpoint/2010/main" val="3643836860"/>
                  </p:ext>
                </p:extLst>
              </p:nvPr>
            </p:nvGraphicFramePr>
            <p:xfrm>
              <a:off x="15518606" y="32069881"/>
              <a:ext cx="6858000" cy="272958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1328148041"/>
                        </a:ext>
                      </a:extLst>
                    </a:gridCol>
                    <a:gridCol w="1295400">
                      <a:extLst>
                        <a:ext uri="{9D8B030D-6E8A-4147-A177-3AD203B41FA5}">
                          <a16:colId xmlns:a16="http://schemas.microsoft.com/office/drawing/2014/main" val="3517789363"/>
                        </a:ext>
                      </a:extLst>
                    </a:gridCol>
                    <a:gridCol w="2362200">
                      <a:extLst>
                        <a:ext uri="{9D8B030D-6E8A-4147-A177-3AD203B41FA5}">
                          <a16:colId xmlns:a16="http://schemas.microsoft.com/office/drawing/2014/main" val="2977258585"/>
                        </a:ext>
                      </a:extLst>
                    </a:gridCol>
                    <a:gridCol w="2362200">
                      <a:extLst>
                        <a:ext uri="{9D8B030D-6E8A-4147-A177-3AD203B41FA5}">
                          <a16:colId xmlns:a16="http://schemas.microsoft.com/office/drawing/2014/main" val="221219300"/>
                        </a:ext>
                      </a:extLst>
                    </a:gridCol>
                  </a:tblGrid>
                  <a:tr h="682395">
                    <a:tc>
                      <a:txBody>
                        <a:bodyPr/>
                        <a:lstStyle/>
                        <a:p>
                          <a:pPr algn="ct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Basal</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Her2</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LumA</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366635"/>
                      </a:ext>
                    </a:extLst>
                  </a:tr>
                  <a:tr h="682395">
                    <a:tc>
                      <a:txBody>
                        <a:bodyPr/>
                        <a:lstStyle/>
                        <a:p>
                          <a:pPr algn="ctr"/>
                          <a:r>
                            <a:rPr lang="en-US" altLang="zh-CN" dirty="0">
                              <a:latin typeface="Arial" panose="020B0604020202020204" pitchFamily="34" charset="0"/>
                              <a:cs typeface="Arial" panose="020B0604020202020204" pitchFamily="34" charset="0"/>
                            </a:rPr>
                            <a:t>Her2</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latin typeface="Arial" panose="020B0604020202020204" pitchFamily="34" charset="0"/>
                              <a:cs typeface="Arial" panose="020B0604020202020204" pitchFamily="34" charset="0"/>
                            </a:rPr>
                            <a:t>0.03</a:t>
                          </a:r>
                          <a14:m>
                            <m:oMath xmlns:m="http://schemas.openxmlformats.org/officeDocument/2006/math">
                              <m:r>
                                <a:rPr lang="en-US" altLang="zh-CN" i="1" smtClean="0">
                                  <a:latin typeface="Cambria Math" panose="02040503050406030204" pitchFamily="18" charset="0"/>
                                  <a:ea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0.02</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1222620"/>
                      </a:ext>
                    </a:extLst>
                  </a:tr>
                  <a:tr h="682395">
                    <a:tc>
                      <a:txBody>
                        <a:bodyPr/>
                        <a:lstStyle/>
                        <a:p>
                          <a:pPr algn="ctr"/>
                          <a:r>
                            <a:rPr lang="en-US" altLang="zh-CN" dirty="0">
                              <a:latin typeface="Arial" panose="020B0604020202020204" pitchFamily="34" charset="0"/>
                              <a:cs typeface="Arial" panose="020B0604020202020204" pitchFamily="34" charset="0"/>
                            </a:rPr>
                            <a:t>LumA</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Arial" panose="020B0604020202020204" pitchFamily="34" charset="0"/>
                              <a:cs typeface="Arial" panose="020B0604020202020204" pitchFamily="34" charset="0"/>
                            </a:rPr>
                            <a:t>0.07</a:t>
                          </a:r>
                          <a14:m>
                            <m:oMath xmlns:m="http://schemas.openxmlformats.org/officeDocument/2006/math">
                              <m:r>
                                <a:rPr lang="en-US" altLang="zh-CN" i="1" smtClean="0">
                                  <a:latin typeface="Cambria Math" panose="02040503050406030204" pitchFamily="18" charset="0"/>
                                  <a:ea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0.04</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2</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ea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ea typeface="Cambria Math" panose="02040503050406030204" pitchFamily="18" charset="0"/>
                                        <a:cs typeface="Arial" panose="020B0604020202020204" pitchFamily="34" charset="0"/>
                                      </a:rPr>
                                      <m:t>10</m:t>
                                    </m:r>
                                  </m:e>
                                  <m:sup>
                                    <m:r>
                                      <a:rPr lang="en-US" altLang="zh-CN" b="0" i="1" smtClean="0">
                                        <a:latin typeface="Cambria Math" panose="02040503050406030204" pitchFamily="18" charset="0"/>
                                        <a:ea typeface="Cambria Math" panose="02040503050406030204" pitchFamily="18" charset="0"/>
                                        <a:cs typeface="Arial" panose="020B0604020202020204" pitchFamily="34" charset="0"/>
                                      </a:rPr>
                                      <m:t>−7</m:t>
                                    </m:r>
                                  </m:sup>
                                </m:sSup>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2</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ea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ea typeface="Cambria Math" panose="02040503050406030204" pitchFamily="18" charset="0"/>
                                        <a:cs typeface="Arial" panose="020B0604020202020204" pitchFamily="34" charset="0"/>
                                      </a:rPr>
                                      <m:t>10</m:t>
                                    </m:r>
                                  </m:e>
                                  <m:sup>
                                    <m:r>
                                      <a:rPr lang="en-US" altLang="zh-CN" b="0" i="1" smtClean="0">
                                        <a:latin typeface="Cambria Math" panose="02040503050406030204" pitchFamily="18" charset="0"/>
                                        <a:ea typeface="Cambria Math" panose="02040503050406030204" pitchFamily="18" charset="0"/>
                                        <a:cs typeface="Arial" panose="020B0604020202020204" pitchFamily="34" charset="0"/>
                                      </a:rPr>
                                      <m:t>−9</m:t>
                                    </m:r>
                                  </m:sup>
                                </m:sSup>
                              </m:oMath>
                            </m:oMathPara>
                          </a14:m>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7568992"/>
                      </a:ext>
                    </a:extLst>
                  </a:tr>
                  <a:tr h="682395">
                    <a:tc>
                      <a:txBody>
                        <a:bodyPr/>
                        <a:lstStyle/>
                        <a:p>
                          <a:pPr algn="ctr"/>
                          <a:r>
                            <a:rPr lang="en-US" altLang="zh-CN" dirty="0">
                              <a:latin typeface="Arial" panose="020B0604020202020204" pitchFamily="34" charset="0"/>
                              <a:cs typeface="Arial" panose="020B0604020202020204" pitchFamily="34" charset="0"/>
                            </a:rPr>
                            <a:t>LumB</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Arial" panose="020B0604020202020204" pitchFamily="34" charset="0"/>
                              <a:cs typeface="Arial" panose="020B0604020202020204" pitchFamily="34" charset="0"/>
                            </a:rPr>
                            <a:t>0.14</a:t>
                          </a:r>
                          <a14:m>
                            <m:oMath xmlns:m="http://schemas.openxmlformats.org/officeDocument/2006/math">
                              <m:r>
                                <a:rPr lang="en-US" altLang="zh-CN" i="1" smtClean="0">
                                  <a:latin typeface="Cambria Math" panose="02040503050406030204" pitchFamily="18" charset="0"/>
                                  <a:ea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0.08</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Arial" panose="020B0604020202020204" pitchFamily="34" charset="0"/>
                              <a:cs typeface="Arial" panose="020B0604020202020204" pitchFamily="34" charset="0"/>
                            </a:rPr>
                            <a:t>0.029</a:t>
                          </a:r>
                          <a14:m>
                            <m:oMath xmlns:m="http://schemas.openxmlformats.org/officeDocument/2006/math">
                              <m:r>
                                <a:rPr lang="en-US" altLang="zh-CN" i="1" smtClean="0">
                                  <a:latin typeface="Cambria Math" panose="02040503050406030204" pitchFamily="18" charset="0"/>
                                  <a:ea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0.032</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2</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ea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ea typeface="Cambria Math" panose="02040503050406030204" pitchFamily="18" charset="0"/>
                                        <a:cs typeface="Arial" panose="020B0604020202020204" pitchFamily="34" charset="0"/>
                                      </a:rPr>
                                      <m:t>10</m:t>
                                    </m:r>
                                  </m:e>
                                  <m:sup>
                                    <m:r>
                                      <a:rPr lang="en-US" altLang="zh-CN" b="0" i="1" smtClean="0">
                                        <a:latin typeface="Cambria Math" panose="02040503050406030204" pitchFamily="18" charset="0"/>
                                        <a:ea typeface="Cambria Math" panose="02040503050406030204" pitchFamily="18" charset="0"/>
                                        <a:cs typeface="Arial" panose="020B0604020202020204" pitchFamily="34" charset="0"/>
                                      </a:rPr>
                                      <m:t>−7</m:t>
                                    </m:r>
                                  </m:sup>
                                </m:sSup>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2</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ea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ea typeface="Cambria Math" panose="02040503050406030204" pitchFamily="18" charset="0"/>
                                        <a:cs typeface="Arial" panose="020B0604020202020204" pitchFamily="34" charset="0"/>
                                      </a:rPr>
                                      <m:t>10</m:t>
                                    </m:r>
                                  </m:e>
                                  <m:sup>
                                    <m:r>
                                      <a:rPr lang="en-US" altLang="zh-CN" b="0" i="1" smtClean="0">
                                        <a:latin typeface="Cambria Math" panose="02040503050406030204" pitchFamily="18" charset="0"/>
                                        <a:ea typeface="Cambria Math" panose="02040503050406030204" pitchFamily="18" charset="0"/>
                                        <a:cs typeface="Arial" panose="020B0604020202020204" pitchFamily="34" charset="0"/>
                                      </a:rPr>
                                      <m:t>−9</m:t>
                                    </m:r>
                                  </m:sup>
                                </m:sSup>
                              </m:oMath>
                            </m:oMathPara>
                          </a14:m>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13371558"/>
                      </a:ext>
                    </a:extLst>
                  </a:tr>
                </a:tbl>
              </a:graphicData>
            </a:graphic>
          </p:graphicFrame>
        </mc:Choice>
        <mc:Fallback xmlns="">
          <p:graphicFrame>
            <p:nvGraphicFramePr>
              <p:cNvPr id="25" name="表格 24">
                <a:extLst>
                  <a:ext uri="{FF2B5EF4-FFF2-40B4-BE49-F238E27FC236}">
                    <a16:creationId xmlns:a16="http://schemas.microsoft.com/office/drawing/2014/main" id="{E79679A5-FCBA-7E1D-8340-DA2EB8132006}"/>
                  </a:ext>
                </a:extLst>
              </p:cNvPr>
              <p:cNvGraphicFramePr>
                <a:graphicFrameLocks noGrp="1"/>
              </p:cNvGraphicFramePr>
              <p:nvPr>
                <p:extLst>
                  <p:ext uri="{D42A27DB-BD31-4B8C-83A1-F6EECF244321}">
                    <p14:modId xmlns:p14="http://schemas.microsoft.com/office/powerpoint/2010/main" val="3643836860"/>
                  </p:ext>
                </p:extLst>
              </p:nvPr>
            </p:nvGraphicFramePr>
            <p:xfrm>
              <a:off x="15518606" y="32069881"/>
              <a:ext cx="6858000" cy="272958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1328148041"/>
                        </a:ext>
                      </a:extLst>
                    </a:gridCol>
                    <a:gridCol w="1295400">
                      <a:extLst>
                        <a:ext uri="{9D8B030D-6E8A-4147-A177-3AD203B41FA5}">
                          <a16:colId xmlns:a16="http://schemas.microsoft.com/office/drawing/2014/main" val="3517789363"/>
                        </a:ext>
                      </a:extLst>
                    </a:gridCol>
                    <a:gridCol w="2362200">
                      <a:extLst>
                        <a:ext uri="{9D8B030D-6E8A-4147-A177-3AD203B41FA5}">
                          <a16:colId xmlns:a16="http://schemas.microsoft.com/office/drawing/2014/main" val="2977258585"/>
                        </a:ext>
                      </a:extLst>
                    </a:gridCol>
                    <a:gridCol w="2362200">
                      <a:extLst>
                        <a:ext uri="{9D8B030D-6E8A-4147-A177-3AD203B41FA5}">
                          <a16:colId xmlns:a16="http://schemas.microsoft.com/office/drawing/2014/main" val="221219300"/>
                        </a:ext>
                      </a:extLst>
                    </a:gridCol>
                  </a:tblGrid>
                  <a:tr h="682395">
                    <a:tc>
                      <a:txBody>
                        <a:bodyPr/>
                        <a:lstStyle/>
                        <a:p>
                          <a:pPr algn="ct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Basal</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Her2</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LumA</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366635"/>
                      </a:ext>
                    </a:extLst>
                  </a:tr>
                  <a:tr h="682395">
                    <a:tc>
                      <a:txBody>
                        <a:bodyPr/>
                        <a:lstStyle/>
                        <a:p>
                          <a:pPr algn="ctr"/>
                          <a:r>
                            <a:rPr lang="en-US" altLang="zh-CN" dirty="0">
                              <a:latin typeface="Arial" panose="020B0604020202020204" pitchFamily="34" charset="0"/>
                              <a:cs typeface="Arial" panose="020B0604020202020204" pitchFamily="34" charset="0"/>
                            </a:rPr>
                            <a:t>Her2</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4"/>
                          <a:stretch>
                            <a:fillRect l="-65566" t="-100000" r="-366981" b="-200000"/>
                          </a:stretch>
                        </a:blip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1222620"/>
                      </a:ext>
                    </a:extLst>
                  </a:tr>
                  <a:tr h="682395">
                    <a:tc>
                      <a:txBody>
                        <a:bodyPr/>
                        <a:lstStyle/>
                        <a:p>
                          <a:pPr algn="ctr"/>
                          <a:r>
                            <a:rPr lang="en-US" altLang="zh-CN" dirty="0">
                              <a:latin typeface="Arial" panose="020B0604020202020204" pitchFamily="34" charset="0"/>
                              <a:cs typeface="Arial" panose="020B0604020202020204" pitchFamily="34" charset="0"/>
                            </a:rPr>
                            <a:t>LumA</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4"/>
                          <a:stretch>
                            <a:fillRect l="-65566" t="-201786" r="-366981" b="-101786"/>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4"/>
                          <a:stretch>
                            <a:fillRect l="-90464" t="-201786" r="-100515" b="-101786"/>
                          </a:stretch>
                        </a:blip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7568992"/>
                      </a:ext>
                    </a:extLst>
                  </a:tr>
                  <a:tr h="682395">
                    <a:tc>
                      <a:txBody>
                        <a:bodyPr/>
                        <a:lstStyle/>
                        <a:p>
                          <a:pPr algn="ctr"/>
                          <a:r>
                            <a:rPr lang="en-US" altLang="zh-CN" dirty="0">
                              <a:latin typeface="Arial" panose="020B0604020202020204" pitchFamily="34" charset="0"/>
                              <a:cs typeface="Arial" panose="020B0604020202020204" pitchFamily="34" charset="0"/>
                            </a:rPr>
                            <a:t>LumB</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4"/>
                          <a:stretch>
                            <a:fillRect l="-65566" t="-301786" r="-366981" b="-1786"/>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4"/>
                          <a:stretch>
                            <a:fillRect l="-90464" t="-301786" r="-100515" b="-1786"/>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4"/>
                          <a:stretch>
                            <a:fillRect l="-190464" t="-301786" r="-515" b="-1786"/>
                          </a:stretch>
                        </a:blipFill>
                      </a:tcPr>
                    </a:tc>
                    <a:extLst>
                      <a:ext uri="{0D108BD9-81ED-4DB2-BD59-A6C34878D82A}">
                        <a16:rowId xmlns:a16="http://schemas.microsoft.com/office/drawing/2014/main" val="1613371558"/>
                      </a:ext>
                    </a:extLst>
                  </a:tr>
                </a:tbl>
              </a:graphicData>
            </a:graphic>
          </p:graphicFrame>
        </mc:Fallback>
      </mc:AlternateContent>
      <p:sp>
        <p:nvSpPr>
          <p:cNvPr id="36" name="AutoShape 2">
            <a:extLst>
              <a:ext uri="{FF2B5EF4-FFF2-40B4-BE49-F238E27FC236}">
                <a16:creationId xmlns:a16="http://schemas.microsoft.com/office/drawing/2014/main" id="{DEAC83EB-91B8-B116-5E1B-69D8304A56A5}"/>
              </a:ext>
            </a:extLst>
          </p:cNvPr>
          <p:cNvSpPr>
            <a:spLocks noChangeAspect="1" noChangeArrowheads="1"/>
          </p:cNvSpPr>
          <p:nvPr/>
        </p:nvSpPr>
        <p:spPr bwMode="auto">
          <a:xfrm>
            <a:off x="14984413" y="212486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AutoShape 4">
            <a:extLst>
              <a:ext uri="{FF2B5EF4-FFF2-40B4-BE49-F238E27FC236}">
                <a16:creationId xmlns:a16="http://schemas.microsoft.com/office/drawing/2014/main" id="{3EB8FBA1-FDAB-265D-F1C4-4D0CAD277EE9}"/>
              </a:ext>
            </a:extLst>
          </p:cNvPr>
          <p:cNvSpPr>
            <a:spLocks noChangeAspect="1" noChangeArrowheads="1"/>
          </p:cNvSpPr>
          <p:nvPr/>
        </p:nvSpPr>
        <p:spPr bwMode="auto">
          <a:xfrm>
            <a:off x="15136813" y="214010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8" name="图片 37">
            <a:extLst>
              <a:ext uri="{FF2B5EF4-FFF2-40B4-BE49-F238E27FC236}">
                <a16:creationId xmlns:a16="http://schemas.microsoft.com/office/drawing/2014/main" id="{E39AB5E6-3749-4B98-C299-49655ACA0F34}"/>
              </a:ext>
            </a:extLst>
          </p:cNvPr>
          <p:cNvPicPr>
            <a:picLocks noChangeAspect="1"/>
          </p:cNvPicPr>
          <p:nvPr/>
        </p:nvPicPr>
        <p:blipFill>
          <a:blip r:embed="rId25"/>
          <a:stretch>
            <a:fillRect/>
          </a:stretch>
        </p:blipFill>
        <p:spPr>
          <a:xfrm>
            <a:off x="15311588" y="27345481"/>
            <a:ext cx="6996638" cy="4320000"/>
          </a:xfrm>
          <a:prstGeom prst="rect">
            <a:avLst/>
          </a:prstGeom>
        </p:spPr>
      </p:pic>
      <p:sp>
        <p:nvSpPr>
          <p:cNvPr id="39" name="矩形 38">
            <a:extLst>
              <a:ext uri="{FF2B5EF4-FFF2-40B4-BE49-F238E27FC236}">
                <a16:creationId xmlns:a16="http://schemas.microsoft.com/office/drawing/2014/main" id="{77EF2B45-2914-C214-0B17-F9CA15E754DA}"/>
              </a:ext>
            </a:extLst>
          </p:cNvPr>
          <p:cNvSpPr/>
          <p:nvPr/>
        </p:nvSpPr>
        <p:spPr>
          <a:xfrm>
            <a:off x="23748206" y="27291461"/>
            <a:ext cx="4191000" cy="4542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Hazard ratio of UGES subtypes</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41" name="矩形 40">
            <a:extLst>
              <a:ext uri="{FF2B5EF4-FFF2-40B4-BE49-F238E27FC236}">
                <a16:creationId xmlns:a16="http://schemas.microsoft.com/office/drawing/2014/main" id="{24844C86-B61A-A89F-D698-406B6D873BBD}"/>
              </a:ext>
            </a:extLst>
          </p:cNvPr>
          <p:cNvSpPr/>
          <p:nvPr/>
        </p:nvSpPr>
        <p:spPr>
          <a:xfrm>
            <a:off x="16677946" y="27221952"/>
            <a:ext cx="4191000" cy="4542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Hazard ratio of PAM50 subtypes</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35" name="文本框 34">
            <a:extLst>
              <a:ext uri="{FF2B5EF4-FFF2-40B4-BE49-F238E27FC236}">
                <a16:creationId xmlns:a16="http://schemas.microsoft.com/office/drawing/2014/main" id="{E3BEB9C9-B4AF-9A9B-A786-D1D9627D3B11}"/>
              </a:ext>
            </a:extLst>
          </p:cNvPr>
          <p:cNvSpPr txBox="1"/>
          <p:nvPr/>
        </p:nvSpPr>
        <p:spPr>
          <a:xfrm>
            <a:off x="15543576" y="35041681"/>
            <a:ext cx="13995830" cy="1200329"/>
          </a:xfrm>
          <a:prstGeom prst="rect">
            <a:avLst/>
          </a:prstGeom>
          <a:noFill/>
        </p:spPr>
        <p:txBody>
          <a:bodyPr wrap="square" rtlCol="0">
            <a:spAutoFit/>
          </a:bodyPr>
          <a:lstStyle/>
          <a:p>
            <a:pPr algn="just"/>
            <a:r>
              <a:rPr lang="en-US" altLang="zh-CN" sz="1800" b="1" dirty="0">
                <a:latin typeface="Arial" panose="020B0604020202020204" pitchFamily="34" charset="0"/>
                <a:cs typeface="Arial" panose="020B0604020202020204" pitchFamily="34" charset="0"/>
              </a:rPr>
              <a:t>Table 2. Pairwise log-rank p-value comparisons of subtype-specific survival outcomes between PAM50 and UGES. </a:t>
            </a:r>
            <a:r>
              <a:rPr lang="en-US" altLang="zh-CN" sz="1800" dirty="0">
                <a:latin typeface="Arial" panose="020B0604020202020204" pitchFamily="34" charset="0"/>
                <a:cs typeface="Arial" panose="020B0604020202020204" pitchFamily="34" charset="0"/>
              </a:rPr>
              <a:t>Pairwise survival testing shows that in 5 of 6 subtype comparisons, UGES yields more statistically significant separation of overall survival than PAM50, indicating improved clinical discriminative ability. Notably, the difference between LumA and Basal becomes statistically significant only under UGES reassignment. </a:t>
            </a:r>
            <a:endParaRPr lang="zh-CN" altLang="en-US" sz="1800" dirty="0">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cc09039-1d0d-4215-87ea-550b05245994"/>
  <p:tag name="COMMONDATA" val="eyJoZGlkIjoiOTFhZjJmNjVlMjk0NDZkZjgyZjcwMzViNzY1MzlmMGYifQ=="/>
</p:tagLst>
</file>

<file path=ppt/tags/tag2.xml><?xml version="1.0" encoding="utf-8"?>
<p:tagLst xmlns:a="http://schemas.openxmlformats.org/drawingml/2006/main" xmlns:r="http://schemas.openxmlformats.org/officeDocument/2006/relationships" xmlns:p="http://schemas.openxmlformats.org/presentationml/2006/main">
  <p:tag name="TYPE" val="icon"/>
</p:tagLst>
</file>

<file path=ppt/tags/tag3.xml><?xml version="1.0" encoding="utf-8"?>
<p:tagLst xmlns:a="http://schemas.openxmlformats.org/drawingml/2006/main" xmlns:r="http://schemas.openxmlformats.org/officeDocument/2006/relationships" xmlns:p="http://schemas.openxmlformats.org/presentationml/2006/main">
  <p:tag name="TYPE" val="icon"/>
</p:tagLst>
</file>

<file path=ppt/tags/tag4.xml><?xml version="1.0" encoding="utf-8"?>
<p:tagLst xmlns:a="http://schemas.openxmlformats.org/drawingml/2006/main" xmlns:r="http://schemas.openxmlformats.org/officeDocument/2006/relationships" xmlns:p="http://schemas.openxmlformats.org/presentationml/2006/main">
  <p:tag name="TYPE" val="icon"/>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2457</TotalTime>
  <Words>1450</Words>
  <Application>Microsoft Office PowerPoint</Application>
  <PresentationFormat>自定义</PresentationFormat>
  <Paragraphs>189</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Cambria Math</vt:lpstr>
      <vt:lpstr>2_Office Theme</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ver2_Impact of preprocessing in data integration of single-cell RNA-seq data.pptx</dc:title>
  <dc:creator>hp</dc:creator>
  <cp:lastModifiedBy>晋伟 常</cp:lastModifiedBy>
  <cp:revision>97</cp:revision>
  <dcterms:created xsi:type="dcterms:W3CDTF">2022-11-16T01:29:00Z</dcterms:created>
  <dcterms:modified xsi:type="dcterms:W3CDTF">2025-11-07T02:16:24Z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ICV">
    <vt:lpwstr>87F36F5CB9B647AA928241CACF5E540C</vt:lpwstr>
  </property>
  <property fmtid="{D5CDD505-2E9C-101B-9397-08002B2CF9AE}" pid="4" name="KSOProductBuildVer">
    <vt:lpwstr>2052-11.1.0.12132</vt:lpwstr>
  </property>
</Properties>
</file>