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73" r:id="rId2"/>
  </p:sldIdLst>
  <p:sldSz cx="30275213" cy="42803763"/>
  <p:notesSz cx="14211300" cy="20104100"/>
  <p:custDataLst>
    <p:tags r:id="rId4"/>
  </p:custDataLst>
  <p:defaultTextStyle>
    <a:defPPr>
      <a:defRPr lang="zh-CN"/>
    </a:defPPr>
    <a:lvl1pPr marL="0" algn="l" defTabSz="1946275" rtl="0" eaLnBrk="1" latinLnBrk="0" hangingPunct="1">
      <a:defRPr sz="3830" kern="1200">
        <a:solidFill>
          <a:schemeClr val="tx1"/>
        </a:solidFill>
        <a:latin typeface="+mn-lt"/>
        <a:ea typeface="+mn-ea"/>
        <a:cs typeface="+mn-cs"/>
      </a:defRPr>
    </a:lvl1pPr>
    <a:lvl2pPr marL="973455" algn="l" defTabSz="1946275" rtl="0" eaLnBrk="1" latinLnBrk="0" hangingPunct="1">
      <a:defRPr sz="3830" kern="1200">
        <a:solidFill>
          <a:schemeClr val="tx1"/>
        </a:solidFill>
        <a:latin typeface="+mn-lt"/>
        <a:ea typeface="+mn-ea"/>
        <a:cs typeface="+mn-cs"/>
      </a:defRPr>
    </a:lvl2pPr>
    <a:lvl3pPr marL="1946275" algn="l" defTabSz="1946275" rtl="0" eaLnBrk="1" latinLnBrk="0" hangingPunct="1">
      <a:defRPr sz="3830" kern="1200">
        <a:solidFill>
          <a:schemeClr val="tx1"/>
        </a:solidFill>
        <a:latin typeface="+mn-lt"/>
        <a:ea typeface="+mn-ea"/>
        <a:cs typeface="+mn-cs"/>
      </a:defRPr>
    </a:lvl3pPr>
    <a:lvl4pPr marL="2919730" algn="l" defTabSz="1946275" rtl="0" eaLnBrk="1" latinLnBrk="0" hangingPunct="1">
      <a:defRPr sz="3830" kern="1200">
        <a:solidFill>
          <a:schemeClr val="tx1"/>
        </a:solidFill>
        <a:latin typeface="+mn-lt"/>
        <a:ea typeface="+mn-ea"/>
        <a:cs typeface="+mn-cs"/>
      </a:defRPr>
    </a:lvl4pPr>
    <a:lvl5pPr marL="3893185" algn="l" defTabSz="1946275" rtl="0" eaLnBrk="1" latinLnBrk="0" hangingPunct="1">
      <a:defRPr sz="3830" kern="1200">
        <a:solidFill>
          <a:schemeClr val="tx1"/>
        </a:solidFill>
        <a:latin typeface="+mn-lt"/>
        <a:ea typeface="+mn-ea"/>
        <a:cs typeface="+mn-cs"/>
      </a:defRPr>
    </a:lvl5pPr>
    <a:lvl6pPr marL="4866005" algn="l" defTabSz="1946275" rtl="0" eaLnBrk="1" latinLnBrk="0" hangingPunct="1">
      <a:defRPr sz="3830" kern="1200">
        <a:solidFill>
          <a:schemeClr val="tx1"/>
        </a:solidFill>
        <a:latin typeface="+mn-lt"/>
        <a:ea typeface="+mn-ea"/>
        <a:cs typeface="+mn-cs"/>
      </a:defRPr>
    </a:lvl6pPr>
    <a:lvl7pPr marL="5839460" algn="l" defTabSz="1946275" rtl="0" eaLnBrk="1" latinLnBrk="0" hangingPunct="1">
      <a:defRPr sz="3830" kern="1200">
        <a:solidFill>
          <a:schemeClr val="tx1"/>
        </a:solidFill>
        <a:latin typeface="+mn-lt"/>
        <a:ea typeface="+mn-ea"/>
        <a:cs typeface="+mn-cs"/>
      </a:defRPr>
    </a:lvl7pPr>
    <a:lvl8pPr marL="6812915" algn="l" defTabSz="1946275" rtl="0" eaLnBrk="1" latinLnBrk="0" hangingPunct="1">
      <a:defRPr sz="3830" kern="1200">
        <a:solidFill>
          <a:schemeClr val="tx1"/>
        </a:solidFill>
        <a:latin typeface="+mn-lt"/>
        <a:ea typeface="+mn-ea"/>
        <a:cs typeface="+mn-cs"/>
      </a:defRPr>
    </a:lvl8pPr>
    <a:lvl9pPr marL="7786370" algn="l" defTabSz="1946275" rtl="0" eaLnBrk="1" latinLnBrk="0" hangingPunct="1">
      <a:defRPr sz="383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32">
          <p15:clr>
            <a:srgbClr val="A4A3A4"/>
          </p15:clr>
        </p15:guide>
        <p15:guide id="2" pos="459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50A8"/>
    <a:srgbClr val="2166B3"/>
    <a:srgbClr val="DBCAC3"/>
    <a:srgbClr val="905975"/>
    <a:srgbClr val="89AD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20" autoAdjust="0"/>
    <p:restoredTop sz="94660"/>
  </p:normalViewPr>
  <p:slideViewPr>
    <p:cSldViewPr>
      <p:cViewPr>
        <p:scale>
          <a:sx n="15" d="100"/>
          <a:sy n="15" d="100"/>
        </p:scale>
        <p:origin x="1977" y="6"/>
      </p:cViewPr>
      <p:guideLst>
        <p:guide orient="horz" pos="6132"/>
        <p:guide pos="459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6157913" cy="10080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8050213" y="0"/>
            <a:ext cx="6157912" cy="1008063"/>
          </a:xfrm>
          <a:prstGeom prst="rect">
            <a:avLst/>
          </a:prstGeom>
        </p:spPr>
        <p:txBody>
          <a:bodyPr vert="horz" lIns="91440" tIns="45720" rIns="91440" bIns="45720" rtlCol="0"/>
          <a:lstStyle>
            <a:lvl1pPr algn="r">
              <a:defRPr sz="1200"/>
            </a:lvl1pPr>
          </a:lstStyle>
          <a:p>
            <a:fld id="{5A52E768-6D3B-42EA-AFFD-68FB3C2EC5F3}" type="datetimeFigureOut">
              <a:rPr lang="zh-CN" altLang="en-US" smtClean="0"/>
              <a:t>2025-11-27</a:t>
            </a:fld>
            <a:endParaRPr lang="zh-CN" altLang="en-US"/>
          </a:p>
        </p:txBody>
      </p:sp>
      <p:sp>
        <p:nvSpPr>
          <p:cNvPr id="4" name="幻灯片图像占位符 3"/>
          <p:cNvSpPr>
            <a:spLocks noGrp="1" noRot="1" noChangeAspect="1"/>
          </p:cNvSpPr>
          <p:nvPr>
            <p:ph type="sldImg" idx="2"/>
          </p:nvPr>
        </p:nvSpPr>
        <p:spPr>
          <a:xfrm>
            <a:off x="4706938" y="2513013"/>
            <a:ext cx="4797425" cy="67849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420813" y="9675813"/>
            <a:ext cx="11369675" cy="7915275"/>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19096038"/>
            <a:ext cx="6157913" cy="100806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8050213" y="19096038"/>
            <a:ext cx="6157912" cy="1008062"/>
          </a:xfrm>
          <a:prstGeom prst="rect">
            <a:avLst/>
          </a:prstGeom>
        </p:spPr>
        <p:txBody>
          <a:bodyPr vert="horz" lIns="91440" tIns="45720" rIns="91440" bIns="45720" rtlCol="0" anchor="b"/>
          <a:lstStyle>
            <a:lvl1pPr algn="r">
              <a:defRPr sz="1200"/>
            </a:lvl1pPr>
          </a:lstStyle>
          <a:p>
            <a:fld id="{42BA0ED0-A066-477B-BF89-E97CCCE2749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946275" rtl="0" eaLnBrk="1" latinLnBrk="0" hangingPunct="1">
      <a:defRPr sz="2555" kern="1200">
        <a:solidFill>
          <a:schemeClr val="tx1"/>
        </a:solidFill>
        <a:latin typeface="+mn-lt"/>
        <a:ea typeface="+mn-ea"/>
        <a:cs typeface="+mn-cs"/>
      </a:defRPr>
    </a:lvl1pPr>
    <a:lvl2pPr marL="973455" algn="l" defTabSz="1946275" rtl="0" eaLnBrk="1" latinLnBrk="0" hangingPunct="1">
      <a:defRPr sz="2555" kern="1200">
        <a:solidFill>
          <a:schemeClr val="tx1"/>
        </a:solidFill>
        <a:latin typeface="+mn-lt"/>
        <a:ea typeface="+mn-ea"/>
        <a:cs typeface="+mn-cs"/>
      </a:defRPr>
    </a:lvl2pPr>
    <a:lvl3pPr marL="1946275" algn="l" defTabSz="1946275" rtl="0" eaLnBrk="1" latinLnBrk="0" hangingPunct="1">
      <a:defRPr sz="2555" kern="1200">
        <a:solidFill>
          <a:schemeClr val="tx1"/>
        </a:solidFill>
        <a:latin typeface="+mn-lt"/>
        <a:ea typeface="+mn-ea"/>
        <a:cs typeface="+mn-cs"/>
      </a:defRPr>
    </a:lvl3pPr>
    <a:lvl4pPr marL="2919730" algn="l" defTabSz="1946275" rtl="0" eaLnBrk="1" latinLnBrk="0" hangingPunct="1">
      <a:defRPr sz="2555" kern="1200">
        <a:solidFill>
          <a:schemeClr val="tx1"/>
        </a:solidFill>
        <a:latin typeface="+mn-lt"/>
        <a:ea typeface="+mn-ea"/>
        <a:cs typeface="+mn-cs"/>
      </a:defRPr>
    </a:lvl4pPr>
    <a:lvl5pPr marL="3893185" algn="l" defTabSz="1946275" rtl="0" eaLnBrk="1" latinLnBrk="0" hangingPunct="1">
      <a:defRPr sz="2555" kern="1200">
        <a:solidFill>
          <a:schemeClr val="tx1"/>
        </a:solidFill>
        <a:latin typeface="+mn-lt"/>
        <a:ea typeface="+mn-ea"/>
        <a:cs typeface="+mn-cs"/>
      </a:defRPr>
    </a:lvl5pPr>
    <a:lvl6pPr marL="4866005" algn="l" defTabSz="1946275" rtl="0" eaLnBrk="1" latinLnBrk="0" hangingPunct="1">
      <a:defRPr sz="2555" kern="1200">
        <a:solidFill>
          <a:schemeClr val="tx1"/>
        </a:solidFill>
        <a:latin typeface="+mn-lt"/>
        <a:ea typeface="+mn-ea"/>
        <a:cs typeface="+mn-cs"/>
      </a:defRPr>
    </a:lvl6pPr>
    <a:lvl7pPr marL="5839460" algn="l" defTabSz="1946275" rtl="0" eaLnBrk="1" latinLnBrk="0" hangingPunct="1">
      <a:defRPr sz="2555" kern="1200">
        <a:solidFill>
          <a:schemeClr val="tx1"/>
        </a:solidFill>
        <a:latin typeface="+mn-lt"/>
        <a:ea typeface="+mn-ea"/>
        <a:cs typeface="+mn-cs"/>
      </a:defRPr>
    </a:lvl7pPr>
    <a:lvl8pPr marL="6812915" algn="l" defTabSz="1946275" rtl="0" eaLnBrk="1" latinLnBrk="0" hangingPunct="1">
      <a:defRPr sz="2555" kern="1200">
        <a:solidFill>
          <a:schemeClr val="tx1"/>
        </a:solidFill>
        <a:latin typeface="+mn-lt"/>
        <a:ea typeface="+mn-ea"/>
        <a:cs typeface="+mn-cs"/>
      </a:defRPr>
    </a:lvl8pPr>
    <a:lvl9pPr marL="7786370" algn="l" defTabSz="1946275" rtl="0" eaLnBrk="1" latinLnBrk="0" hangingPunct="1">
      <a:defRPr sz="255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2BA0ED0-A066-477B-BF89-E97CCCE27495}" type="slidenum">
              <a:rPr lang="zh-CN" altLang="en-US" smtClean="0"/>
              <a:t>1</a:t>
            </a:fld>
            <a:endParaRPr lang="zh-CN" altLang="en-US"/>
          </a:p>
        </p:txBody>
      </p:sp>
    </p:spTree>
    <p:extLst>
      <p:ext uri="{BB962C8B-B14F-4D97-AF65-F5344CB8AC3E}">
        <p14:creationId xmlns:p14="http://schemas.microsoft.com/office/powerpoint/2010/main" val="2296682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10298176" y="39807504"/>
            <a:ext cx="9692398" cy="2140190"/>
          </a:xfrm>
          <a:prstGeom prst="rect">
            <a:avLst/>
          </a:prstGeom>
        </p:spPr>
        <p:txBody>
          <a:bodyPr lIns="0" tIns="0" rIns="0" bIns="0"/>
          <a:lstStyle>
            <a:lvl1pPr algn="ctr">
              <a:defRPr>
                <a:solidFill>
                  <a:schemeClr val="tx1">
                    <a:tint val="75000"/>
                  </a:schemeClr>
                </a:solidFill>
              </a:defRPr>
            </a:lvl1pPr>
          </a:lstStyle>
          <a:p>
            <a:pPr>
              <a:defRPr/>
            </a:pPr>
            <a:endParaRPr lang="zh-CN" altLang="en-US">
              <a:solidFill>
                <a:prstClr val="black">
                  <a:tint val="75000"/>
                </a:prstClr>
              </a:solidFill>
            </a:endParaRPr>
          </a:p>
        </p:txBody>
      </p:sp>
      <p:sp>
        <p:nvSpPr>
          <p:cNvPr id="3" name="Holder 3"/>
          <p:cNvSpPr>
            <a:spLocks noGrp="1"/>
          </p:cNvSpPr>
          <p:nvPr>
            <p:ph type="dt" sz="half" idx="6"/>
          </p:nvPr>
        </p:nvSpPr>
        <p:spPr>
          <a:xfrm>
            <a:off x="1514439" y="39807504"/>
            <a:ext cx="6966411" cy="2140190"/>
          </a:xfrm>
          <a:prstGeom prst="rect">
            <a:avLst/>
          </a:prstGeom>
        </p:spPr>
        <p:txBody>
          <a:bodyPr lIns="0" tIns="0" rIns="0" bIns="0"/>
          <a:lstStyle>
            <a:lvl1pPr algn="l">
              <a:defRPr>
                <a:solidFill>
                  <a:schemeClr val="tx1">
                    <a:tint val="75000"/>
                  </a:schemeClr>
                </a:solidFill>
              </a:defRPr>
            </a:lvl1pPr>
          </a:lstStyle>
          <a:p>
            <a:pPr>
              <a:defRPr/>
            </a:pPr>
            <a:fld id="{1D8BD707-D9CF-40AE-B4C6-C98DA3205C09}" type="datetimeFigureOut">
              <a:rPr lang="en-US" smtClean="0">
                <a:solidFill>
                  <a:prstClr val="black">
                    <a:tint val="75000"/>
                  </a:prstClr>
                </a:solidFill>
              </a:rPr>
              <a:t>11/27/2025</a:t>
            </a:fld>
            <a:endParaRPr lang="en-US">
              <a:solidFill>
                <a:prstClr val="black">
                  <a:tint val="75000"/>
                </a:prstClr>
              </a:solidFill>
            </a:endParaRPr>
          </a:p>
        </p:txBody>
      </p:sp>
      <p:sp>
        <p:nvSpPr>
          <p:cNvPr id="4" name="Holder 4"/>
          <p:cNvSpPr>
            <a:spLocks noGrp="1"/>
          </p:cNvSpPr>
          <p:nvPr>
            <p:ph type="sldNum" sz="quarter" idx="7"/>
          </p:nvPr>
        </p:nvSpPr>
        <p:spPr>
          <a:xfrm>
            <a:off x="21807893" y="39807504"/>
            <a:ext cx="6966411" cy="2140190"/>
          </a:xfrm>
          <a:prstGeom prst="rect">
            <a:avLst/>
          </a:prstGeom>
        </p:spPr>
        <p:txBody>
          <a:bodyPr lIns="0" tIns="0" rIns="0" bIns="0"/>
          <a:lstStyle>
            <a:lvl1pPr algn="r">
              <a:defRPr>
                <a:solidFill>
                  <a:schemeClr val="tx1">
                    <a:tint val="75000"/>
                  </a:schemeClr>
                </a:solidFill>
              </a:defRPr>
            </a:lvl1pPr>
          </a:lstStyle>
          <a:p>
            <a:pPr>
              <a:defRPr/>
            </a:pPr>
            <a:fld id="{B6F15528-21DE-4FAA-801E-634DDDAF4B2B}" type="slidenum">
              <a:rPr lang="en-US" altLang="zh-CN" smtClean="0">
                <a:solidFill>
                  <a:prstClr val="black">
                    <a:tint val="75000"/>
                  </a:prstClr>
                </a:solidFill>
              </a:rPr>
              <a:t>‹#›</a:t>
            </a:fld>
            <a:endParaRPr lang="en-US" altLang="zh-CN">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a:latin typeface="+mj-lt"/>
          <a:ea typeface="+mj-ea"/>
          <a:cs typeface="+mj-cs"/>
        </a:defRPr>
      </a:lvl1pPr>
    </p:titleStyle>
    <p:bodyStyle>
      <a:lvl1pPr marL="0">
        <a:defRPr>
          <a:latin typeface="+mn-lt"/>
          <a:ea typeface="+mn-ea"/>
          <a:cs typeface="+mn-cs"/>
        </a:defRPr>
      </a:lvl1pPr>
      <a:lvl2pPr marL="972185">
        <a:defRPr>
          <a:latin typeface="+mn-lt"/>
          <a:ea typeface="+mn-ea"/>
          <a:cs typeface="+mn-cs"/>
        </a:defRPr>
      </a:lvl2pPr>
      <a:lvl3pPr marL="1944370">
        <a:defRPr>
          <a:latin typeface="+mn-lt"/>
          <a:ea typeface="+mn-ea"/>
          <a:cs typeface="+mn-cs"/>
        </a:defRPr>
      </a:lvl3pPr>
      <a:lvl4pPr marL="2917190">
        <a:defRPr>
          <a:latin typeface="+mn-lt"/>
          <a:ea typeface="+mn-ea"/>
          <a:cs typeface="+mn-cs"/>
        </a:defRPr>
      </a:lvl4pPr>
      <a:lvl5pPr marL="3889375">
        <a:defRPr>
          <a:latin typeface="+mn-lt"/>
          <a:ea typeface="+mn-ea"/>
          <a:cs typeface="+mn-cs"/>
        </a:defRPr>
      </a:lvl5pPr>
      <a:lvl6pPr marL="4861560">
        <a:defRPr>
          <a:latin typeface="+mn-lt"/>
          <a:ea typeface="+mn-ea"/>
          <a:cs typeface="+mn-cs"/>
        </a:defRPr>
      </a:lvl6pPr>
      <a:lvl7pPr marL="5833745">
        <a:defRPr>
          <a:latin typeface="+mn-lt"/>
          <a:ea typeface="+mn-ea"/>
          <a:cs typeface="+mn-cs"/>
        </a:defRPr>
      </a:lvl7pPr>
      <a:lvl8pPr marL="6805930">
        <a:defRPr>
          <a:latin typeface="+mn-lt"/>
          <a:ea typeface="+mn-ea"/>
          <a:cs typeface="+mn-cs"/>
        </a:defRPr>
      </a:lvl8pPr>
      <a:lvl9pPr marL="7778750">
        <a:defRPr>
          <a:latin typeface="+mn-lt"/>
          <a:ea typeface="+mn-ea"/>
          <a:cs typeface="+mn-cs"/>
        </a:defRPr>
      </a:lvl9pPr>
    </p:bodyStyle>
    <p:otherStyle>
      <a:lvl1pPr marL="0">
        <a:defRPr>
          <a:latin typeface="+mn-lt"/>
          <a:ea typeface="+mn-ea"/>
          <a:cs typeface="+mn-cs"/>
        </a:defRPr>
      </a:lvl1pPr>
      <a:lvl2pPr marL="972185">
        <a:defRPr>
          <a:latin typeface="+mn-lt"/>
          <a:ea typeface="+mn-ea"/>
          <a:cs typeface="+mn-cs"/>
        </a:defRPr>
      </a:lvl2pPr>
      <a:lvl3pPr marL="1944370">
        <a:defRPr>
          <a:latin typeface="+mn-lt"/>
          <a:ea typeface="+mn-ea"/>
          <a:cs typeface="+mn-cs"/>
        </a:defRPr>
      </a:lvl3pPr>
      <a:lvl4pPr marL="2917190">
        <a:defRPr>
          <a:latin typeface="+mn-lt"/>
          <a:ea typeface="+mn-ea"/>
          <a:cs typeface="+mn-cs"/>
        </a:defRPr>
      </a:lvl4pPr>
      <a:lvl5pPr marL="3889375">
        <a:defRPr>
          <a:latin typeface="+mn-lt"/>
          <a:ea typeface="+mn-ea"/>
          <a:cs typeface="+mn-cs"/>
        </a:defRPr>
      </a:lvl5pPr>
      <a:lvl6pPr marL="4861560">
        <a:defRPr>
          <a:latin typeface="+mn-lt"/>
          <a:ea typeface="+mn-ea"/>
          <a:cs typeface="+mn-cs"/>
        </a:defRPr>
      </a:lvl6pPr>
      <a:lvl7pPr marL="5833745">
        <a:defRPr>
          <a:latin typeface="+mn-lt"/>
          <a:ea typeface="+mn-ea"/>
          <a:cs typeface="+mn-cs"/>
        </a:defRPr>
      </a:lvl7pPr>
      <a:lvl8pPr marL="6805930">
        <a:defRPr>
          <a:latin typeface="+mn-lt"/>
          <a:ea typeface="+mn-ea"/>
          <a:cs typeface="+mn-cs"/>
        </a:defRPr>
      </a:lvl8pPr>
      <a:lvl9pPr marL="777875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18" Type="http://schemas.openxmlformats.org/officeDocument/2006/relationships/image" Target="../media/image14.png"/><Relationship Id="rId3" Type="http://schemas.openxmlformats.org/officeDocument/2006/relationships/slideLayout" Target="../slideLayouts/slideLayout1.xml"/><Relationship Id="rId21" Type="http://schemas.openxmlformats.org/officeDocument/2006/relationships/image" Target="../media/image17.png"/><Relationship Id="rId7" Type="http://schemas.openxmlformats.org/officeDocument/2006/relationships/image" Target="../media/image3.png"/><Relationship Id="rId12" Type="http://schemas.openxmlformats.org/officeDocument/2006/relationships/image" Target="../media/image8.png"/><Relationship Id="rId17" Type="http://schemas.openxmlformats.org/officeDocument/2006/relationships/image" Target="../media/image13.png"/><Relationship Id="rId2" Type="http://schemas.openxmlformats.org/officeDocument/2006/relationships/tags" Target="../tags/tag3.xml"/><Relationship Id="rId16" Type="http://schemas.openxmlformats.org/officeDocument/2006/relationships/image" Target="../media/image12.png"/><Relationship Id="rId20" Type="http://schemas.openxmlformats.org/officeDocument/2006/relationships/image" Target="../media/image16.png"/><Relationship Id="rId1" Type="http://schemas.openxmlformats.org/officeDocument/2006/relationships/tags" Target="../tags/tag2.xml"/><Relationship Id="rId6" Type="http://schemas.openxmlformats.org/officeDocument/2006/relationships/image" Target="../media/image2.png"/><Relationship Id="rId11" Type="http://schemas.openxmlformats.org/officeDocument/2006/relationships/image" Target="../media/image7.jpeg"/><Relationship Id="rId5" Type="http://schemas.openxmlformats.org/officeDocument/2006/relationships/image" Target="../media/image1.png"/><Relationship Id="rId15" Type="http://schemas.openxmlformats.org/officeDocument/2006/relationships/image" Target="../media/image11.png"/><Relationship Id="rId10" Type="http://schemas.openxmlformats.org/officeDocument/2006/relationships/image" Target="../media/image6.png"/><Relationship Id="rId19" Type="http://schemas.openxmlformats.org/officeDocument/2006/relationships/image" Target="../media/image15.png"/><Relationship Id="rId4" Type="http://schemas.openxmlformats.org/officeDocument/2006/relationships/notesSlide" Target="../notesSlides/notesSlide1.xml"/><Relationship Id="rId9" Type="http://schemas.openxmlformats.org/officeDocument/2006/relationships/image" Target="../media/image5.png"/><Relationship Id="rId1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圆角 19">
            <a:extLst>
              <a:ext uri="{FF2B5EF4-FFF2-40B4-BE49-F238E27FC236}">
                <a16:creationId xmlns:a16="http://schemas.microsoft.com/office/drawing/2014/main" id="{6DFE12FF-C084-E232-C3E5-818DD264E538}"/>
              </a:ext>
            </a:extLst>
          </p:cNvPr>
          <p:cNvSpPr/>
          <p:nvPr/>
        </p:nvSpPr>
        <p:spPr>
          <a:xfrm>
            <a:off x="3726297" y="993563"/>
            <a:ext cx="25938830" cy="3375639"/>
          </a:xfrm>
          <a:prstGeom prst="roundRect">
            <a:avLst/>
          </a:prstGeom>
          <a:solidFill>
            <a:srgbClr val="0150A8"/>
          </a:solidFill>
          <a:ln>
            <a:solidFill>
              <a:srgbClr val="0150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object 2"/>
          <p:cNvSpPr txBox="1"/>
          <p:nvPr/>
        </p:nvSpPr>
        <p:spPr>
          <a:xfrm>
            <a:off x="986729" y="5012282"/>
            <a:ext cx="28171677" cy="2097983"/>
          </a:xfrm>
          <a:prstGeom prst="rect">
            <a:avLst/>
          </a:prstGeom>
        </p:spPr>
        <p:txBody>
          <a:bodyPr vert="horz" wrap="square" lIns="0" tIns="50773" rIns="0" bIns="0" rtlCol="0">
            <a:spAutoFit/>
          </a:bodyPr>
          <a:lstStyle/>
          <a:p>
            <a:pPr marL="152400">
              <a:spcBef>
                <a:spcPts val="400"/>
              </a:spcBef>
              <a:spcAft>
                <a:spcPts val="600"/>
              </a:spcAft>
            </a:pPr>
            <a:r>
              <a:rPr lang="en-US" sz="3200" b="1" spc="-40" dirty="0">
                <a:solidFill>
                  <a:srgbClr val="0150A8"/>
                </a:solidFill>
                <a:latin typeface="Arial" panose="020B0604020202020204"/>
                <a:cs typeface="Arial" panose="020B0604020202020204"/>
              </a:rPr>
              <a:t>BACKGROUND and MOTIVATION</a:t>
            </a:r>
            <a:r>
              <a:rPr sz="3200" b="1" spc="-40" dirty="0">
                <a:solidFill>
                  <a:srgbClr val="0150A8"/>
                </a:solidFill>
                <a:latin typeface="Arial" panose="020B0604020202020204"/>
                <a:cs typeface="Arial" panose="020B0604020202020204"/>
              </a:rPr>
              <a:t>:</a:t>
            </a:r>
            <a:endParaRPr sz="3200" dirty="0">
              <a:solidFill>
                <a:srgbClr val="0150A8"/>
              </a:solidFill>
              <a:latin typeface="Arial" panose="020B0604020202020204"/>
              <a:cs typeface="Arial" panose="020B0604020202020204"/>
            </a:endParaRPr>
          </a:p>
          <a:p>
            <a:pPr marR="121920" algn="just"/>
            <a:r>
              <a:rPr lang="en-US" sz="3200" spc="-20" dirty="0">
                <a:latin typeface="Arial" panose="020B0604020202020204"/>
                <a:cs typeface="Arial" panose="020B0604020202020204"/>
              </a:rPr>
              <a:t>Breast cancer intrinsic subtyping is fundamental for precision treatment and prognosis. We developed UGES (Unified Genetic and Epigenetic Subtyping) [1], a DNA-level hierarchical classifier integrating somatic mutations, copy number aberrations and DNA methylation, addressing inconsistencies in expression-based methods such as PAM50. In this study, we report the performance and clinical utility of UGES using real-world multi-cohort data.</a:t>
            </a:r>
          </a:p>
        </p:txBody>
      </p:sp>
      <p:grpSp>
        <p:nvGrpSpPr>
          <p:cNvPr id="6" name="object 6"/>
          <p:cNvGrpSpPr/>
          <p:nvPr/>
        </p:nvGrpSpPr>
        <p:grpSpPr>
          <a:xfrm>
            <a:off x="647817" y="39945055"/>
            <a:ext cx="28893593" cy="2335626"/>
            <a:chOff x="89910" y="10003528"/>
            <a:chExt cx="7360920" cy="584200"/>
          </a:xfrm>
          <a:solidFill>
            <a:srgbClr val="0150A8"/>
          </a:solidFill>
        </p:grpSpPr>
        <p:sp>
          <p:nvSpPr>
            <p:cNvPr id="7" name="object 7"/>
            <p:cNvSpPr/>
            <p:nvPr/>
          </p:nvSpPr>
          <p:spPr>
            <a:xfrm>
              <a:off x="91434" y="10006576"/>
              <a:ext cx="7356475" cy="579120"/>
            </a:xfrm>
            <a:custGeom>
              <a:avLst/>
              <a:gdLst/>
              <a:ahLst/>
              <a:cxnLst/>
              <a:rect l="l" t="t" r="r" b="b"/>
              <a:pathLst>
                <a:path w="7356475" h="579120">
                  <a:moveTo>
                    <a:pt x="7260341" y="0"/>
                  </a:moveTo>
                  <a:lnTo>
                    <a:pt x="97535" y="0"/>
                  </a:lnTo>
                  <a:lnTo>
                    <a:pt x="59793" y="7500"/>
                  </a:lnTo>
                  <a:lnTo>
                    <a:pt x="28765" y="28003"/>
                  </a:lnTo>
                  <a:lnTo>
                    <a:pt x="7739" y="58507"/>
                  </a:lnTo>
                  <a:lnTo>
                    <a:pt x="0" y="96011"/>
                  </a:lnTo>
                  <a:lnTo>
                    <a:pt x="0" y="481583"/>
                  </a:lnTo>
                  <a:lnTo>
                    <a:pt x="7739" y="519326"/>
                  </a:lnTo>
                  <a:lnTo>
                    <a:pt x="28765" y="550354"/>
                  </a:lnTo>
                  <a:lnTo>
                    <a:pt x="59793" y="571381"/>
                  </a:lnTo>
                  <a:lnTo>
                    <a:pt x="97535" y="579120"/>
                  </a:lnTo>
                  <a:lnTo>
                    <a:pt x="7260341" y="579120"/>
                  </a:lnTo>
                  <a:lnTo>
                    <a:pt x="7297846" y="571381"/>
                  </a:lnTo>
                  <a:lnTo>
                    <a:pt x="7328350" y="550354"/>
                  </a:lnTo>
                  <a:lnTo>
                    <a:pt x="7348852" y="519326"/>
                  </a:lnTo>
                  <a:lnTo>
                    <a:pt x="7356353" y="481583"/>
                  </a:lnTo>
                  <a:lnTo>
                    <a:pt x="7356353" y="96011"/>
                  </a:lnTo>
                  <a:lnTo>
                    <a:pt x="7348852" y="58507"/>
                  </a:lnTo>
                  <a:lnTo>
                    <a:pt x="7328350" y="28003"/>
                  </a:lnTo>
                  <a:lnTo>
                    <a:pt x="7297846" y="7500"/>
                  </a:lnTo>
                  <a:lnTo>
                    <a:pt x="7260341" y="0"/>
                  </a:lnTo>
                  <a:close/>
                </a:path>
              </a:pathLst>
            </a:custGeom>
            <a:grpFill/>
          </p:spPr>
          <p:txBody>
            <a:bodyPr wrap="square" lIns="0" tIns="0" rIns="0" bIns="0" rtlCol="0"/>
            <a:lstStyle/>
            <a:p>
              <a:endParaRPr sz="7200"/>
            </a:p>
          </p:txBody>
        </p:sp>
        <p:sp>
          <p:nvSpPr>
            <p:cNvPr id="8" name="object 8"/>
            <p:cNvSpPr/>
            <p:nvPr/>
          </p:nvSpPr>
          <p:spPr>
            <a:xfrm>
              <a:off x="89910" y="10003528"/>
              <a:ext cx="7360920" cy="584200"/>
            </a:xfrm>
            <a:custGeom>
              <a:avLst/>
              <a:gdLst/>
              <a:ahLst/>
              <a:cxnLst/>
              <a:rect l="l" t="t" r="r" b="b"/>
              <a:pathLst>
                <a:path w="7360920" h="584200">
                  <a:moveTo>
                    <a:pt x="7272534" y="0"/>
                  </a:moveTo>
                  <a:lnTo>
                    <a:pt x="88391" y="0"/>
                  </a:lnTo>
                  <a:lnTo>
                    <a:pt x="77723" y="3048"/>
                  </a:lnTo>
                  <a:lnTo>
                    <a:pt x="68579" y="4572"/>
                  </a:lnTo>
                  <a:lnTo>
                    <a:pt x="59436" y="7620"/>
                  </a:lnTo>
                  <a:lnTo>
                    <a:pt x="51816" y="12192"/>
                  </a:lnTo>
                  <a:lnTo>
                    <a:pt x="42672" y="16764"/>
                  </a:lnTo>
                  <a:lnTo>
                    <a:pt x="35052" y="22860"/>
                  </a:lnTo>
                  <a:lnTo>
                    <a:pt x="21336" y="36576"/>
                  </a:lnTo>
                  <a:lnTo>
                    <a:pt x="16764" y="44196"/>
                  </a:lnTo>
                  <a:lnTo>
                    <a:pt x="10668" y="51816"/>
                  </a:lnTo>
                  <a:lnTo>
                    <a:pt x="1524" y="79248"/>
                  </a:lnTo>
                  <a:lnTo>
                    <a:pt x="0" y="89916"/>
                  </a:lnTo>
                  <a:lnTo>
                    <a:pt x="0" y="495300"/>
                  </a:lnTo>
                  <a:lnTo>
                    <a:pt x="1524" y="504444"/>
                  </a:lnTo>
                  <a:lnTo>
                    <a:pt x="4572" y="515112"/>
                  </a:lnTo>
                  <a:lnTo>
                    <a:pt x="7620" y="524256"/>
                  </a:lnTo>
                  <a:lnTo>
                    <a:pt x="12192" y="531876"/>
                  </a:lnTo>
                  <a:lnTo>
                    <a:pt x="16764" y="541020"/>
                  </a:lnTo>
                  <a:lnTo>
                    <a:pt x="22860" y="548640"/>
                  </a:lnTo>
                  <a:lnTo>
                    <a:pt x="35052" y="560832"/>
                  </a:lnTo>
                  <a:lnTo>
                    <a:pt x="42672" y="566928"/>
                  </a:lnTo>
                  <a:lnTo>
                    <a:pt x="51816" y="571500"/>
                  </a:lnTo>
                  <a:lnTo>
                    <a:pt x="59436" y="576072"/>
                  </a:lnTo>
                  <a:lnTo>
                    <a:pt x="68579" y="579120"/>
                  </a:lnTo>
                  <a:lnTo>
                    <a:pt x="79247" y="582168"/>
                  </a:lnTo>
                  <a:lnTo>
                    <a:pt x="88391" y="583692"/>
                  </a:lnTo>
                  <a:lnTo>
                    <a:pt x="7272534" y="583692"/>
                  </a:lnTo>
                  <a:lnTo>
                    <a:pt x="7281678" y="582168"/>
                  </a:lnTo>
                  <a:lnTo>
                    <a:pt x="7290822" y="579120"/>
                  </a:lnTo>
                  <a:lnTo>
                    <a:pt x="88391" y="579120"/>
                  </a:lnTo>
                  <a:lnTo>
                    <a:pt x="79247" y="577596"/>
                  </a:lnTo>
                  <a:lnTo>
                    <a:pt x="38100" y="557784"/>
                  </a:lnTo>
                  <a:lnTo>
                    <a:pt x="25908" y="544068"/>
                  </a:lnTo>
                  <a:lnTo>
                    <a:pt x="19812" y="537972"/>
                  </a:lnTo>
                  <a:lnTo>
                    <a:pt x="15240" y="530352"/>
                  </a:lnTo>
                  <a:lnTo>
                    <a:pt x="12192" y="521208"/>
                  </a:lnTo>
                  <a:lnTo>
                    <a:pt x="9144" y="513588"/>
                  </a:lnTo>
                  <a:lnTo>
                    <a:pt x="6096" y="504444"/>
                  </a:lnTo>
                  <a:lnTo>
                    <a:pt x="4572" y="493776"/>
                  </a:lnTo>
                  <a:lnTo>
                    <a:pt x="4572" y="89916"/>
                  </a:lnTo>
                  <a:lnTo>
                    <a:pt x="19812" y="45720"/>
                  </a:lnTo>
                  <a:lnTo>
                    <a:pt x="25908" y="39624"/>
                  </a:lnTo>
                  <a:lnTo>
                    <a:pt x="32004" y="32004"/>
                  </a:lnTo>
                  <a:lnTo>
                    <a:pt x="70103" y="9144"/>
                  </a:lnTo>
                  <a:lnTo>
                    <a:pt x="99059" y="4572"/>
                  </a:lnTo>
                  <a:lnTo>
                    <a:pt x="7290822" y="4572"/>
                  </a:lnTo>
                  <a:lnTo>
                    <a:pt x="7281678" y="1524"/>
                  </a:lnTo>
                  <a:lnTo>
                    <a:pt x="7272534" y="0"/>
                  </a:lnTo>
                  <a:close/>
                </a:path>
                <a:path w="7360920" h="584200">
                  <a:moveTo>
                    <a:pt x="7290822" y="4572"/>
                  </a:moveTo>
                  <a:lnTo>
                    <a:pt x="7261866" y="4572"/>
                  </a:lnTo>
                  <a:lnTo>
                    <a:pt x="7289298" y="9144"/>
                  </a:lnTo>
                  <a:lnTo>
                    <a:pt x="7298442" y="12192"/>
                  </a:lnTo>
                  <a:lnTo>
                    <a:pt x="7306062" y="16764"/>
                  </a:lnTo>
                  <a:lnTo>
                    <a:pt x="7315206" y="21336"/>
                  </a:lnTo>
                  <a:lnTo>
                    <a:pt x="7321302" y="25908"/>
                  </a:lnTo>
                  <a:lnTo>
                    <a:pt x="7348734" y="62484"/>
                  </a:lnTo>
                  <a:lnTo>
                    <a:pt x="7356354" y="99060"/>
                  </a:lnTo>
                  <a:lnTo>
                    <a:pt x="7356354" y="484632"/>
                  </a:lnTo>
                  <a:lnTo>
                    <a:pt x="7344162" y="530352"/>
                  </a:lnTo>
                  <a:lnTo>
                    <a:pt x="7313682" y="562356"/>
                  </a:lnTo>
                  <a:lnTo>
                    <a:pt x="7306062" y="568452"/>
                  </a:lnTo>
                  <a:lnTo>
                    <a:pt x="7298442" y="571500"/>
                  </a:lnTo>
                  <a:lnTo>
                    <a:pt x="7280154" y="577596"/>
                  </a:lnTo>
                  <a:lnTo>
                    <a:pt x="7271010" y="579120"/>
                  </a:lnTo>
                  <a:lnTo>
                    <a:pt x="7290822" y="579120"/>
                  </a:lnTo>
                  <a:lnTo>
                    <a:pt x="7331970" y="554736"/>
                  </a:lnTo>
                  <a:lnTo>
                    <a:pt x="7353306" y="522732"/>
                  </a:lnTo>
                  <a:lnTo>
                    <a:pt x="7360926" y="495300"/>
                  </a:lnTo>
                  <a:lnTo>
                    <a:pt x="7360926" y="88392"/>
                  </a:lnTo>
                  <a:lnTo>
                    <a:pt x="7357878" y="79248"/>
                  </a:lnTo>
                  <a:lnTo>
                    <a:pt x="7356354" y="70104"/>
                  </a:lnTo>
                  <a:lnTo>
                    <a:pt x="7331970" y="28956"/>
                  </a:lnTo>
                  <a:lnTo>
                    <a:pt x="7299966" y="7620"/>
                  </a:lnTo>
                  <a:lnTo>
                    <a:pt x="7290822" y="4572"/>
                  </a:lnTo>
                  <a:close/>
                </a:path>
              </a:pathLst>
            </a:custGeom>
            <a:grpFill/>
          </p:spPr>
          <p:txBody>
            <a:bodyPr wrap="square" lIns="0" tIns="0" rIns="0" bIns="0" rtlCol="0"/>
            <a:lstStyle/>
            <a:p>
              <a:endParaRPr sz="7200"/>
            </a:p>
          </p:txBody>
        </p:sp>
      </p:grpSp>
      <p:sp>
        <p:nvSpPr>
          <p:cNvPr id="9" name="object 9"/>
          <p:cNvSpPr txBox="1"/>
          <p:nvPr/>
        </p:nvSpPr>
        <p:spPr>
          <a:xfrm>
            <a:off x="3754351" y="849015"/>
            <a:ext cx="25327855" cy="2036266"/>
          </a:xfrm>
          <a:prstGeom prst="rect">
            <a:avLst/>
          </a:prstGeom>
        </p:spPr>
        <p:txBody>
          <a:bodyPr vert="horz" wrap="square" lIns="0" tIns="370653" rIns="0" bIns="0" rtlCol="0">
            <a:spAutoFit/>
          </a:bodyPr>
          <a:lstStyle/>
          <a:p>
            <a:pPr marL="388620" algn="ctr">
              <a:spcBef>
                <a:spcPts val="2920"/>
              </a:spcBef>
            </a:pPr>
            <a:r>
              <a:rPr lang="en-US" sz="5400" b="1" spc="-40" dirty="0">
                <a:solidFill>
                  <a:schemeClr val="bg1"/>
                </a:solidFill>
                <a:latin typeface="Arial" panose="020B0604020202020204"/>
                <a:cs typeface="Arial" panose="020B0604020202020204"/>
              </a:rPr>
              <a:t>Accurate breast cancer intrinsic subtyping using DNA-only biomarkers with applications to multi-cohorts</a:t>
            </a:r>
            <a:endParaRPr lang="en-US" sz="5400" dirty="0">
              <a:solidFill>
                <a:schemeClr val="bg1"/>
              </a:solidFill>
              <a:latin typeface="Arial" panose="020B0604020202020204"/>
              <a:cs typeface="Arial" panose="020B0604020202020204"/>
            </a:endParaRPr>
          </a:p>
        </p:txBody>
      </p:sp>
      <p:sp>
        <p:nvSpPr>
          <p:cNvPr id="11" name="object 11"/>
          <p:cNvSpPr txBox="1"/>
          <p:nvPr/>
        </p:nvSpPr>
        <p:spPr>
          <a:xfrm>
            <a:off x="9117806" y="2673505"/>
            <a:ext cx="16154400" cy="1456665"/>
          </a:xfrm>
          <a:prstGeom prst="rect">
            <a:avLst/>
          </a:prstGeom>
        </p:spPr>
        <p:txBody>
          <a:bodyPr vert="horz" wrap="square" lIns="0" tIns="284337" rIns="0" bIns="0" rtlCol="0">
            <a:spAutoFit/>
          </a:bodyPr>
          <a:lstStyle/>
          <a:p>
            <a:pPr marL="152400"/>
            <a:r>
              <a:rPr lang="en-US" sz="2800" b="1" spc="-40" dirty="0">
                <a:solidFill>
                  <a:schemeClr val="bg1"/>
                </a:solidFill>
                <a:latin typeface="Arial" panose="020B0604020202020204"/>
                <a:cs typeface="Arial" panose="020B0604020202020204"/>
              </a:rPr>
              <a:t>Xintong Chang¹, </a:t>
            </a:r>
            <a:r>
              <a:rPr lang="en-US" sz="2800" b="1" spc="-40" dirty="0" err="1">
                <a:solidFill>
                  <a:schemeClr val="bg1"/>
                </a:solidFill>
                <a:latin typeface="Arial" panose="020B0604020202020204"/>
                <a:cs typeface="Arial" panose="020B0604020202020204"/>
              </a:rPr>
              <a:t>Linping</a:t>
            </a:r>
            <a:r>
              <a:rPr lang="en-US" sz="2800" b="1" spc="-40" dirty="0">
                <a:solidFill>
                  <a:schemeClr val="bg1"/>
                </a:solidFill>
                <a:latin typeface="Arial" panose="020B0604020202020204"/>
                <a:cs typeface="Arial" panose="020B0604020202020204"/>
              </a:rPr>
              <a:t> Wang¹, Hongyu Duan¹, Li C. Xia¹*</a:t>
            </a:r>
          </a:p>
          <a:p>
            <a:pPr marL="152400">
              <a:tabLst>
                <a:tab pos="608965" algn="l"/>
              </a:tabLst>
            </a:pPr>
            <a:r>
              <a:rPr lang="en-US" sz="2400" b="1" i="1" dirty="0">
                <a:solidFill>
                  <a:schemeClr val="bg1"/>
                </a:solidFill>
                <a:latin typeface="Arial" panose="020B0604020202020204"/>
                <a:cs typeface="Arial" panose="020B0604020202020204"/>
              </a:rPr>
              <a:t>¹School of Mathematics, South China University of Technology, Guangzhou 510000, Guangdong, China</a:t>
            </a:r>
          </a:p>
          <a:p>
            <a:pPr marL="152400">
              <a:tabLst>
                <a:tab pos="608965" algn="l"/>
              </a:tabLst>
            </a:pPr>
            <a:r>
              <a:rPr lang="en-US" sz="2400" b="1" i="1" dirty="0">
                <a:solidFill>
                  <a:schemeClr val="bg1"/>
                </a:solidFill>
                <a:latin typeface="Arial" panose="020B0604020202020204"/>
                <a:cs typeface="Arial" panose="020B0604020202020204"/>
              </a:rPr>
              <a:t>Email: </a:t>
            </a:r>
            <a:r>
              <a:rPr lang="en-US" sz="2400" b="1" i="1" dirty="0">
                <a:solidFill>
                  <a:srgbClr val="C00000"/>
                </a:solidFill>
                <a:latin typeface="Arial" panose="020B0604020202020204"/>
                <a:cs typeface="Arial" panose="020B0604020202020204"/>
              </a:rPr>
              <a:t>lcxia@scut.edu.cn </a:t>
            </a:r>
          </a:p>
        </p:txBody>
      </p:sp>
      <p:sp>
        <p:nvSpPr>
          <p:cNvPr id="12" name="object 12"/>
          <p:cNvSpPr/>
          <p:nvPr/>
        </p:nvSpPr>
        <p:spPr>
          <a:xfrm>
            <a:off x="647816" y="7701586"/>
            <a:ext cx="14277684" cy="15522211"/>
          </a:xfrm>
          <a:custGeom>
            <a:avLst/>
            <a:gdLst/>
            <a:ahLst/>
            <a:cxnLst/>
            <a:rect l="l" t="t" r="r" b="b"/>
            <a:pathLst>
              <a:path w="3610610" h="6967855">
                <a:moveTo>
                  <a:pt x="3392430" y="0"/>
                </a:moveTo>
                <a:lnTo>
                  <a:pt x="216407" y="0"/>
                </a:lnTo>
                <a:lnTo>
                  <a:pt x="193547" y="1524"/>
                </a:lnTo>
                <a:lnTo>
                  <a:pt x="152399" y="10668"/>
                </a:lnTo>
                <a:lnTo>
                  <a:pt x="112775" y="27432"/>
                </a:lnTo>
                <a:lnTo>
                  <a:pt x="77723" y="50292"/>
                </a:lnTo>
                <a:lnTo>
                  <a:pt x="48767" y="80772"/>
                </a:lnTo>
                <a:lnTo>
                  <a:pt x="25908" y="114300"/>
                </a:lnTo>
                <a:lnTo>
                  <a:pt x="9144" y="153924"/>
                </a:lnTo>
                <a:lnTo>
                  <a:pt x="0" y="196596"/>
                </a:lnTo>
                <a:lnTo>
                  <a:pt x="0" y="6772653"/>
                </a:lnTo>
                <a:lnTo>
                  <a:pt x="9144" y="6815325"/>
                </a:lnTo>
                <a:lnTo>
                  <a:pt x="25908" y="6854949"/>
                </a:lnTo>
                <a:lnTo>
                  <a:pt x="48767" y="6888477"/>
                </a:lnTo>
                <a:lnTo>
                  <a:pt x="79247" y="6918957"/>
                </a:lnTo>
                <a:lnTo>
                  <a:pt x="112775" y="6941817"/>
                </a:lnTo>
                <a:lnTo>
                  <a:pt x="152399" y="6958581"/>
                </a:lnTo>
                <a:lnTo>
                  <a:pt x="195071" y="6967725"/>
                </a:lnTo>
                <a:lnTo>
                  <a:pt x="3393954" y="6967725"/>
                </a:lnTo>
                <a:lnTo>
                  <a:pt x="3415290" y="6966201"/>
                </a:lnTo>
                <a:lnTo>
                  <a:pt x="3436626" y="6963153"/>
                </a:lnTo>
                <a:lnTo>
                  <a:pt x="3457962" y="6958581"/>
                </a:lnTo>
                <a:lnTo>
                  <a:pt x="3469849" y="6954009"/>
                </a:lnTo>
                <a:lnTo>
                  <a:pt x="216407" y="6954009"/>
                </a:lnTo>
                <a:lnTo>
                  <a:pt x="195071" y="6952485"/>
                </a:lnTo>
                <a:lnTo>
                  <a:pt x="155447" y="6944865"/>
                </a:lnTo>
                <a:lnTo>
                  <a:pt x="118871" y="6929625"/>
                </a:lnTo>
                <a:lnTo>
                  <a:pt x="86867" y="6906765"/>
                </a:lnTo>
                <a:lnTo>
                  <a:pt x="59435" y="6879333"/>
                </a:lnTo>
                <a:lnTo>
                  <a:pt x="38100" y="6847329"/>
                </a:lnTo>
                <a:lnTo>
                  <a:pt x="22860" y="6810753"/>
                </a:lnTo>
                <a:lnTo>
                  <a:pt x="15240" y="6771129"/>
                </a:lnTo>
                <a:lnTo>
                  <a:pt x="13716" y="217932"/>
                </a:lnTo>
                <a:lnTo>
                  <a:pt x="15240" y="196596"/>
                </a:lnTo>
                <a:lnTo>
                  <a:pt x="22860" y="156972"/>
                </a:lnTo>
                <a:lnTo>
                  <a:pt x="38100" y="120396"/>
                </a:lnTo>
                <a:lnTo>
                  <a:pt x="59435" y="88392"/>
                </a:lnTo>
                <a:lnTo>
                  <a:pt x="88391" y="60960"/>
                </a:lnTo>
                <a:lnTo>
                  <a:pt x="120395" y="39624"/>
                </a:lnTo>
                <a:lnTo>
                  <a:pt x="156971" y="24384"/>
                </a:lnTo>
                <a:lnTo>
                  <a:pt x="196595" y="15240"/>
                </a:lnTo>
                <a:lnTo>
                  <a:pt x="3469239" y="15240"/>
                </a:lnTo>
                <a:lnTo>
                  <a:pt x="3456438" y="10668"/>
                </a:lnTo>
                <a:lnTo>
                  <a:pt x="3436626" y="4572"/>
                </a:lnTo>
                <a:lnTo>
                  <a:pt x="3415290" y="1524"/>
                </a:lnTo>
                <a:lnTo>
                  <a:pt x="3392430" y="0"/>
                </a:lnTo>
                <a:close/>
              </a:path>
              <a:path w="3610610" h="6967855">
                <a:moveTo>
                  <a:pt x="3469239" y="15240"/>
                </a:moveTo>
                <a:lnTo>
                  <a:pt x="3392430" y="15240"/>
                </a:lnTo>
                <a:lnTo>
                  <a:pt x="3413766" y="16764"/>
                </a:lnTo>
                <a:lnTo>
                  <a:pt x="3433578" y="19812"/>
                </a:lnTo>
                <a:lnTo>
                  <a:pt x="3471678" y="30480"/>
                </a:lnTo>
                <a:lnTo>
                  <a:pt x="3506730" y="50292"/>
                </a:lnTo>
                <a:lnTo>
                  <a:pt x="3537210" y="74676"/>
                </a:lnTo>
                <a:lnTo>
                  <a:pt x="3561594" y="105156"/>
                </a:lnTo>
                <a:lnTo>
                  <a:pt x="3579882" y="138684"/>
                </a:lnTo>
                <a:lnTo>
                  <a:pt x="3592074" y="176784"/>
                </a:lnTo>
                <a:lnTo>
                  <a:pt x="3596646" y="217932"/>
                </a:lnTo>
                <a:lnTo>
                  <a:pt x="3596646" y="6751320"/>
                </a:lnTo>
                <a:lnTo>
                  <a:pt x="3592074" y="6792465"/>
                </a:lnTo>
                <a:lnTo>
                  <a:pt x="3579882" y="6830565"/>
                </a:lnTo>
                <a:lnTo>
                  <a:pt x="3561594" y="6864093"/>
                </a:lnTo>
                <a:lnTo>
                  <a:pt x="3521970" y="6908289"/>
                </a:lnTo>
                <a:lnTo>
                  <a:pt x="3489966" y="6929625"/>
                </a:lnTo>
                <a:lnTo>
                  <a:pt x="3453390" y="6944865"/>
                </a:lnTo>
                <a:lnTo>
                  <a:pt x="3413766" y="6952485"/>
                </a:lnTo>
                <a:lnTo>
                  <a:pt x="3392430" y="6954009"/>
                </a:lnTo>
                <a:lnTo>
                  <a:pt x="3469849" y="6954009"/>
                </a:lnTo>
                <a:lnTo>
                  <a:pt x="3514350" y="6931149"/>
                </a:lnTo>
                <a:lnTo>
                  <a:pt x="3546354" y="6903717"/>
                </a:lnTo>
                <a:lnTo>
                  <a:pt x="3573786" y="6871713"/>
                </a:lnTo>
                <a:lnTo>
                  <a:pt x="3593598" y="6835137"/>
                </a:lnTo>
                <a:lnTo>
                  <a:pt x="3605790" y="6793989"/>
                </a:lnTo>
                <a:lnTo>
                  <a:pt x="3610362" y="6751320"/>
                </a:lnTo>
                <a:lnTo>
                  <a:pt x="3610362" y="217932"/>
                </a:lnTo>
                <a:lnTo>
                  <a:pt x="3605790" y="173736"/>
                </a:lnTo>
                <a:lnTo>
                  <a:pt x="3593598" y="132588"/>
                </a:lnTo>
                <a:lnTo>
                  <a:pt x="3572262" y="96012"/>
                </a:lnTo>
                <a:lnTo>
                  <a:pt x="3546354" y="64008"/>
                </a:lnTo>
                <a:lnTo>
                  <a:pt x="3514350" y="38100"/>
                </a:lnTo>
                <a:lnTo>
                  <a:pt x="3477774" y="18288"/>
                </a:lnTo>
                <a:lnTo>
                  <a:pt x="3469239" y="15240"/>
                </a:lnTo>
                <a:close/>
              </a:path>
            </a:pathLst>
          </a:custGeom>
          <a:solidFill>
            <a:srgbClr val="0150A8"/>
          </a:solidFill>
          <a:ln>
            <a:solidFill>
              <a:srgbClr val="0150A8"/>
            </a:solidFill>
          </a:ln>
        </p:spPr>
        <p:txBody>
          <a:bodyPr wrap="square" lIns="0" tIns="0" rIns="0" bIns="0" rtlCol="0"/>
          <a:lstStyle/>
          <a:p>
            <a:endParaRPr sz="7200"/>
          </a:p>
        </p:txBody>
      </p:sp>
      <p:sp>
        <p:nvSpPr>
          <p:cNvPr id="13" name="object 13"/>
          <p:cNvSpPr txBox="1"/>
          <p:nvPr/>
        </p:nvSpPr>
        <p:spPr>
          <a:xfrm>
            <a:off x="986729" y="7609681"/>
            <a:ext cx="2548878" cy="859041"/>
          </a:xfrm>
          <a:prstGeom prst="rect">
            <a:avLst/>
          </a:prstGeom>
        </p:spPr>
        <p:txBody>
          <a:bodyPr vert="horz" wrap="square" lIns="0" tIns="332573" rIns="0" bIns="0" rtlCol="0">
            <a:spAutoFit/>
          </a:bodyPr>
          <a:lstStyle/>
          <a:p>
            <a:pPr marL="304800">
              <a:spcBef>
                <a:spcPts val="2620"/>
              </a:spcBef>
            </a:pPr>
            <a:r>
              <a:rPr lang="en-US" sz="3200" b="1" spc="40" dirty="0">
                <a:solidFill>
                  <a:srgbClr val="0150A8"/>
                </a:solidFill>
                <a:latin typeface="Arial" panose="020B0604020202020204"/>
                <a:cs typeface="Arial" panose="020B0604020202020204"/>
              </a:rPr>
              <a:t>DATA</a:t>
            </a:r>
            <a:r>
              <a:rPr sz="3400" b="1" spc="20" dirty="0">
                <a:solidFill>
                  <a:srgbClr val="0150A8"/>
                </a:solidFill>
                <a:latin typeface="Arial" panose="020B0604020202020204"/>
                <a:cs typeface="Arial" panose="020B0604020202020204"/>
              </a:rPr>
              <a:t>:</a:t>
            </a:r>
            <a:endParaRPr sz="3400" dirty="0">
              <a:solidFill>
                <a:srgbClr val="0150A8"/>
              </a:solidFill>
              <a:latin typeface="Arial" panose="020B0604020202020204"/>
              <a:cs typeface="Arial" panose="020B0604020202020204"/>
            </a:endParaRPr>
          </a:p>
        </p:txBody>
      </p:sp>
      <p:sp>
        <p:nvSpPr>
          <p:cNvPr id="14" name="object 14"/>
          <p:cNvSpPr txBox="1"/>
          <p:nvPr/>
        </p:nvSpPr>
        <p:spPr>
          <a:xfrm>
            <a:off x="1112071" y="37686587"/>
            <a:ext cx="28808335" cy="1774694"/>
          </a:xfrm>
          <a:prstGeom prst="rect">
            <a:avLst/>
          </a:prstGeom>
        </p:spPr>
        <p:txBody>
          <a:bodyPr vert="horz" wrap="square" lIns="0" tIns="294491" rIns="0" bIns="0" rtlCol="0">
            <a:spAutoFit/>
          </a:bodyPr>
          <a:lstStyle/>
          <a:p>
            <a:r>
              <a:rPr sz="3200" b="1" spc="-20" dirty="0">
                <a:solidFill>
                  <a:srgbClr val="0150A8"/>
                </a:solidFill>
                <a:latin typeface="Arial" panose="020B0604020202020204"/>
                <a:cs typeface="Arial" panose="020B0604020202020204"/>
              </a:rPr>
              <a:t>CONCLUSION</a:t>
            </a:r>
            <a:r>
              <a:rPr sz="3200" b="1" spc="-119" dirty="0">
                <a:solidFill>
                  <a:srgbClr val="0150A8"/>
                </a:solidFill>
                <a:latin typeface="Arial" panose="020B0604020202020204"/>
                <a:cs typeface="Arial" panose="020B0604020202020204"/>
              </a:rPr>
              <a:t> </a:t>
            </a:r>
            <a:r>
              <a:rPr sz="3200" b="1" dirty="0">
                <a:solidFill>
                  <a:srgbClr val="0150A8"/>
                </a:solidFill>
                <a:latin typeface="Arial" panose="020B0604020202020204"/>
                <a:cs typeface="Arial" panose="020B0604020202020204"/>
              </a:rPr>
              <a:t>:</a:t>
            </a:r>
            <a:endParaRPr sz="3200" dirty="0">
              <a:solidFill>
                <a:srgbClr val="0150A8"/>
              </a:solidFill>
              <a:latin typeface="Arial" panose="020B0604020202020204"/>
              <a:cs typeface="Arial" panose="020B0604020202020204"/>
            </a:endParaRPr>
          </a:p>
          <a:p>
            <a:pPr marR="20320"/>
            <a:r>
              <a:rPr lang="en-US" sz="3200" spc="-20" dirty="0">
                <a:latin typeface="Arial" panose="020B0604020202020204"/>
                <a:cs typeface="Arial" panose="020B0604020202020204"/>
              </a:rPr>
              <a:t>UGES provides a robust and clinically applicable framework for multi-cohort breast cancer subtyping.</a:t>
            </a:r>
          </a:p>
          <a:p>
            <a:pPr marR="20320"/>
            <a:r>
              <a:rPr lang="en-US" sz="3200" spc="-20" dirty="0">
                <a:latin typeface="Arial" panose="020B0604020202020204"/>
                <a:cs typeface="Arial" panose="020B0604020202020204"/>
              </a:rPr>
              <a:t>UGES is freely available at: https://ieeexplore.ieee.org/abstract/document/11176992.</a:t>
            </a:r>
            <a:endParaRPr sz="3200" dirty="0">
              <a:latin typeface="Arial" panose="020B0604020202020204"/>
              <a:cs typeface="Arial" panose="020B0604020202020204"/>
            </a:endParaRPr>
          </a:p>
        </p:txBody>
      </p:sp>
      <p:sp>
        <p:nvSpPr>
          <p:cNvPr id="15" name="object 15"/>
          <p:cNvSpPr/>
          <p:nvPr/>
        </p:nvSpPr>
        <p:spPr>
          <a:xfrm>
            <a:off x="647817" y="37662634"/>
            <a:ext cx="28893593" cy="2044751"/>
          </a:xfrm>
          <a:custGeom>
            <a:avLst/>
            <a:gdLst/>
            <a:ahLst/>
            <a:cxnLst/>
            <a:rect l="l" t="t" r="r" b="b"/>
            <a:pathLst>
              <a:path w="7379334" h="520065">
                <a:moveTo>
                  <a:pt x="7287774" y="0"/>
                </a:moveTo>
                <a:lnTo>
                  <a:pt x="89915" y="0"/>
                </a:lnTo>
                <a:lnTo>
                  <a:pt x="62484" y="4572"/>
                </a:lnTo>
                <a:lnTo>
                  <a:pt x="19812" y="33528"/>
                </a:lnTo>
                <a:lnTo>
                  <a:pt x="1524" y="74676"/>
                </a:lnTo>
                <a:lnTo>
                  <a:pt x="0" y="82296"/>
                </a:lnTo>
                <a:lnTo>
                  <a:pt x="0" y="438912"/>
                </a:lnTo>
                <a:lnTo>
                  <a:pt x="1524" y="448056"/>
                </a:lnTo>
                <a:lnTo>
                  <a:pt x="19812" y="487680"/>
                </a:lnTo>
                <a:lnTo>
                  <a:pt x="54864" y="513588"/>
                </a:lnTo>
                <a:lnTo>
                  <a:pt x="82295" y="519684"/>
                </a:lnTo>
                <a:lnTo>
                  <a:pt x="7298442" y="519684"/>
                </a:lnTo>
                <a:lnTo>
                  <a:pt x="7307586" y="518160"/>
                </a:lnTo>
                <a:lnTo>
                  <a:pt x="7315206" y="515112"/>
                </a:lnTo>
                <a:lnTo>
                  <a:pt x="7324350" y="512064"/>
                </a:lnTo>
                <a:lnTo>
                  <a:pt x="7331970" y="509016"/>
                </a:lnTo>
                <a:lnTo>
                  <a:pt x="7337050" y="505968"/>
                </a:lnTo>
                <a:lnTo>
                  <a:pt x="82295" y="505968"/>
                </a:lnTo>
                <a:lnTo>
                  <a:pt x="74675" y="504444"/>
                </a:lnTo>
                <a:lnTo>
                  <a:pt x="67056" y="501396"/>
                </a:lnTo>
                <a:lnTo>
                  <a:pt x="60960" y="499872"/>
                </a:lnTo>
                <a:lnTo>
                  <a:pt x="53340" y="496824"/>
                </a:lnTo>
                <a:lnTo>
                  <a:pt x="19812" y="458724"/>
                </a:lnTo>
                <a:lnTo>
                  <a:pt x="13716" y="435864"/>
                </a:lnTo>
                <a:lnTo>
                  <a:pt x="13716" y="83820"/>
                </a:lnTo>
                <a:lnTo>
                  <a:pt x="16764" y="68580"/>
                </a:lnTo>
                <a:lnTo>
                  <a:pt x="19812" y="62484"/>
                </a:lnTo>
                <a:lnTo>
                  <a:pt x="22860" y="54864"/>
                </a:lnTo>
                <a:lnTo>
                  <a:pt x="36576" y="36576"/>
                </a:lnTo>
                <a:lnTo>
                  <a:pt x="42672" y="32004"/>
                </a:lnTo>
                <a:lnTo>
                  <a:pt x="47244" y="27432"/>
                </a:lnTo>
                <a:lnTo>
                  <a:pt x="54864" y="24384"/>
                </a:lnTo>
                <a:lnTo>
                  <a:pt x="60960" y="21336"/>
                </a:lnTo>
                <a:lnTo>
                  <a:pt x="68579" y="18288"/>
                </a:lnTo>
                <a:lnTo>
                  <a:pt x="83819" y="15240"/>
                </a:lnTo>
                <a:lnTo>
                  <a:pt x="7337050" y="15240"/>
                </a:lnTo>
                <a:lnTo>
                  <a:pt x="7331970" y="12192"/>
                </a:lnTo>
                <a:lnTo>
                  <a:pt x="7322826" y="7620"/>
                </a:lnTo>
                <a:lnTo>
                  <a:pt x="7315206" y="4572"/>
                </a:lnTo>
                <a:lnTo>
                  <a:pt x="7287774" y="0"/>
                </a:lnTo>
                <a:close/>
              </a:path>
              <a:path w="7379334" h="520065">
                <a:moveTo>
                  <a:pt x="7337050" y="15240"/>
                </a:moveTo>
                <a:lnTo>
                  <a:pt x="7296918" y="15240"/>
                </a:lnTo>
                <a:lnTo>
                  <a:pt x="7312158" y="18288"/>
                </a:lnTo>
                <a:lnTo>
                  <a:pt x="7318254" y="21336"/>
                </a:lnTo>
                <a:lnTo>
                  <a:pt x="7356354" y="54864"/>
                </a:lnTo>
                <a:lnTo>
                  <a:pt x="7365498" y="83820"/>
                </a:lnTo>
                <a:lnTo>
                  <a:pt x="7365498" y="437388"/>
                </a:lnTo>
                <a:lnTo>
                  <a:pt x="7362450" y="452628"/>
                </a:lnTo>
                <a:lnTo>
                  <a:pt x="7359402" y="458724"/>
                </a:lnTo>
                <a:lnTo>
                  <a:pt x="7356354" y="466344"/>
                </a:lnTo>
                <a:lnTo>
                  <a:pt x="7324350" y="496824"/>
                </a:lnTo>
                <a:lnTo>
                  <a:pt x="7295394" y="505968"/>
                </a:lnTo>
                <a:lnTo>
                  <a:pt x="7337050" y="505968"/>
                </a:lnTo>
                <a:lnTo>
                  <a:pt x="7368546" y="472440"/>
                </a:lnTo>
                <a:lnTo>
                  <a:pt x="7379214" y="437388"/>
                </a:lnTo>
                <a:lnTo>
                  <a:pt x="7379214" y="82296"/>
                </a:lnTo>
                <a:lnTo>
                  <a:pt x="7363974" y="41148"/>
                </a:lnTo>
                <a:lnTo>
                  <a:pt x="7357878" y="33528"/>
                </a:lnTo>
                <a:lnTo>
                  <a:pt x="7353306" y="27432"/>
                </a:lnTo>
                <a:lnTo>
                  <a:pt x="7345686" y="21336"/>
                </a:lnTo>
                <a:lnTo>
                  <a:pt x="7339590" y="16764"/>
                </a:lnTo>
                <a:lnTo>
                  <a:pt x="7337050" y="15240"/>
                </a:lnTo>
                <a:close/>
              </a:path>
            </a:pathLst>
          </a:custGeom>
          <a:solidFill>
            <a:srgbClr val="0150A8"/>
          </a:solidFill>
          <a:ln>
            <a:solidFill>
              <a:srgbClr val="0150A8"/>
            </a:solidFill>
          </a:ln>
        </p:spPr>
        <p:txBody>
          <a:bodyPr wrap="square" lIns="0" tIns="0" rIns="0" bIns="0" rtlCol="0"/>
          <a:lstStyle/>
          <a:p>
            <a:endParaRPr sz="7200"/>
          </a:p>
        </p:txBody>
      </p:sp>
      <p:sp>
        <p:nvSpPr>
          <p:cNvPr id="16" name="object 16"/>
          <p:cNvSpPr/>
          <p:nvPr/>
        </p:nvSpPr>
        <p:spPr>
          <a:xfrm>
            <a:off x="15179254" y="7673819"/>
            <a:ext cx="14362156" cy="29690149"/>
          </a:xfrm>
          <a:custGeom>
            <a:avLst/>
            <a:gdLst/>
            <a:ahLst/>
            <a:cxnLst/>
            <a:rect l="l" t="t" r="r" b="b"/>
            <a:pathLst>
              <a:path w="3676015" h="6967855">
                <a:moveTo>
                  <a:pt x="3454908" y="0"/>
                </a:moveTo>
                <a:lnTo>
                  <a:pt x="220980" y="0"/>
                </a:lnTo>
                <a:lnTo>
                  <a:pt x="198120" y="1524"/>
                </a:lnTo>
                <a:lnTo>
                  <a:pt x="155448" y="10668"/>
                </a:lnTo>
                <a:lnTo>
                  <a:pt x="115824" y="27432"/>
                </a:lnTo>
                <a:lnTo>
                  <a:pt x="80772" y="51816"/>
                </a:lnTo>
                <a:lnTo>
                  <a:pt x="50292" y="80772"/>
                </a:lnTo>
                <a:lnTo>
                  <a:pt x="27432" y="117348"/>
                </a:lnTo>
                <a:lnTo>
                  <a:pt x="10668" y="156972"/>
                </a:lnTo>
                <a:lnTo>
                  <a:pt x="1524" y="199644"/>
                </a:lnTo>
                <a:lnTo>
                  <a:pt x="0" y="6746748"/>
                </a:lnTo>
                <a:lnTo>
                  <a:pt x="1524" y="6769605"/>
                </a:lnTo>
                <a:lnTo>
                  <a:pt x="10668" y="6812277"/>
                </a:lnTo>
                <a:lnTo>
                  <a:pt x="27432" y="6851901"/>
                </a:lnTo>
                <a:lnTo>
                  <a:pt x="51816" y="6888477"/>
                </a:lnTo>
                <a:lnTo>
                  <a:pt x="80772" y="6917433"/>
                </a:lnTo>
                <a:lnTo>
                  <a:pt x="115824" y="6941817"/>
                </a:lnTo>
                <a:lnTo>
                  <a:pt x="155448" y="6958581"/>
                </a:lnTo>
                <a:lnTo>
                  <a:pt x="199644" y="6966201"/>
                </a:lnTo>
                <a:lnTo>
                  <a:pt x="220980" y="6967725"/>
                </a:lnTo>
                <a:lnTo>
                  <a:pt x="3454908" y="6967725"/>
                </a:lnTo>
                <a:lnTo>
                  <a:pt x="3477768" y="6966201"/>
                </a:lnTo>
                <a:lnTo>
                  <a:pt x="3500628" y="6963153"/>
                </a:lnTo>
                <a:lnTo>
                  <a:pt x="3521964" y="6958581"/>
                </a:lnTo>
                <a:lnTo>
                  <a:pt x="3533851" y="6954009"/>
                </a:lnTo>
                <a:lnTo>
                  <a:pt x="220980" y="6954009"/>
                </a:lnTo>
                <a:lnTo>
                  <a:pt x="199644" y="6952485"/>
                </a:lnTo>
                <a:lnTo>
                  <a:pt x="160020" y="6944865"/>
                </a:lnTo>
                <a:lnTo>
                  <a:pt x="121920" y="6928101"/>
                </a:lnTo>
                <a:lnTo>
                  <a:pt x="89916" y="6906765"/>
                </a:lnTo>
                <a:lnTo>
                  <a:pt x="60960" y="6877809"/>
                </a:lnTo>
                <a:lnTo>
                  <a:pt x="39624" y="6845805"/>
                </a:lnTo>
                <a:lnTo>
                  <a:pt x="18288" y="6787893"/>
                </a:lnTo>
                <a:lnTo>
                  <a:pt x="15240" y="6768081"/>
                </a:lnTo>
                <a:lnTo>
                  <a:pt x="15240" y="199644"/>
                </a:lnTo>
                <a:lnTo>
                  <a:pt x="24384" y="160020"/>
                </a:lnTo>
                <a:lnTo>
                  <a:pt x="39624" y="123444"/>
                </a:lnTo>
                <a:lnTo>
                  <a:pt x="62484" y="89916"/>
                </a:lnTo>
                <a:lnTo>
                  <a:pt x="89916" y="62484"/>
                </a:lnTo>
                <a:lnTo>
                  <a:pt x="123444" y="39624"/>
                </a:lnTo>
                <a:lnTo>
                  <a:pt x="160020" y="24384"/>
                </a:lnTo>
                <a:lnTo>
                  <a:pt x="201168" y="16764"/>
                </a:lnTo>
                <a:lnTo>
                  <a:pt x="222504" y="15240"/>
                </a:lnTo>
                <a:lnTo>
                  <a:pt x="3532327" y="15240"/>
                </a:lnTo>
                <a:lnTo>
                  <a:pt x="3520440" y="10668"/>
                </a:lnTo>
                <a:lnTo>
                  <a:pt x="3499104" y="4572"/>
                </a:lnTo>
                <a:lnTo>
                  <a:pt x="3477768" y="1524"/>
                </a:lnTo>
                <a:lnTo>
                  <a:pt x="3454908" y="0"/>
                </a:lnTo>
                <a:close/>
              </a:path>
              <a:path w="3676015" h="6967855">
                <a:moveTo>
                  <a:pt x="3532327" y="15240"/>
                </a:moveTo>
                <a:lnTo>
                  <a:pt x="3454908" y="15240"/>
                </a:lnTo>
                <a:lnTo>
                  <a:pt x="3476244" y="16764"/>
                </a:lnTo>
                <a:lnTo>
                  <a:pt x="3497580" y="19812"/>
                </a:lnTo>
                <a:lnTo>
                  <a:pt x="3553968" y="39624"/>
                </a:lnTo>
                <a:lnTo>
                  <a:pt x="3587496" y="62484"/>
                </a:lnTo>
                <a:lnTo>
                  <a:pt x="3614928" y="89916"/>
                </a:lnTo>
                <a:lnTo>
                  <a:pt x="3637788" y="123444"/>
                </a:lnTo>
                <a:lnTo>
                  <a:pt x="3653028" y="160020"/>
                </a:lnTo>
                <a:lnTo>
                  <a:pt x="3660648" y="201168"/>
                </a:lnTo>
                <a:lnTo>
                  <a:pt x="3662172" y="6746748"/>
                </a:lnTo>
                <a:lnTo>
                  <a:pt x="3660648" y="6768081"/>
                </a:lnTo>
                <a:lnTo>
                  <a:pt x="3653028" y="6809229"/>
                </a:lnTo>
                <a:lnTo>
                  <a:pt x="3636264" y="6845805"/>
                </a:lnTo>
                <a:lnTo>
                  <a:pt x="3614928" y="6879333"/>
                </a:lnTo>
                <a:lnTo>
                  <a:pt x="3585972" y="6906765"/>
                </a:lnTo>
                <a:lnTo>
                  <a:pt x="3553968" y="6929625"/>
                </a:lnTo>
                <a:lnTo>
                  <a:pt x="3515868" y="6944865"/>
                </a:lnTo>
                <a:lnTo>
                  <a:pt x="3476244" y="6952485"/>
                </a:lnTo>
                <a:lnTo>
                  <a:pt x="3454908" y="6954009"/>
                </a:lnTo>
                <a:lnTo>
                  <a:pt x="3533851" y="6954009"/>
                </a:lnTo>
                <a:lnTo>
                  <a:pt x="3541776" y="6950961"/>
                </a:lnTo>
                <a:lnTo>
                  <a:pt x="3561588" y="6941817"/>
                </a:lnTo>
                <a:lnTo>
                  <a:pt x="3578352" y="6929625"/>
                </a:lnTo>
                <a:lnTo>
                  <a:pt x="3596640" y="6917433"/>
                </a:lnTo>
                <a:lnTo>
                  <a:pt x="3639312" y="6870189"/>
                </a:lnTo>
                <a:lnTo>
                  <a:pt x="3659124" y="6832089"/>
                </a:lnTo>
                <a:lnTo>
                  <a:pt x="3675888" y="6769605"/>
                </a:lnTo>
                <a:lnTo>
                  <a:pt x="3675888" y="220980"/>
                </a:lnTo>
                <a:lnTo>
                  <a:pt x="3671316" y="176784"/>
                </a:lnTo>
                <a:lnTo>
                  <a:pt x="3659124" y="135636"/>
                </a:lnTo>
                <a:lnTo>
                  <a:pt x="3637788" y="97536"/>
                </a:lnTo>
                <a:lnTo>
                  <a:pt x="3611880" y="65532"/>
                </a:lnTo>
                <a:lnTo>
                  <a:pt x="3578352" y="38100"/>
                </a:lnTo>
                <a:lnTo>
                  <a:pt x="3540252" y="18288"/>
                </a:lnTo>
                <a:lnTo>
                  <a:pt x="3532327" y="15240"/>
                </a:lnTo>
                <a:close/>
              </a:path>
            </a:pathLst>
          </a:custGeom>
          <a:solidFill>
            <a:srgbClr val="0150A8"/>
          </a:solidFill>
          <a:ln>
            <a:solidFill>
              <a:srgbClr val="0150A8"/>
            </a:solidFill>
          </a:ln>
        </p:spPr>
        <p:txBody>
          <a:bodyPr wrap="square" lIns="0" tIns="0" rIns="0" bIns="0" rtlCol="0"/>
          <a:lstStyle/>
          <a:p>
            <a:endParaRPr sz="7200"/>
          </a:p>
        </p:txBody>
      </p:sp>
      <p:sp>
        <p:nvSpPr>
          <p:cNvPr id="29" name="object 29"/>
          <p:cNvSpPr txBox="1"/>
          <p:nvPr/>
        </p:nvSpPr>
        <p:spPr>
          <a:xfrm>
            <a:off x="1049913" y="40164820"/>
            <a:ext cx="13478093" cy="1490126"/>
          </a:xfrm>
          <a:prstGeom prst="rect">
            <a:avLst/>
          </a:prstGeom>
        </p:spPr>
        <p:txBody>
          <a:bodyPr vert="horz" wrap="square" lIns="0" tIns="45695" rIns="0" bIns="0" rtlCol="0">
            <a:spAutoFit/>
          </a:bodyPr>
          <a:lstStyle/>
          <a:p>
            <a:pPr marL="50800">
              <a:spcBef>
                <a:spcPts val="360"/>
              </a:spcBef>
            </a:pPr>
            <a:r>
              <a:rPr sz="3000" b="1" i="1" spc="-40" dirty="0">
                <a:solidFill>
                  <a:srgbClr val="F2F2F2"/>
                </a:solidFill>
                <a:latin typeface="Arial" panose="020B0604020202020204"/>
                <a:cs typeface="Arial" panose="020B0604020202020204"/>
              </a:rPr>
              <a:t>References</a:t>
            </a:r>
            <a:endParaRPr sz="3000" dirty="0">
              <a:latin typeface="Arial" panose="020B0604020202020204"/>
              <a:cs typeface="Arial" panose="020B0604020202020204"/>
            </a:endParaRPr>
          </a:p>
          <a:p>
            <a:pPr marL="391160" marR="20320" indent="-342900">
              <a:spcBef>
                <a:spcPts val="1935"/>
              </a:spcBef>
              <a:buAutoNum type="arabicPeriod"/>
              <a:tabLst>
                <a:tab pos="393065" algn="l"/>
              </a:tabLst>
            </a:pPr>
            <a:r>
              <a:rPr lang="en-US" sz="1600" b="1" spc="-20" dirty="0">
                <a:solidFill>
                  <a:srgbClr val="F2F2F2"/>
                </a:solidFill>
                <a:latin typeface="Arial" panose="020B0604020202020204"/>
                <a:cs typeface="Arial" panose="020B0604020202020204"/>
              </a:rPr>
              <a:t>Chang X., Xie J., Duan H., Li K., Liu X., Xiong Y., Bai X., Ning K., Xia L.C. "A unified genetic and epigenetic model to predict breast cancer intrinsic subtypes using large DNA-level multi-omics data and hierarchical learning." IEEE Transactions on Computational Biology and Bioinformatics 2025; early access. doi:10.1109/TCBBIO.2025.3613591.</a:t>
            </a:r>
            <a:endParaRPr sz="1600" dirty="0">
              <a:latin typeface="Arial" panose="020B0604020202020204"/>
              <a:cs typeface="Arial" panose="020B0604020202020204"/>
            </a:endParaRPr>
          </a:p>
        </p:txBody>
      </p:sp>
      <p:sp>
        <p:nvSpPr>
          <p:cNvPr id="30" name="object 30"/>
          <p:cNvSpPr txBox="1"/>
          <p:nvPr/>
        </p:nvSpPr>
        <p:spPr>
          <a:xfrm>
            <a:off x="18261806" y="40101035"/>
            <a:ext cx="9186795" cy="1874846"/>
          </a:xfrm>
          <a:prstGeom prst="rect">
            <a:avLst/>
          </a:prstGeom>
        </p:spPr>
        <p:txBody>
          <a:bodyPr vert="horz" wrap="square" lIns="0" tIns="48234" rIns="0" bIns="0" rtlCol="0">
            <a:spAutoFit/>
          </a:bodyPr>
          <a:lstStyle/>
          <a:p>
            <a:pPr marL="50800" marR="20320">
              <a:spcBef>
                <a:spcPts val="380"/>
              </a:spcBef>
            </a:pPr>
            <a:r>
              <a:rPr lang="en-US" sz="2800" b="1" spc="-40" dirty="0">
                <a:solidFill>
                  <a:srgbClr val="F2F2F2"/>
                </a:solidFill>
                <a:latin typeface="Arial" panose="020B0604020202020204"/>
                <a:cs typeface="Arial" panose="020B0604020202020204"/>
              </a:rPr>
              <a:t>Department of Statistics &amp; Financial Mathematics School of Mathematics</a:t>
            </a:r>
          </a:p>
          <a:p>
            <a:pPr marL="50800" marR="20320">
              <a:spcBef>
                <a:spcPts val="380"/>
              </a:spcBef>
            </a:pPr>
            <a:r>
              <a:rPr lang="en-US" sz="2800" b="1" spc="-40" dirty="0">
                <a:solidFill>
                  <a:srgbClr val="F2F2F2"/>
                </a:solidFill>
                <a:latin typeface="Arial" panose="020B0604020202020204"/>
                <a:cs typeface="Arial" panose="020B0604020202020204"/>
              </a:rPr>
              <a:t>South China University of Technology</a:t>
            </a:r>
          </a:p>
          <a:p>
            <a:pPr marL="50800" marR="20320">
              <a:spcBef>
                <a:spcPts val="380"/>
              </a:spcBef>
            </a:pPr>
            <a:r>
              <a:rPr lang="en-US" sz="2800" b="1" spc="-40" dirty="0">
                <a:solidFill>
                  <a:srgbClr val="F2F2F2"/>
                </a:solidFill>
                <a:latin typeface="Arial" panose="020B0604020202020204"/>
                <a:cs typeface="Arial" panose="020B0604020202020204"/>
              </a:rPr>
              <a:t>Guangzhou, Guangdong 510640, China</a:t>
            </a:r>
            <a:endParaRPr sz="2800" dirty="0">
              <a:latin typeface="Arial" panose="020B0604020202020204"/>
              <a:cs typeface="Arial" panose="020B0604020202020204"/>
            </a:endParaRPr>
          </a:p>
        </p:txBody>
      </p:sp>
      <p:sp>
        <p:nvSpPr>
          <p:cNvPr id="149" name="object 149"/>
          <p:cNvSpPr txBox="1"/>
          <p:nvPr/>
        </p:nvSpPr>
        <p:spPr>
          <a:xfrm>
            <a:off x="992658" y="13477081"/>
            <a:ext cx="12752022" cy="543711"/>
          </a:xfrm>
          <a:prstGeom prst="rect">
            <a:avLst/>
          </a:prstGeom>
        </p:spPr>
        <p:txBody>
          <a:bodyPr vert="horz" wrap="square" lIns="0" tIns="50773" rIns="0" bIns="0" rtlCol="0">
            <a:spAutoFit/>
          </a:bodyPr>
          <a:lstStyle/>
          <a:p>
            <a:pPr marL="561340" marR="20320" indent="-513080">
              <a:spcBef>
                <a:spcPts val="400"/>
              </a:spcBef>
            </a:pPr>
            <a:r>
              <a:rPr lang="en-US" sz="3200" b="1" spc="-20" dirty="0">
                <a:latin typeface="Arial" panose="020B0604020202020204"/>
                <a:cs typeface="Arial" panose="020B0604020202020204"/>
              </a:rPr>
              <a:t>2</a:t>
            </a:r>
            <a:r>
              <a:rPr sz="3200" b="1" spc="-20" dirty="0">
                <a:latin typeface="Arial" panose="020B0604020202020204"/>
                <a:cs typeface="Arial" panose="020B0604020202020204"/>
              </a:rPr>
              <a:t>.</a:t>
            </a:r>
            <a:r>
              <a:rPr lang="en-US" sz="3200" b="1" spc="-20" dirty="0">
                <a:latin typeface="Arial" panose="020B0604020202020204"/>
                <a:cs typeface="Arial" panose="020B0604020202020204"/>
              </a:rPr>
              <a:t> Cohort Characteristics and Clinical Profile Assessment</a:t>
            </a:r>
            <a:endParaRPr sz="3200" dirty="0">
              <a:latin typeface="Arial" panose="020B0604020202020204"/>
              <a:cs typeface="Arial" panose="020B0604020202020204"/>
            </a:endParaRPr>
          </a:p>
        </p:txBody>
      </p:sp>
      <p:pic>
        <p:nvPicPr>
          <p:cNvPr id="257" name="object 257"/>
          <p:cNvPicPr/>
          <p:nvPr/>
        </p:nvPicPr>
        <p:blipFill>
          <a:blip r:embed="rId5" cstate="print"/>
          <a:stretch>
            <a:fillRect/>
          </a:stretch>
        </p:blipFill>
        <p:spPr>
          <a:xfrm>
            <a:off x="933917" y="3047894"/>
            <a:ext cx="292458" cy="24371"/>
          </a:xfrm>
          <a:prstGeom prst="rect">
            <a:avLst/>
          </a:prstGeom>
        </p:spPr>
      </p:pic>
      <p:sp>
        <p:nvSpPr>
          <p:cNvPr id="307" name="object 307"/>
          <p:cNvSpPr txBox="1"/>
          <p:nvPr/>
        </p:nvSpPr>
        <p:spPr>
          <a:xfrm>
            <a:off x="968683" y="24216137"/>
            <a:ext cx="13695489" cy="543711"/>
          </a:xfrm>
          <a:prstGeom prst="rect">
            <a:avLst/>
          </a:prstGeom>
        </p:spPr>
        <p:txBody>
          <a:bodyPr vert="horz" wrap="square" lIns="0" tIns="50773" rIns="0" bIns="0" rtlCol="0">
            <a:spAutoFit/>
          </a:bodyPr>
          <a:lstStyle/>
          <a:p>
            <a:pPr marL="561340" marR="20320" indent="-513080" algn="just">
              <a:spcBef>
                <a:spcPts val="400"/>
              </a:spcBef>
            </a:pPr>
            <a:r>
              <a:rPr lang="en-US" sz="3200" b="1" spc="-20" dirty="0">
                <a:latin typeface="Arial" panose="020B0604020202020204"/>
                <a:cs typeface="Arial" panose="020B0604020202020204"/>
              </a:rPr>
              <a:t>1</a:t>
            </a:r>
            <a:r>
              <a:rPr sz="3200" b="1" spc="-20" dirty="0">
                <a:latin typeface="Arial" panose="020B0604020202020204"/>
                <a:cs typeface="Arial" panose="020B0604020202020204"/>
              </a:rPr>
              <a:t>.</a:t>
            </a:r>
            <a:r>
              <a:rPr lang="en-US" sz="3200" b="1" spc="-20" dirty="0">
                <a:latin typeface="Arial" panose="020B0604020202020204"/>
                <a:cs typeface="Arial" panose="020B0604020202020204"/>
              </a:rPr>
              <a:t> Evaluation of hierarchical strategies using one-vs-one ROC analysis</a:t>
            </a:r>
            <a:endParaRPr sz="1600" dirty="0">
              <a:latin typeface="Arial" panose="020B0604020202020204"/>
              <a:cs typeface="Arial" panose="020B0604020202020204"/>
            </a:endParaRPr>
          </a:p>
        </p:txBody>
      </p:sp>
      <p:pic>
        <p:nvPicPr>
          <p:cNvPr id="398" name="Picture 4" descr="华南理工大学校徽矢量图下载 - 中国大学矢量校徽大全">
            <a:extLst>
              <a:ext uri="{FF2B5EF4-FFF2-40B4-BE49-F238E27FC236}">
                <a16:creationId xmlns:a16="http://schemas.microsoft.com/office/drawing/2014/main" id="{D0928DEF-FB28-F1B0-01F7-CECA7EB3059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5457" y="1250170"/>
            <a:ext cx="2849727" cy="2880000"/>
          </a:xfrm>
          <a:prstGeom prst="rect">
            <a:avLst/>
          </a:prstGeom>
          <a:noFill/>
          <a:extLst>
            <a:ext uri="{909E8E84-426E-40DD-AFC4-6F175D3DCCD1}">
              <a14:hiddenFill xmlns:a14="http://schemas.microsoft.com/office/drawing/2010/main">
                <a:solidFill>
                  <a:srgbClr val="FFFFFF"/>
                </a:solidFill>
              </a14:hiddenFill>
            </a:ext>
          </a:extLst>
        </p:spPr>
      </p:pic>
      <p:pic>
        <p:nvPicPr>
          <p:cNvPr id="260" name="图片 259">
            <a:extLst>
              <a:ext uri="{FF2B5EF4-FFF2-40B4-BE49-F238E27FC236}">
                <a16:creationId xmlns:a16="http://schemas.microsoft.com/office/drawing/2014/main" id="{174893BE-8892-57DD-BA6A-C91A6156752B}"/>
              </a:ext>
            </a:extLst>
          </p:cNvPr>
          <p:cNvPicPr>
            <a:picLocks noChangeAspect="1"/>
          </p:cNvPicPr>
          <p:nvPr/>
        </p:nvPicPr>
        <p:blipFill>
          <a:blip r:embed="rId7"/>
          <a:stretch>
            <a:fillRect/>
          </a:stretch>
        </p:blipFill>
        <p:spPr>
          <a:xfrm>
            <a:off x="1185023" y="27103266"/>
            <a:ext cx="1074783" cy="720000"/>
          </a:xfrm>
          <a:prstGeom prst="rect">
            <a:avLst/>
          </a:prstGeom>
        </p:spPr>
      </p:pic>
      <p:sp>
        <p:nvSpPr>
          <p:cNvPr id="262" name="文本框 261">
            <a:extLst>
              <a:ext uri="{FF2B5EF4-FFF2-40B4-BE49-F238E27FC236}">
                <a16:creationId xmlns:a16="http://schemas.microsoft.com/office/drawing/2014/main" id="{A914F4D0-BAAF-3A6A-11D6-04BC6C14A5C5}"/>
              </a:ext>
            </a:extLst>
          </p:cNvPr>
          <p:cNvSpPr txBox="1"/>
          <p:nvPr/>
        </p:nvSpPr>
        <p:spPr>
          <a:xfrm>
            <a:off x="2643046" y="9087624"/>
            <a:ext cx="2094965" cy="830997"/>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TCGA</a:t>
            </a:r>
          </a:p>
          <a:p>
            <a:pPr algn="ctr"/>
            <a:r>
              <a:rPr lang="en-US" altLang="zh-CN" sz="2400" dirty="0">
                <a:latin typeface="Arial" panose="020B0604020202020204" pitchFamily="34" charset="0"/>
                <a:cs typeface="Arial" panose="020B0604020202020204" pitchFamily="34" charset="0"/>
              </a:rPr>
              <a:t>N=931</a:t>
            </a:r>
            <a:endParaRPr lang="zh-CN" altLang="en-US" sz="2400" dirty="0">
              <a:latin typeface="Arial" panose="020B0604020202020204" pitchFamily="34" charset="0"/>
              <a:cs typeface="Arial" panose="020B0604020202020204" pitchFamily="34" charset="0"/>
            </a:endParaRPr>
          </a:p>
        </p:txBody>
      </p:sp>
      <p:sp>
        <p:nvSpPr>
          <p:cNvPr id="263" name="文本框 262">
            <a:extLst>
              <a:ext uri="{FF2B5EF4-FFF2-40B4-BE49-F238E27FC236}">
                <a16:creationId xmlns:a16="http://schemas.microsoft.com/office/drawing/2014/main" id="{8B8C2A99-0DE7-0B78-D01B-A5A64FDC9370}"/>
              </a:ext>
            </a:extLst>
          </p:cNvPr>
          <p:cNvSpPr txBox="1"/>
          <p:nvPr/>
        </p:nvSpPr>
        <p:spPr>
          <a:xfrm>
            <a:off x="2409311" y="11065545"/>
            <a:ext cx="2562437" cy="830997"/>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METABRIC</a:t>
            </a:r>
          </a:p>
          <a:p>
            <a:pPr algn="ctr"/>
            <a:r>
              <a:rPr lang="en-US" altLang="zh-CN" sz="2400" dirty="0">
                <a:latin typeface="Arial" panose="020B0604020202020204" pitchFamily="34" charset="0"/>
                <a:cs typeface="Arial" panose="020B0604020202020204" pitchFamily="34" charset="0"/>
              </a:rPr>
              <a:t>N=1134</a:t>
            </a:r>
          </a:p>
        </p:txBody>
      </p:sp>
      <p:sp>
        <p:nvSpPr>
          <p:cNvPr id="265" name="文本框 264">
            <a:extLst>
              <a:ext uri="{FF2B5EF4-FFF2-40B4-BE49-F238E27FC236}">
                <a16:creationId xmlns:a16="http://schemas.microsoft.com/office/drawing/2014/main" id="{8744FF08-7724-E5D9-8B8F-F25D00A0FC13}"/>
              </a:ext>
            </a:extLst>
          </p:cNvPr>
          <p:cNvSpPr txBox="1"/>
          <p:nvPr/>
        </p:nvSpPr>
        <p:spPr>
          <a:xfrm>
            <a:off x="6063068" y="8905081"/>
            <a:ext cx="2094965"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197</a:t>
            </a:r>
            <a:endParaRPr lang="zh-CN" altLang="en-US" sz="2400" dirty="0">
              <a:latin typeface="Arial" panose="020B0604020202020204" pitchFamily="34" charset="0"/>
              <a:cs typeface="Arial" panose="020B0604020202020204" pitchFamily="34" charset="0"/>
            </a:endParaRPr>
          </a:p>
        </p:txBody>
      </p:sp>
      <p:sp>
        <p:nvSpPr>
          <p:cNvPr id="266" name="矩形 265">
            <a:extLst>
              <a:ext uri="{FF2B5EF4-FFF2-40B4-BE49-F238E27FC236}">
                <a16:creationId xmlns:a16="http://schemas.microsoft.com/office/drawing/2014/main" id="{7B3982F7-66B4-9A39-CE5A-308358CE509E}"/>
              </a:ext>
            </a:extLst>
          </p:cNvPr>
          <p:cNvSpPr/>
          <p:nvPr/>
        </p:nvSpPr>
        <p:spPr>
          <a:xfrm>
            <a:off x="4649488" y="8995747"/>
            <a:ext cx="1418400" cy="2880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7" name="矩形 266">
            <a:extLst>
              <a:ext uri="{FF2B5EF4-FFF2-40B4-BE49-F238E27FC236}">
                <a16:creationId xmlns:a16="http://schemas.microsoft.com/office/drawing/2014/main" id="{5E2A5430-2DBC-728C-35C9-E83784972FB7}"/>
              </a:ext>
            </a:extLst>
          </p:cNvPr>
          <p:cNvSpPr/>
          <p:nvPr/>
        </p:nvSpPr>
        <p:spPr>
          <a:xfrm>
            <a:off x="4649488" y="9886236"/>
            <a:ext cx="1209600" cy="288000"/>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8" name="矩形 267">
            <a:extLst>
              <a:ext uri="{FF2B5EF4-FFF2-40B4-BE49-F238E27FC236}">
                <a16:creationId xmlns:a16="http://schemas.microsoft.com/office/drawing/2014/main" id="{2EAC7627-30D0-6F78-9828-21550A9F990E}"/>
              </a:ext>
            </a:extLst>
          </p:cNvPr>
          <p:cNvSpPr/>
          <p:nvPr/>
        </p:nvSpPr>
        <p:spPr>
          <a:xfrm>
            <a:off x="4649488" y="9596678"/>
            <a:ext cx="561600" cy="28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矩形 268">
            <a:extLst>
              <a:ext uri="{FF2B5EF4-FFF2-40B4-BE49-F238E27FC236}">
                <a16:creationId xmlns:a16="http://schemas.microsoft.com/office/drawing/2014/main" id="{43D17181-AE9A-7550-FB72-A93D6986ECF3}"/>
              </a:ext>
            </a:extLst>
          </p:cNvPr>
          <p:cNvSpPr/>
          <p:nvPr/>
        </p:nvSpPr>
        <p:spPr>
          <a:xfrm>
            <a:off x="4649488" y="9315724"/>
            <a:ext cx="3513600" cy="288000"/>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269">
            <a:extLst>
              <a:ext uri="{FF2B5EF4-FFF2-40B4-BE49-F238E27FC236}">
                <a16:creationId xmlns:a16="http://schemas.microsoft.com/office/drawing/2014/main" id="{79D1229C-11A5-746E-92CF-F80DCC24D7C2}"/>
              </a:ext>
            </a:extLst>
          </p:cNvPr>
          <p:cNvSpPr/>
          <p:nvPr/>
        </p:nvSpPr>
        <p:spPr>
          <a:xfrm>
            <a:off x="4651541" y="10731568"/>
            <a:ext cx="2376000" cy="2880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1" name="矩形 270">
            <a:extLst>
              <a:ext uri="{FF2B5EF4-FFF2-40B4-BE49-F238E27FC236}">
                <a16:creationId xmlns:a16="http://schemas.microsoft.com/office/drawing/2014/main" id="{9766329A-AA25-85BE-5332-5853C71A6E2D}"/>
              </a:ext>
            </a:extLst>
          </p:cNvPr>
          <p:cNvSpPr/>
          <p:nvPr/>
        </p:nvSpPr>
        <p:spPr>
          <a:xfrm>
            <a:off x="4651541" y="11629168"/>
            <a:ext cx="1029600" cy="288000"/>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矩形 271">
            <a:extLst>
              <a:ext uri="{FF2B5EF4-FFF2-40B4-BE49-F238E27FC236}">
                <a16:creationId xmlns:a16="http://schemas.microsoft.com/office/drawing/2014/main" id="{47CD2FF6-7267-5006-29E5-832C102CA53B}"/>
              </a:ext>
            </a:extLst>
          </p:cNvPr>
          <p:cNvSpPr/>
          <p:nvPr/>
        </p:nvSpPr>
        <p:spPr>
          <a:xfrm>
            <a:off x="4651541" y="11324368"/>
            <a:ext cx="1231200" cy="28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3" name="矩形 272">
            <a:extLst>
              <a:ext uri="{FF2B5EF4-FFF2-40B4-BE49-F238E27FC236}">
                <a16:creationId xmlns:a16="http://schemas.microsoft.com/office/drawing/2014/main" id="{376901E7-B866-06C7-3A99-46EC7C63CD39}"/>
              </a:ext>
            </a:extLst>
          </p:cNvPr>
          <p:cNvSpPr/>
          <p:nvPr/>
        </p:nvSpPr>
        <p:spPr>
          <a:xfrm>
            <a:off x="4651541" y="11036368"/>
            <a:ext cx="3528000" cy="288000"/>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5" name="左大括号 274">
            <a:extLst>
              <a:ext uri="{FF2B5EF4-FFF2-40B4-BE49-F238E27FC236}">
                <a16:creationId xmlns:a16="http://schemas.microsoft.com/office/drawing/2014/main" id="{77EA7FC8-B00A-B1B8-BE7B-4FAEC5848670}"/>
              </a:ext>
            </a:extLst>
          </p:cNvPr>
          <p:cNvSpPr/>
          <p:nvPr/>
        </p:nvSpPr>
        <p:spPr>
          <a:xfrm>
            <a:off x="1997519" y="9281797"/>
            <a:ext cx="778871" cy="2316826"/>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5" name="文本框 304">
            <a:extLst>
              <a:ext uri="{FF2B5EF4-FFF2-40B4-BE49-F238E27FC236}">
                <a16:creationId xmlns:a16="http://schemas.microsoft.com/office/drawing/2014/main" id="{EB07470C-9E7D-73F6-ED72-22D22DC128A3}"/>
              </a:ext>
            </a:extLst>
          </p:cNvPr>
          <p:cNvSpPr txBox="1"/>
          <p:nvPr/>
        </p:nvSpPr>
        <p:spPr>
          <a:xfrm>
            <a:off x="964406" y="12029281"/>
            <a:ext cx="3105346"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PAM50 subtype</a:t>
            </a:r>
            <a:endParaRPr lang="zh-CN" altLang="en-US" sz="2400" dirty="0">
              <a:latin typeface="Arial" panose="020B0604020202020204" pitchFamily="34" charset="0"/>
              <a:cs typeface="Arial" panose="020B0604020202020204" pitchFamily="34" charset="0"/>
            </a:endParaRPr>
          </a:p>
        </p:txBody>
      </p:sp>
      <p:sp>
        <p:nvSpPr>
          <p:cNvPr id="306" name="矩形 305">
            <a:extLst>
              <a:ext uri="{FF2B5EF4-FFF2-40B4-BE49-F238E27FC236}">
                <a16:creationId xmlns:a16="http://schemas.microsoft.com/office/drawing/2014/main" id="{785A1F64-3C2B-C522-1241-2EFEDDD7D487}"/>
              </a:ext>
            </a:extLst>
          </p:cNvPr>
          <p:cNvSpPr/>
          <p:nvPr/>
        </p:nvSpPr>
        <p:spPr>
          <a:xfrm>
            <a:off x="1082375" y="12598733"/>
            <a:ext cx="288000" cy="288000"/>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7" name="矩形 396">
            <a:extLst>
              <a:ext uri="{FF2B5EF4-FFF2-40B4-BE49-F238E27FC236}">
                <a16:creationId xmlns:a16="http://schemas.microsoft.com/office/drawing/2014/main" id="{21A4A20D-6F70-8278-2020-0166C2DB7AD7}"/>
              </a:ext>
            </a:extLst>
          </p:cNvPr>
          <p:cNvSpPr/>
          <p:nvPr/>
        </p:nvSpPr>
        <p:spPr>
          <a:xfrm>
            <a:off x="8795789" y="12612798"/>
            <a:ext cx="288000" cy="2880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9" name="矩形 398">
            <a:extLst>
              <a:ext uri="{FF2B5EF4-FFF2-40B4-BE49-F238E27FC236}">
                <a16:creationId xmlns:a16="http://schemas.microsoft.com/office/drawing/2014/main" id="{82808848-4C3A-A6CB-565F-584AE309FFB0}"/>
              </a:ext>
            </a:extLst>
          </p:cNvPr>
          <p:cNvSpPr/>
          <p:nvPr/>
        </p:nvSpPr>
        <p:spPr>
          <a:xfrm>
            <a:off x="6013776" y="12566405"/>
            <a:ext cx="288000" cy="288000"/>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0" name="矩形 399">
            <a:extLst>
              <a:ext uri="{FF2B5EF4-FFF2-40B4-BE49-F238E27FC236}">
                <a16:creationId xmlns:a16="http://schemas.microsoft.com/office/drawing/2014/main" id="{A0CE8D6F-F45F-334F-CAB1-E91B336C8083}"/>
              </a:ext>
            </a:extLst>
          </p:cNvPr>
          <p:cNvSpPr/>
          <p:nvPr/>
        </p:nvSpPr>
        <p:spPr>
          <a:xfrm>
            <a:off x="3726297" y="12600624"/>
            <a:ext cx="288000" cy="28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1" name="文本框 400">
            <a:extLst>
              <a:ext uri="{FF2B5EF4-FFF2-40B4-BE49-F238E27FC236}">
                <a16:creationId xmlns:a16="http://schemas.microsoft.com/office/drawing/2014/main" id="{8863E50C-E57B-E5A6-AB44-87C7A09F06F6}"/>
              </a:ext>
            </a:extLst>
          </p:cNvPr>
          <p:cNvSpPr txBox="1"/>
          <p:nvPr/>
        </p:nvSpPr>
        <p:spPr>
          <a:xfrm>
            <a:off x="1398069" y="12511900"/>
            <a:ext cx="3105346"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Basal-like</a:t>
            </a:r>
            <a:endParaRPr lang="zh-CN" altLang="en-US" sz="2400" dirty="0">
              <a:latin typeface="Arial" panose="020B0604020202020204" pitchFamily="34" charset="0"/>
              <a:cs typeface="Arial" panose="020B0604020202020204" pitchFamily="34" charset="0"/>
            </a:endParaRPr>
          </a:p>
        </p:txBody>
      </p:sp>
      <p:sp>
        <p:nvSpPr>
          <p:cNvPr id="402" name="文本框 401">
            <a:extLst>
              <a:ext uri="{FF2B5EF4-FFF2-40B4-BE49-F238E27FC236}">
                <a16:creationId xmlns:a16="http://schemas.microsoft.com/office/drawing/2014/main" id="{B47A6D31-08FB-2630-15AC-162623848FFF}"/>
              </a:ext>
            </a:extLst>
          </p:cNvPr>
          <p:cNvSpPr txBox="1"/>
          <p:nvPr/>
        </p:nvSpPr>
        <p:spPr>
          <a:xfrm>
            <a:off x="4012406" y="12496281"/>
            <a:ext cx="3105346"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Her2</a:t>
            </a:r>
            <a:endParaRPr lang="zh-CN" altLang="en-US" sz="2400" dirty="0">
              <a:latin typeface="Arial" panose="020B0604020202020204" pitchFamily="34" charset="0"/>
              <a:cs typeface="Arial" panose="020B0604020202020204" pitchFamily="34" charset="0"/>
            </a:endParaRPr>
          </a:p>
        </p:txBody>
      </p:sp>
      <p:sp>
        <p:nvSpPr>
          <p:cNvPr id="403" name="文本框 402">
            <a:extLst>
              <a:ext uri="{FF2B5EF4-FFF2-40B4-BE49-F238E27FC236}">
                <a16:creationId xmlns:a16="http://schemas.microsoft.com/office/drawing/2014/main" id="{6B203FB0-C282-FC4A-1A98-7A27D84EEFAA}"/>
              </a:ext>
            </a:extLst>
          </p:cNvPr>
          <p:cNvSpPr txBox="1"/>
          <p:nvPr/>
        </p:nvSpPr>
        <p:spPr>
          <a:xfrm>
            <a:off x="6301776" y="12503442"/>
            <a:ext cx="3105346"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Luminal A</a:t>
            </a:r>
            <a:endParaRPr lang="zh-CN" altLang="en-US" sz="2400" dirty="0">
              <a:latin typeface="Arial" panose="020B0604020202020204" pitchFamily="34" charset="0"/>
              <a:cs typeface="Arial" panose="020B0604020202020204" pitchFamily="34" charset="0"/>
            </a:endParaRPr>
          </a:p>
        </p:txBody>
      </p:sp>
      <p:sp>
        <p:nvSpPr>
          <p:cNvPr id="404" name="文本框 403">
            <a:extLst>
              <a:ext uri="{FF2B5EF4-FFF2-40B4-BE49-F238E27FC236}">
                <a16:creationId xmlns:a16="http://schemas.microsoft.com/office/drawing/2014/main" id="{7A7C00D0-806A-923D-AE83-3FCEDCA08E5D}"/>
              </a:ext>
            </a:extLst>
          </p:cNvPr>
          <p:cNvSpPr txBox="1"/>
          <p:nvPr/>
        </p:nvSpPr>
        <p:spPr>
          <a:xfrm>
            <a:off x="9088436" y="12516783"/>
            <a:ext cx="3105346"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Luminal B</a:t>
            </a:r>
          </a:p>
        </p:txBody>
      </p:sp>
      <p:sp>
        <p:nvSpPr>
          <p:cNvPr id="405" name="文本框 404">
            <a:extLst>
              <a:ext uri="{FF2B5EF4-FFF2-40B4-BE49-F238E27FC236}">
                <a16:creationId xmlns:a16="http://schemas.microsoft.com/office/drawing/2014/main" id="{970A2D67-9154-32E1-5E7A-70141AC47477}"/>
              </a:ext>
            </a:extLst>
          </p:cNvPr>
          <p:cNvSpPr txBox="1"/>
          <p:nvPr/>
        </p:nvSpPr>
        <p:spPr>
          <a:xfrm>
            <a:off x="8163088" y="9279234"/>
            <a:ext cx="2094965"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488</a:t>
            </a:r>
            <a:endParaRPr lang="zh-CN" altLang="en-US" sz="2400" dirty="0">
              <a:latin typeface="Arial" panose="020B0604020202020204" pitchFamily="34" charset="0"/>
              <a:cs typeface="Arial" panose="020B0604020202020204" pitchFamily="34" charset="0"/>
            </a:endParaRPr>
          </a:p>
        </p:txBody>
      </p:sp>
      <p:sp>
        <p:nvSpPr>
          <p:cNvPr id="406" name="文本框 405">
            <a:extLst>
              <a:ext uri="{FF2B5EF4-FFF2-40B4-BE49-F238E27FC236}">
                <a16:creationId xmlns:a16="http://schemas.microsoft.com/office/drawing/2014/main" id="{89895E94-4475-A867-C1A1-22C7CD30D2DB}"/>
              </a:ext>
            </a:extLst>
          </p:cNvPr>
          <p:cNvSpPr txBox="1"/>
          <p:nvPr/>
        </p:nvSpPr>
        <p:spPr>
          <a:xfrm>
            <a:off x="5224868" y="9526361"/>
            <a:ext cx="2094965"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78</a:t>
            </a:r>
            <a:endParaRPr lang="zh-CN" altLang="en-US" sz="2400" dirty="0">
              <a:latin typeface="Arial" panose="020B0604020202020204" pitchFamily="34" charset="0"/>
              <a:cs typeface="Arial" panose="020B0604020202020204" pitchFamily="34" charset="0"/>
            </a:endParaRPr>
          </a:p>
        </p:txBody>
      </p:sp>
      <p:sp>
        <p:nvSpPr>
          <p:cNvPr id="407" name="文本框 406">
            <a:extLst>
              <a:ext uri="{FF2B5EF4-FFF2-40B4-BE49-F238E27FC236}">
                <a16:creationId xmlns:a16="http://schemas.microsoft.com/office/drawing/2014/main" id="{A5941BC3-8351-4963-0374-D2DFB07D7949}"/>
              </a:ext>
            </a:extLst>
          </p:cNvPr>
          <p:cNvSpPr txBox="1"/>
          <p:nvPr/>
        </p:nvSpPr>
        <p:spPr>
          <a:xfrm>
            <a:off x="5828669" y="9807469"/>
            <a:ext cx="2094965"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168</a:t>
            </a:r>
            <a:endParaRPr lang="zh-CN" altLang="en-US" sz="2400" dirty="0">
              <a:latin typeface="Arial" panose="020B0604020202020204" pitchFamily="34" charset="0"/>
              <a:cs typeface="Arial" panose="020B0604020202020204" pitchFamily="34" charset="0"/>
            </a:endParaRPr>
          </a:p>
        </p:txBody>
      </p:sp>
      <p:sp>
        <p:nvSpPr>
          <p:cNvPr id="408" name="文本框 407">
            <a:extLst>
              <a:ext uri="{FF2B5EF4-FFF2-40B4-BE49-F238E27FC236}">
                <a16:creationId xmlns:a16="http://schemas.microsoft.com/office/drawing/2014/main" id="{7EBD9CBD-3D8B-B2EB-BCF2-89BDE5EA6958}"/>
              </a:ext>
            </a:extLst>
          </p:cNvPr>
          <p:cNvSpPr txBox="1"/>
          <p:nvPr/>
        </p:nvSpPr>
        <p:spPr>
          <a:xfrm>
            <a:off x="7044263" y="10653620"/>
            <a:ext cx="2094965"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330</a:t>
            </a:r>
            <a:endParaRPr lang="zh-CN" altLang="en-US" sz="2400" dirty="0">
              <a:latin typeface="Arial" panose="020B0604020202020204" pitchFamily="34" charset="0"/>
              <a:cs typeface="Arial" panose="020B0604020202020204" pitchFamily="34" charset="0"/>
            </a:endParaRPr>
          </a:p>
        </p:txBody>
      </p:sp>
      <p:sp>
        <p:nvSpPr>
          <p:cNvPr id="409" name="文本框 408">
            <a:extLst>
              <a:ext uri="{FF2B5EF4-FFF2-40B4-BE49-F238E27FC236}">
                <a16:creationId xmlns:a16="http://schemas.microsoft.com/office/drawing/2014/main" id="{BE81FC91-3B5B-EF69-EB45-675183C0ECB7}"/>
              </a:ext>
            </a:extLst>
          </p:cNvPr>
          <p:cNvSpPr txBox="1"/>
          <p:nvPr/>
        </p:nvSpPr>
        <p:spPr>
          <a:xfrm>
            <a:off x="8162860" y="10988994"/>
            <a:ext cx="2094965"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490</a:t>
            </a:r>
            <a:endParaRPr lang="zh-CN" altLang="en-US" sz="2400" dirty="0">
              <a:latin typeface="Arial" panose="020B0604020202020204" pitchFamily="34" charset="0"/>
              <a:cs typeface="Arial" panose="020B0604020202020204" pitchFamily="34" charset="0"/>
            </a:endParaRPr>
          </a:p>
        </p:txBody>
      </p:sp>
      <p:sp>
        <p:nvSpPr>
          <p:cNvPr id="410" name="文本框 409">
            <a:extLst>
              <a:ext uri="{FF2B5EF4-FFF2-40B4-BE49-F238E27FC236}">
                <a16:creationId xmlns:a16="http://schemas.microsoft.com/office/drawing/2014/main" id="{FE71B79B-1AC6-0A64-4D9E-CE18BCCC9FED}"/>
              </a:ext>
            </a:extLst>
          </p:cNvPr>
          <p:cNvSpPr txBox="1"/>
          <p:nvPr/>
        </p:nvSpPr>
        <p:spPr>
          <a:xfrm>
            <a:off x="5859088" y="11246656"/>
            <a:ext cx="2094965"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171</a:t>
            </a:r>
            <a:endParaRPr lang="zh-CN" altLang="en-US" sz="2400" dirty="0">
              <a:latin typeface="Arial" panose="020B0604020202020204" pitchFamily="34" charset="0"/>
              <a:cs typeface="Arial" panose="020B0604020202020204" pitchFamily="34" charset="0"/>
            </a:endParaRPr>
          </a:p>
        </p:txBody>
      </p:sp>
      <p:sp>
        <p:nvSpPr>
          <p:cNvPr id="411" name="文本框 410">
            <a:extLst>
              <a:ext uri="{FF2B5EF4-FFF2-40B4-BE49-F238E27FC236}">
                <a16:creationId xmlns:a16="http://schemas.microsoft.com/office/drawing/2014/main" id="{26DADF0A-34F1-21AF-93C6-B32D2F3A7B21}"/>
              </a:ext>
            </a:extLst>
          </p:cNvPr>
          <p:cNvSpPr txBox="1"/>
          <p:nvPr/>
        </p:nvSpPr>
        <p:spPr>
          <a:xfrm>
            <a:off x="5691693" y="11558401"/>
            <a:ext cx="2094965"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143</a:t>
            </a:r>
            <a:endParaRPr lang="zh-CN" altLang="en-US" sz="2400" dirty="0">
              <a:latin typeface="Arial" panose="020B0604020202020204" pitchFamily="34" charset="0"/>
              <a:cs typeface="Arial" panose="020B0604020202020204" pitchFamily="34" charset="0"/>
            </a:endParaRPr>
          </a:p>
        </p:txBody>
      </p:sp>
      <p:pic>
        <p:nvPicPr>
          <p:cNvPr id="415" name="图片 414">
            <a:extLst>
              <a:ext uri="{FF2B5EF4-FFF2-40B4-BE49-F238E27FC236}">
                <a16:creationId xmlns:a16="http://schemas.microsoft.com/office/drawing/2014/main" id="{3D747BA2-5134-05EF-90F9-B4503BE73733}"/>
              </a:ext>
            </a:extLst>
          </p:cNvPr>
          <p:cNvPicPr>
            <a:picLocks noChangeAspect="1"/>
          </p:cNvPicPr>
          <p:nvPr/>
        </p:nvPicPr>
        <p:blipFill>
          <a:blip r:embed="rId8"/>
          <a:stretch>
            <a:fillRect/>
          </a:stretch>
        </p:blipFill>
        <p:spPr>
          <a:xfrm>
            <a:off x="11140185" y="10269134"/>
            <a:ext cx="783529" cy="720000"/>
          </a:xfrm>
          <a:prstGeom prst="rect">
            <a:avLst/>
          </a:prstGeom>
        </p:spPr>
      </p:pic>
      <p:pic>
        <p:nvPicPr>
          <p:cNvPr id="416" name="图片 415">
            <a:extLst>
              <a:ext uri="{FF2B5EF4-FFF2-40B4-BE49-F238E27FC236}">
                <a16:creationId xmlns:a16="http://schemas.microsoft.com/office/drawing/2014/main" id="{EEFD2DCB-90B6-285E-A188-990F51D60894}"/>
              </a:ext>
            </a:extLst>
          </p:cNvPr>
          <p:cNvPicPr>
            <a:picLocks noChangeAspect="1"/>
          </p:cNvPicPr>
          <p:nvPr/>
        </p:nvPicPr>
        <p:blipFill>
          <a:blip r:embed="rId9"/>
          <a:stretch>
            <a:fillRect/>
          </a:stretch>
        </p:blipFill>
        <p:spPr>
          <a:xfrm>
            <a:off x="11287533" y="9045269"/>
            <a:ext cx="520001" cy="1080000"/>
          </a:xfrm>
          <a:prstGeom prst="rect">
            <a:avLst/>
          </a:prstGeom>
        </p:spPr>
      </p:pic>
      <p:pic>
        <p:nvPicPr>
          <p:cNvPr id="417" name="图片 416">
            <a:extLst>
              <a:ext uri="{FF2B5EF4-FFF2-40B4-BE49-F238E27FC236}">
                <a16:creationId xmlns:a16="http://schemas.microsoft.com/office/drawing/2014/main" id="{95D8B6C0-4F2B-7180-A7D0-5F40C2F70928}"/>
              </a:ext>
            </a:extLst>
          </p:cNvPr>
          <p:cNvPicPr>
            <a:picLocks noChangeAspect="1"/>
          </p:cNvPicPr>
          <p:nvPr/>
        </p:nvPicPr>
        <p:blipFill>
          <a:blip r:embed="rId10"/>
          <a:stretch>
            <a:fillRect/>
          </a:stretch>
        </p:blipFill>
        <p:spPr>
          <a:xfrm>
            <a:off x="11143593" y="11252279"/>
            <a:ext cx="1168212" cy="720000"/>
          </a:xfrm>
          <a:prstGeom prst="rect">
            <a:avLst/>
          </a:prstGeom>
        </p:spPr>
      </p:pic>
      <p:sp>
        <p:nvSpPr>
          <p:cNvPr id="418" name="文本框 417">
            <a:extLst>
              <a:ext uri="{FF2B5EF4-FFF2-40B4-BE49-F238E27FC236}">
                <a16:creationId xmlns:a16="http://schemas.microsoft.com/office/drawing/2014/main" id="{245F6E11-1CE8-2228-7FEF-1F6BC2825A40}"/>
              </a:ext>
            </a:extLst>
          </p:cNvPr>
          <p:cNvSpPr txBox="1"/>
          <p:nvPr/>
        </p:nvSpPr>
        <p:spPr>
          <a:xfrm>
            <a:off x="12165559" y="9241770"/>
            <a:ext cx="2094965" cy="830997"/>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mutation</a:t>
            </a:r>
          </a:p>
          <a:p>
            <a:pPr algn="ctr"/>
            <a:r>
              <a:rPr lang="en-US" altLang="zh-CN" sz="2400" dirty="0">
                <a:latin typeface="Arial" panose="020B0604020202020204" pitchFamily="34" charset="0"/>
                <a:cs typeface="Arial" panose="020B0604020202020204" pitchFamily="34" charset="0"/>
              </a:rPr>
              <a:t>n=16770</a:t>
            </a:r>
            <a:endParaRPr lang="zh-CN" altLang="en-US" sz="2400" dirty="0">
              <a:latin typeface="Arial" panose="020B0604020202020204" pitchFamily="34" charset="0"/>
              <a:cs typeface="Arial" panose="020B0604020202020204" pitchFamily="34" charset="0"/>
            </a:endParaRPr>
          </a:p>
        </p:txBody>
      </p:sp>
      <p:sp>
        <p:nvSpPr>
          <p:cNvPr id="419" name="文本框 418">
            <a:extLst>
              <a:ext uri="{FF2B5EF4-FFF2-40B4-BE49-F238E27FC236}">
                <a16:creationId xmlns:a16="http://schemas.microsoft.com/office/drawing/2014/main" id="{47D9ED7C-D1EB-F4D6-6252-2E4E86636A3A}"/>
              </a:ext>
            </a:extLst>
          </p:cNvPr>
          <p:cNvSpPr txBox="1"/>
          <p:nvPr/>
        </p:nvSpPr>
        <p:spPr>
          <a:xfrm>
            <a:off x="12431475" y="11114473"/>
            <a:ext cx="1710494" cy="1323439"/>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CNA</a:t>
            </a:r>
          </a:p>
          <a:p>
            <a:pPr algn="ctr"/>
            <a:r>
              <a:rPr lang="en-US" altLang="zh-CN" sz="2400" dirty="0">
                <a:latin typeface="Arial" panose="020B0604020202020204" pitchFamily="34" charset="0"/>
                <a:cs typeface="Arial" panose="020B0604020202020204" pitchFamily="34" charset="0"/>
              </a:rPr>
              <a:t>n=8467</a:t>
            </a:r>
          </a:p>
          <a:p>
            <a:endParaRPr lang="en-US" altLang="zh-CN" sz="3200" dirty="0">
              <a:latin typeface="Arial" panose="020B0604020202020204" pitchFamily="34" charset="0"/>
              <a:cs typeface="Arial" panose="020B0604020202020204" pitchFamily="34" charset="0"/>
            </a:endParaRPr>
          </a:p>
        </p:txBody>
      </p:sp>
      <p:sp>
        <p:nvSpPr>
          <p:cNvPr id="420" name="文本框 419">
            <a:extLst>
              <a:ext uri="{FF2B5EF4-FFF2-40B4-BE49-F238E27FC236}">
                <a16:creationId xmlns:a16="http://schemas.microsoft.com/office/drawing/2014/main" id="{420FFE7F-AF7C-A4F0-7D31-5B79AE45EC22}"/>
              </a:ext>
            </a:extLst>
          </p:cNvPr>
          <p:cNvSpPr txBox="1"/>
          <p:nvPr/>
        </p:nvSpPr>
        <p:spPr>
          <a:xfrm>
            <a:off x="11928966" y="10228610"/>
            <a:ext cx="2568149" cy="830997"/>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Methylation</a:t>
            </a:r>
          </a:p>
          <a:p>
            <a:pPr algn="ctr"/>
            <a:r>
              <a:rPr lang="en-US" altLang="zh-CN" sz="2400" dirty="0">
                <a:latin typeface="Arial" panose="020B0604020202020204" pitchFamily="34" charset="0"/>
                <a:cs typeface="Arial" panose="020B0604020202020204" pitchFamily="34" charset="0"/>
              </a:rPr>
              <a:t>n=25594</a:t>
            </a:r>
            <a:endParaRPr lang="zh-CN" altLang="en-US" sz="2400" dirty="0">
              <a:latin typeface="Arial" panose="020B0604020202020204" pitchFamily="34" charset="0"/>
              <a:cs typeface="Arial" panose="020B0604020202020204" pitchFamily="34" charset="0"/>
            </a:endParaRPr>
          </a:p>
        </p:txBody>
      </p:sp>
      <p:cxnSp>
        <p:nvCxnSpPr>
          <p:cNvPr id="422" name="直接连接符 421">
            <a:extLst>
              <a:ext uri="{FF2B5EF4-FFF2-40B4-BE49-F238E27FC236}">
                <a16:creationId xmlns:a16="http://schemas.microsoft.com/office/drawing/2014/main" id="{64FF7BBE-CFF2-7008-E5BD-77A0CB71A61E}"/>
              </a:ext>
            </a:extLst>
          </p:cNvPr>
          <p:cNvCxnSpPr>
            <a:cxnSpLocks/>
          </p:cNvCxnSpPr>
          <p:nvPr/>
        </p:nvCxnSpPr>
        <p:spPr>
          <a:xfrm>
            <a:off x="9192568" y="9626020"/>
            <a:ext cx="168485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4" name="直接连接符 423">
            <a:extLst>
              <a:ext uri="{FF2B5EF4-FFF2-40B4-BE49-F238E27FC236}">
                <a16:creationId xmlns:a16="http://schemas.microsoft.com/office/drawing/2014/main" id="{DFF9EFFA-A78D-005C-18A7-08C1783732EB}"/>
              </a:ext>
            </a:extLst>
          </p:cNvPr>
          <p:cNvCxnSpPr>
            <a:cxnSpLocks/>
          </p:cNvCxnSpPr>
          <p:nvPr/>
        </p:nvCxnSpPr>
        <p:spPr>
          <a:xfrm>
            <a:off x="9237851" y="9636121"/>
            <a:ext cx="1610852" cy="10026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7" name="直接连接符 426">
            <a:extLst>
              <a:ext uri="{FF2B5EF4-FFF2-40B4-BE49-F238E27FC236}">
                <a16:creationId xmlns:a16="http://schemas.microsoft.com/office/drawing/2014/main" id="{3E1540A0-E122-B19E-7E02-FADADBFBAC6D}"/>
              </a:ext>
            </a:extLst>
          </p:cNvPr>
          <p:cNvCxnSpPr>
            <a:cxnSpLocks/>
          </p:cNvCxnSpPr>
          <p:nvPr/>
        </p:nvCxnSpPr>
        <p:spPr>
          <a:xfrm>
            <a:off x="9194514" y="9611265"/>
            <a:ext cx="1734994" cy="201790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0" name="直接连接符 429">
            <a:extLst>
              <a:ext uri="{FF2B5EF4-FFF2-40B4-BE49-F238E27FC236}">
                <a16:creationId xmlns:a16="http://schemas.microsoft.com/office/drawing/2014/main" id="{03160839-4066-A66D-8557-919CB8EE6F14}"/>
              </a:ext>
            </a:extLst>
          </p:cNvPr>
          <p:cNvCxnSpPr>
            <a:cxnSpLocks/>
          </p:cNvCxnSpPr>
          <p:nvPr/>
        </p:nvCxnSpPr>
        <p:spPr>
          <a:xfrm>
            <a:off x="9180756" y="11629168"/>
            <a:ext cx="1784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1" name="直接连接符 430">
            <a:extLst>
              <a:ext uri="{FF2B5EF4-FFF2-40B4-BE49-F238E27FC236}">
                <a16:creationId xmlns:a16="http://schemas.microsoft.com/office/drawing/2014/main" id="{1CA160E3-FC2E-F98A-D238-C72CB9C8D355}"/>
              </a:ext>
            </a:extLst>
          </p:cNvPr>
          <p:cNvCxnSpPr>
            <a:cxnSpLocks/>
          </p:cNvCxnSpPr>
          <p:nvPr/>
        </p:nvCxnSpPr>
        <p:spPr>
          <a:xfrm flipV="1">
            <a:off x="9222712" y="10616446"/>
            <a:ext cx="1625991" cy="101272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6" name="直接连接符 435">
            <a:extLst>
              <a:ext uri="{FF2B5EF4-FFF2-40B4-BE49-F238E27FC236}">
                <a16:creationId xmlns:a16="http://schemas.microsoft.com/office/drawing/2014/main" id="{8AADB575-D9B4-9267-8843-7F23CE47C7D7}"/>
              </a:ext>
            </a:extLst>
          </p:cNvPr>
          <p:cNvCxnSpPr>
            <a:cxnSpLocks/>
          </p:cNvCxnSpPr>
          <p:nvPr/>
        </p:nvCxnSpPr>
        <p:spPr>
          <a:xfrm flipV="1">
            <a:off x="9210967" y="9603724"/>
            <a:ext cx="1680217" cy="20254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54" name="object 33">
            <a:extLst>
              <a:ext uri="{FF2B5EF4-FFF2-40B4-BE49-F238E27FC236}">
                <a16:creationId xmlns:a16="http://schemas.microsoft.com/office/drawing/2014/main" id="{9A12677F-1F6E-1B53-C50B-930DBC676C6E}"/>
              </a:ext>
            </a:extLst>
          </p:cNvPr>
          <p:cNvSpPr txBox="1"/>
          <p:nvPr/>
        </p:nvSpPr>
        <p:spPr>
          <a:xfrm>
            <a:off x="826238" y="29625843"/>
            <a:ext cx="13930368" cy="2262132"/>
          </a:xfrm>
          <a:prstGeom prst="rect">
            <a:avLst/>
          </a:prstGeom>
        </p:spPr>
        <p:txBody>
          <a:bodyPr vert="horz" wrap="square" lIns="0" tIns="45695" rIns="0" bIns="0" rtlCol="0">
            <a:spAutoFit/>
          </a:bodyPr>
          <a:lstStyle/>
          <a:p>
            <a:pPr marL="152400" marR="121920" algn="just">
              <a:spcBef>
                <a:spcPts val="360"/>
              </a:spcBef>
            </a:pPr>
            <a:r>
              <a:rPr lang="en-US" sz="2400" b="1" spc="-20" dirty="0">
                <a:latin typeface="Arial" panose="020B0604020202020204"/>
                <a:cs typeface="Arial" panose="020B0604020202020204"/>
              </a:rPr>
              <a:t>Figure 2. Performance comparison between the hierarchical UGES model and the one-step multiclass strategy. </a:t>
            </a:r>
            <a:r>
              <a:rPr lang="en-US" sz="2400" spc="-20" dirty="0">
                <a:latin typeface="Arial" panose="020B0604020202020204"/>
                <a:cs typeface="Arial" panose="020B0604020202020204"/>
              </a:rPr>
              <a:t>Subtype prediction was performed on the combined test set, comparing the UGES hierarchical architecture (B,(H,(LA,LB))) with the one-step multiclass strategy (B,H,LA,LB). To assess subtype discrimination capability, one-vs-one ROC analyses were performed across six intrinsic subtype, and ROC curves with corresponding AUC values were derived from predicted probabilities.</a:t>
            </a:r>
            <a:endParaRPr sz="2400" baseline="12000" dirty="0">
              <a:latin typeface="Arial" panose="020B0604020202020204"/>
              <a:cs typeface="Arial" panose="020B0604020202020204"/>
            </a:endParaRPr>
          </a:p>
        </p:txBody>
      </p:sp>
      <p:pic>
        <p:nvPicPr>
          <p:cNvPr id="455" name="图片 454">
            <a:extLst>
              <a:ext uri="{FF2B5EF4-FFF2-40B4-BE49-F238E27FC236}">
                <a16:creationId xmlns:a16="http://schemas.microsoft.com/office/drawing/2014/main" id="{8C212A3D-1035-9FC7-B987-ECBF798C670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10087" y="3236913"/>
            <a:ext cx="306208" cy="295008"/>
          </a:xfrm>
          <a:prstGeom prst="rect">
            <a:avLst/>
          </a:prstGeom>
        </p:spPr>
      </p:pic>
      <p:pic>
        <p:nvPicPr>
          <p:cNvPr id="456" name="图片 455">
            <a:extLst>
              <a:ext uri="{FF2B5EF4-FFF2-40B4-BE49-F238E27FC236}">
                <a16:creationId xmlns:a16="http://schemas.microsoft.com/office/drawing/2014/main" id="{3BABB761-1A41-0796-40A5-67C5D539FF20}"/>
              </a:ext>
            </a:extLst>
          </p:cNvPr>
          <p:cNvPicPr>
            <a:picLocks noChangeAspect="1"/>
          </p:cNvPicPr>
          <p:nvPr/>
        </p:nvPicPr>
        <p:blipFill>
          <a:blip r:embed="rId12"/>
          <a:stretch>
            <a:fillRect/>
          </a:stretch>
        </p:blipFill>
        <p:spPr>
          <a:xfrm>
            <a:off x="1080321" y="10072767"/>
            <a:ext cx="750000" cy="720000"/>
          </a:xfrm>
          <a:prstGeom prst="rect">
            <a:avLst/>
          </a:prstGeom>
        </p:spPr>
      </p:pic>
      <p:sp>
        <p:nvSpPr>
          <p:cNvPr id="457" name="文本框 456">
            <a:extLst>
              <a:ext uri="{FF2B5EF4-FFF2-40B4-BE49-F238E27FC236}">
                <a16:creationId xmlns:a16="http://schemas.microsoft.com/office/drawing/2014/main" id="{5F14A9E7-9960-6A92-4CD1-5290DDCD33C6}"/>
              </a:ext>
            </a:extLst>
          </p:cNvPr>
          <p:cNvSpPr txBox="1"/>
          <p:nvPr/>
        </p:nvSpPr>
        <p:spPr>
          <a:xfrm>
            <a:off x="-330994" y="27830466"/>
            <a:ext cx="4084706" cy="830997"/>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TCGA</a:t>
            </a:r>
          </a:p>
          <a:p>
            <a:pPr algn="ctr"/>
            <a:r>
              <a:rPr lang="en-US" altLang="zh-CN" sz="2400" dirty="0">
                <a:latin typeface="Arial" panose="020B0604020202020204" pitchFamily="34" charset="0"/>
                <a:cs typeface="Arial" panose="020B0604020202020204" pitchFamily="34" charset="0"/>
              </a:rPr>
              <a:t>METABRIC</a:t>
            </a:r>
          </a:p>
        </p:txBody>
      </p:sp>
      <p:sp>
        <p:nvSpPr>
          <p:cNvPr id="571" name="文本框 570">
            <a:extLst>
              <a:ext uri="{FF2B5EF4-FFF2-40B4-BE49-F238E27FC236}">
                <a16:creationId xmlns:a16="http://schemas.microsoft.com/office/drawing/2014/main" id="{BDCA358F-A373-665A-EEEB-75DB7268C732}"/>
              </a:ext>
            </a:extLst>
          </p:cNvPr>
          <p:cNvSpPr txBox="1"/>
          <p:nvPr/>
        </p:nvSpPr>
        <p:spPr>
          <a:xfrm>
            <a:off x="3269260" y="26620555"/>
            <a:ext cx="3105346" cy="1323439"/>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UGES strategy</a:t>
            </a:r>
          </a:p>
          <a:p>
            <a:pPr algn="ctr"/>
            <a:r>
              <a:rPr lang="en-US" altLang="zh-CN" sz="2400" spc="-20" dirty="0">
                <a:latin typeface="Arial" panose="020B0604020202020204"/>
                <a:cs typeface="Arial" panose="020B0604020202020204"/>
              </a:rPr>
              <a:t>(B,(H,(LA,LB)))</a:t>
            </a:r>
            <a:endParaRPr lang="en-US" altLang="zh-CN" sz="2400" dirty="0">
              <a:latin typeface="Arial" panose="020B0604020202020204" pitchFamily="34" charset="0"/>
              <a:cs typeface="Arial" panose="020B0604020202020204" pitchFamily="34" charset="0"/>
            </a:endParaRPr>
          </a:p>
          <a:p>
            <a:pPr algn="ctr"/>
            <a:endParaRPr lang="zh-CN" altLang="en-US" sz="3200" dirty="0">
              <a:latin typeface="Arial" panose="020B0604020202020204" pitchFamily="34" charset="0"/>
              <a:cs typeface="Arial" panose="020B0604020202020204" pitchFamily="34" charset="0"/>
            </a:endParaRPr>
          </a:p>
        </p:txBody>
      </p:sp>
      <p:sp>
        <p:nvSpPr>
          <p:cNvPr id="574" name="文本框 573">
            <a:extLst>
              <a:ext uri="{FF2B5EF4-FFF2-40B4-BE49-F238E27FC236}">
                <a16:creationId xmlns:a16="http://schemas.microsoft.com/office/drawing/2014/main" id="{D14ABEDC-5FEF-4CC1-789E-83B4C6FDE7F5}"/>
              </a:ext>
            </a:extLst>
          </p:cNvPr>
          <p:cNvSpPr txBox="1"/>
          <p:nvPr/>
        </p:nvSpPr>
        <p:spPr>
          <a:xfrm>
            <a:off x="3185338" y="28230816"/>
            <a:ext cx="3105346" cy="461665"/>
          </a:xfrm>
          <a:prstGeom prst="rect">
            <a:avLst/>
          </a:prstGeom>
          <a:noFill/>
        </p:spPr>
        <p:txBody>
          <a:bodyPr wrap="square" rtlCol="0">
            <a:spAutoFit/>
          </a:bodyPr>
          <a:lstStyle/>
          <a:p>
            <a:pPr algn="ctr"/>
            <a:r>
              <a:rPr lang="en-US" altLang="zh-CN" sz="2400" spc="-20" dirty="0">
                <a:latin typeface="Arial" panose="020B0604020202020204"/>
                <a:cs typeface="Arial" panose="020B0604020202020204"/>
              </a:rPr>
              <a:t>(B,H,LA,LB)</a:t>
            </a:r>
            <a:endParaRPr lang="zh-CN" altLang="en-US" sz="2400" dirty="0">
              <a:latin typeface="Arial" panose="020B0604020202020204" pitchFamily="34" charset="0"/>
              <a:cs typeface="Arial" panose="020B0604020202020204" pitchFamily="34" charset="0"/>
            </a:endParaRPr>
          </a:p>
        </p:txBody>
      </p:sp>
      <p:sp>
        <p:nvSpPr>
          <p:cNvPr id="606" name="0">
            <a:extLst>
              <a:ext uri="{FF2B5EF4-FFF2-40B4-BE49-F238E27FC236}">
                <a16:creationId xmlns:a16="http://schemas.microsoft.com/office/drawing/2014/main" id="{0A2D2007-6CF0-554C-9145-A86FED3EC852}"/>
              </a:ext>
            </a:extLst>
          </p:cNvPr>
          <p:cNvSpPr/>
          <p:nvPr/>
        </p:nvSpPr>
        <p:spPr>
          <a:xfrm>
            <a:off x="1433848" y="26977868"/>
            <a:ext cx="1455686" cy="1690795"/>
          </a:xfrm>
          <a:prstGeom prst="arc">
            <a:avLst>
              <a:gd name="adj1" fmla="val 16200000"/>
              <a:gd name="adj2" fmla="val 5361130"/>
            </a:avLst>
          </a:prstGeom>
          <a:ln w="44450" cap="rnd">
            <a:gradFill>
              <a:gsLst>
                <a:gs pos="15000">
                  <a:schemeClr val="accent1"/>
                </a:gs>
                <a:gs pos="30000">
                  <a:schemeClr val="accent2"/>
                </a:gs>
                <a:gs pos="45000">
                  <a:schemeClr val="accent3"/>
                </a:gs>
                <a:gs pos="90000">
                  <a:schemeClr val="accent6"/>
                </a:gs>
                <a:gs pos="75000">
                  <a:schemeClr val="accent5"/>
                </a:gs>
                <a:gs pos="60000">
                  <a:schemeClr val="accent4"/>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577" name="组合 576">
            <a:extLst>
              <a:ext uri="{FF2B5EF4-FFF2-40B4-BE49-F238E27FC236}">
                <a16:creationId xmlns:a16="http://schemas.microsoft.com/office/drawing/2014/main" id="{624AB815-8325-9E9E-852E-B62E6152541D}"/>
              </a:ext>
            </a:extLst>
          </p:cNvPr>
          <p:cNvGrpSpPr/>
          <p:nvPr/>
        </p:nvGrpSpPr>
        <p:grpSpPr>
          <a:xfrm>
            <a:off x="2889534" y="27036053"/>
            <a:ext cx="907030" cy="581379"/>
            <a:chOff x="4198431" y="2056102"/>
            <a:chExt cx="1251356" cy="699796"/>
          </a:xfrm>
        </p:grpSpPr>
        <p:cxnSp>
          <p:nvCxnSpPr>
            <p:cNvPr id="599" name="1">
              <a:extLst>
                <a:ext uri="{FF2B5EF4-FFF2-40B4-BE49-F238E27FC236}">
                  <a16:creationId xmlns:a16="http://schemas.microsoft.com/office/drawing/2014/main" id="{BDC24C4D-4647-2A4E-5B7B-FD6A54B3527D}"/>
                </a:ext>
              </a:extLst>
            </p:cNvPr>
            <p:cNvCxnSpPr>
              <a:cxnSpLocks/>
            </p:cNvCxnSpPr>
            <p:nvPr/>
          </p:nvCxnSpPr>
          <p:spPr>
            <a:xfrm>
              <a:off x="4909787" y="2065361"/>
              <a:ext cx="540000" cy="0"/>
            </a:xfrm>
            <a:prstGeom prst="line">
              <a:avLst/>
            </a:prstGeom>
            <a:ln w="28575" cap="rnd"/>
          </p:spPr>
          <p:style>
            <a:lnRef idx="1">
              <a:schemeClr val="accent1"/>
            </a:lnRef>
            <a:fillRef idx="0">
              <a:schemeClr val="accent1"/>
            </a:fillRef>
            <a:effectRef idx="0">
              <a:schemeClr val="accent1"/>
            </a:effectRef>
            <a:fontRef idx="minor">
              <a:schemeClr val="tx1"/>
            </a:fontRef>
          </p:style>
        </p:cxnSp>
        <p:cxnSp>
          <p:nvCxnSpPr>
            <p:cNvPr id="604" name="1">
              <a:extLst>
                <a:ext uri="{FF2B5EF4-FFF2-40B4-BE49-F238E27FC236}">
                  <a16:creationId xmlns:a16="http://schemas.microsoft.com/office/drawing/2014/main" id="{5594428A-6DCA-D9FE-FBB6-5995AC7FDC27}"/>
                </a:ext>
              </a:extLst>
            </p:cNvPr>
            <p:cNvCxnSpPr/>
            <p:nvPr/>
          </p:nvCxnSpPr>
          <p:spPr>
            <a:xfrm flipH="1">
              <a:off x="4198431" y="2056102"/>
              <a:ext cx="699796" cy="699796"/>
            </a:xfrm>
            <a:prstGeom prst="line">
              <a:avLst/>
            </a:prstGeom>
            <a:ln w="28575" cap="rnd"/>
          </p:spPr>
          <p:style>
            <a:lnRef idx="1">
              <a:schemeClr val="accent1"/>
            </a:lnRef>
            <a:fillRef idx="0">
              <a:schemeClr val="accent1"/>
            </a:fillRef>
            <a:effectRef idx="0">
              <a:schemeClr val="accent1"/>
            </a:effectRef>
            <a:fontRef idx="minor">
              <a:schemeClr val="tx1"/>
            </a:fontRef>
          </p:style>
        </p:cxnSp>
      </p:grpSp>
      <p:grpSp>
        <p:nvGrpSpPr>
          <p:cNvPr id="580" name="组合 579">
            <a:extLst>
              <a:ext uri="{FF2B5EF4-FFF2-40B4-BE49-F238E27FC236}">
                <a16:creationId xmlns:a16="http://schemas.microsoft.com/office/drawing/2014/main" id="{40956B24-B15F-054B-E94F-2E267C9690B8}"/>
              </a:ext>
            </a:extLst>
          </p:cNvPr>
          <p:cNvGrpSpPr/>
          <p:nvPr/>
        </p:nvGrpSpPr>
        <p:grpSpPr>
          <a:xfrm>
            <a:off x="2876928" y="27943994"/>
            <a:ext cx="950628" cy="535905"/>
            <a:chOff x="4297680" y="4243377"/>
            <a:chExt cx="1140547" cy="603087"/>
          </a:xfrm>
        </p:grpSpPr>
        <p:cxnSp>
          <p:nvCxnSpPr>
            <p:cNvPr id="581" name="4">
              <a:extLst>
                <a:ext uri="{FF2B5EF4-FFF2-40B4-BE49-F238E27FC236}">
                  <a16:creationId xmlns:a16="http://schemas.microsoft.com/office/drawing/2014/main" id="{4A6BA626-73B6-9519-34AD-05A238ED7E6A}"/>
                </a:ext>
              </a:extLst>
            </p:cNvPr>
            <p:cNvCxnSpPr>
              <a:cxnSpLocks/>
            </p:cNvCxnSpPr>
            <p:nvPr/>
          </p:nvCxnSpPr>
          <p:spPr>
            <a:xfrm>
              <a:off x="4898227" y="4846464"/>
              <a:ext cx="540000" cy="0"/>
            </a:xfrm>
            <a:prstGeom prst="line">
              <a:avLst/>
            </a:prstGeom>
            <a:ln w="28575" cap="rnd">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6" name="4">
              <a:extLst>
                <a:ext uri="{FF2B5EF4-FFF2-40B4-BE49-F238E27FC236}">
                  <a16:creationId xmlns:a16="http://schemas.microsoft.com/office/drawing/2014/main" id="{49C43622-1BFD-7AC8-62B6-E82C1C4969FB}"/>
                </a:ext>
              </a:extLst>
            </p:cNvPr>
            <p:cNvCxnSpPr/>
            <p:nvPr/>
          </p:nvCxnSpPr>
          <p:spPr>
            <a:xfrm flipH="1" flipV="1">
              <a:off x="4297680" y="4243377"/>
              <a:ext cx="600547" cy="600547"/>
            </a:xfrm>
            <a:prstGeom prst="line">
              <a:avLst/>
            </a:prstGeom>
            <a:ln w="28575" cap="rnd">
              <a:solidFill>
                <a:schemeClr val="accent4"/>
              </a:solidFill>
            </a:ln>
          </p:spPr>
          <p:style>
            <a:lnRef idx="1">
              <a:schemeClr val="accent1"/>
            </a:lnRef>
            <a:fillRef idx="0">
              <a:schemeClr val="accent1"/>
            </a:fillRef>
            <a:effectRef idx="0">
              <a:schemeClr val="accent1"/>
            </a:effectRef>
            <a:fontRef idx="minor">
              <a:schemeClr val="tx1"/>
            </a:fontRef>
          </p:style>
        </p:cxnSp>
      </p:grpSp>
      <p:cxnSp>
        <p:nvCxnSpPr>
          <p:cNvPr id="616" name="1">
            <a:extLst>
              <a:ext uri="{FF2B5EF4-FFF2-40B4-BE49-F238E27FC236}">
                <a16:creationId xmlns:a16="http://schemas.microsoft.com/office/drawing/2014/main" id="{4CAFF5F6-05D1-6B60-3A98-82C2931444B0}"/>
              </a:ext>
            </a:extLst>
          </p:cNvPr>
          <p:cNvCxnSpPr>
            <a:cxnSpLocks/>
          </p:cNvCxnSpPr>
          <p:nvPr/>
        </p:nvCxnSpPr>
        <p:spPr>
          <a:xfrm>
            <a:off x="5828669" y="27087488"/>
            <a:ext cx="1066968" cy="0"/>
          </a:xfrm>
          <a:prstGeom prst="line">
            <a:avLst/>
          </a:prstGeom>
          <a:ln w="28575" cap="rnd"/>
        </p:spPr>
        <p:style>
          <a:lnRef idx="1">
            <a:schemeClr val="accent1"/>
          </a:lnRef>
          <a:fillRef idx="0">
            <a:schemeClr val="accent1"/>
          </a:fillRef>
          <a:effectRef idx="0">
            <a:schemeClr val="accent1"/>
          </a:effectRef>
          <a:fontRef idx="minor">
            <a:schemeClr val="tx1"/>
          </a:fontRef>
        </p:style>
      </p:cxnSp>
      <p:cxnSp>
        <p:nvCxnSpPr>
          <p:cNvPr id="623" name="4">
            <a:extLst>
              <a:ext uri="{FF2B5EF4-FFF2-40B4-BE49-F238E27FC236}">
                <a16:creationId xmlns:a16="http://schemas.microsoft.com/office/drawing/2014/main" id="{5CDE4E02-8394-2C33-AB77-F333C43CADBE}"/>
              </a:ext>
            </a:extLst>
          </p:cNvPr>
          <p:cNvCxnSpPr>
            <a:cxnSpLocks/>
          </p:cNvCxnSpPr>
          <p:nvPr/>
        </p:nvCxnSpPr>
        <p:spPr>
          <a:xfrm>
            <a:off x="5805074" y="28487800"/>
            <a:ext cx="1065600" cy="0"/>
          </a:xfrm>
          <a:prstGeom prst="line">
            <a:avLst/>
          </a:prstGeom>
          <a:ln w="28575" cap="rnd">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624" name="表格 623">
            <a:extLst>
              <a:ext uri="{FF2B5EF4-FFF2-40B4-BE49-F238E27FC236}">
                <a16:creationId xmlns:a16="http://schemas.microsoft.com/office/drawing/2014/main" id="{ADBD7C27-CC11-5224-6874-6B61AA1AFF60}"/>
              </a:ext>
            </a:extLst>
          </p:cNvPr>
          <p:cNvGraphicFramePr>
            <a:graphicFrameLocks noGrp="1"/>
          </p:cNvGraphicFramePr>
          <p:nvPr>
            <p:extLst>
              <p:ext uri="{D42A27DB-BD31-4B8C-83A1-F6EECF244321}">
                <p14:modId xmlns:p14="http://schemas.microsoft.com/office/powerpoint/2010/main" val="1691517512"/>
              </p:ext>
            </p:extLst>
          </p:nvPr>
        </p:nvGraphicFramePr>
        <p:xfrm>
          <a:off x="6870674" y="25685436"/>
          <a:ext cx="1213189" cy="3910228"/>
        </p:xfrm>
        <a:graphic>
          <a:graphicData uri="http://schemas.openxmlformats.org/drawingml/2006/table">
            <a:tbl>
              <a:tblPr firstRow="1" bandRow="1">
                <a:tableStyleId>{21E4AEA4-8DFA-4A89-87EB-49C32662AFE0}</a:tableStyleId>
              </a:tblPr>
              <a:tblGrid>
                <a:gridCol w="1213189">
                  <a:extLst>
                    <a:ext uri="{9D8B030D-6E8A-4147-A177-3AD203B41FA5}">
                      <a16:colId xmlns:a16="http://schemas.microsoft.com/office/drawing/2014/main" val="3635472729"/>
                    </a:ext>
                  </a:extLst>
                </a:gridCol>
              </a:tblGrid>
              <a:tr h="977557">
                <a:tc>
                  <a:txBody>
                    <a:bodyPr/>
                    <a:lstStyle/>
                    <a:p>
                      <a:pPr algn="ctr"/>
                      <a:r>
                        <a:rPr lang="en-US" altLang="zh-CN" sz="2400" b="1" dirty="0">
                          <a:solidFill>
                            <a:schemeClr val="tx1"/>
                          </a:solidFill>
                          <a:latin typeface="Arial" panose="020B0604020202020204" pitchFamily="34" charset="0"/>
                          <a:cs typeface="Arial" panose="020B0604020202020204" pitchFamily="34" charset="0"/>
                        </a:rPr>
                        <a:t>Basal</a:t>
                      </a:r>
                      <a:endParaRPr lang="zh-CN" altLang="en-US" sz="2400" b="1" dirty="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49927892"/>
                  </a:ext>
                </a:extLst>
              </a:tr>
              <a:tr h="977557">
                <a:tc>
                  <a:txBody>
                    <a:bodyPr/>
                    <a:lstStyle/>
                    <a:p>
                      <a:pPr algn="ctr"/>
                      <a:r>
                        <a:rPr lang="en-US" altLang="zh-CN" sz="2400" b="1" dirty="0">
                          <a:latin typeface="Arial" panose="020B0604020202020204" pitchFamily="34" charset="0"/>
                          <a:cs typeface="Arial" panose="020B0604020202020204" pitchFamily="34" charset="0"/>
                        </a:rPr>
                        <a:t>Her2</a:t>
                      </a:r>
                      <a:endParaRPr lang="zh-CN" altLang="en-US" sz="2400" b="1"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382907582"/>
                  </a:ext>
                </a:extLst>
              </a:tr>
              <a:tr h="977557">
                <a:tc>
                  <a:txBody>
                    <a:bodyPr/>
                    <a:lstStyle/>
                    <a:p>
                      <a:pPr algn="ctr"/>
                      <a:r>
                        <a:rPr lang="en-US" altLang="zh-CN" sz="2400" b="1" dirty="0">
                          <a:latin typeface="Arial" panose="020B0604020202020204" pitchFamily="34" charset="0"/>
                          <a:cs typeface="Arial" panose="020B0604020202020204" pitchFamily="34" charset="0"/>
                        </a:rPr>
                        <a:t>LumA</a:t>
                      </a:r>
                      <a:endParaRPr lang="zh-CN" altLang="en-US" sz="2400" b="1"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419729837"/>
                  </a:ext>
                </a:extLst>
              </a:tr>
              <a:tr h="977557">
                <a:tc>
                  <a:txBody>
                    <a:bodyPr/>
                    <a:lstStyle/>
                    <a:p>
                      <a:pPr algn="ctr"/>
                      <a:r>
                        <a:rPr lang="en-US" altLang="zh-CN" sz="2400" b="1" dirty="0">
                          <a:latin typeface="Arial" panose="020B0604020202020204" pitchFamily="34" charset="0"/>
                          <a:cs typeface="Arial" panose="020B0604020202020204" pitchFamily="34" charset="0"/>
                        </a:rPr>
                        <a:t>LumB</a:t>
                      </a:r>
                      <a:endParaRPr lang="zh-CN" altLang="en-US" sz="2400" b="1"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510125082"/>
                  </a:ext>
                </a:extLst>
              </a:tr>
            </a:tbl>
          </a:graphicData>
        </a:graphic>
      </p:graphicFrame>
      <p:graphicFrame>
        <p:nvGraphicFramePr>
          <p:cNvPr id="625" name="表格 624">
            <a:extLst>
              <a:ext uri="{FF2B5EF4-FFF2-40B4-BE49-F238E27FC236}">
                <a16:creationId xmlns:a16="http://schemas.microsoft.com/office/drawing/2014/main" id="{B4ACECDF-5C20-CA4F-EFC6-5FF5168BF679}"/>
              </a:ext>
            </a:extLst>
          </p:cNvPr>
          <p:cNvGraphicFramePr>
            <a:graphicFrameLocks noGrp="1"/>
          </p:cNvGraphicFramePr>
          <p:nvPr>
            <p:extLst>
              <p:ext uri="{D42A27DB-BD31-4B8C-83A1-F6EECF244321}">
                <p14:modId xmlns:p14="http://schemas.microsoft.com/office/powerpoint/2010/main" val="1501065418"/>
              </p:ext>
            </p:extLst>
          </p:nvPr>
        </p:nvGraphicFramePr>
        <p:xfrm>
          <a:off x="8729866" y="25669079"/>
          <a:ext cx="1143000" cy="3894820"/>
        </p:xfrm>
        <a:graphic>
          <a:graphicData uri="http://schemas.openxmlformats.org/drawingml/2006/table">
            <a:tbl>
              <a:tblPr firstRow="1" bandRow="1">
                <a:tableStyleId>{F5AB1C69-6EDB-4FF4-983F-18BD219EF322}</a:tableStyleId>
              </a:tblPr>
              <a:tblGrid>
                <a:gridCol w="1143000">
                  <a:extLst>
                    <a:ext uri="{9D8B030D-6E8A-4147-A177-3AD203B41FA5}">
                      <a16:colId xmlns:a16="http://schemas.microsoft.com/office/drawing/2014/main" val="3635472729"/>
                    </a:ext>
                  </a:extLst>
                </a:gridCol>
              </a:tblGrid>
              <a:tr h="973705">
                <a:tc>
                  <a:txBody>
                    <a:bodyPr/>
                    <a:lstStyle/>
                    <a:p>
                      <a:pPr algn="ctr"/>
                      <a:r>
                        <a:rPr lang="en-US" altLang="zh-CN" sz="2400" b="1" dirty="0">
                          <a:solidFill>
                            <a:schemeClr val="tx1"/>
                          </a:solidFill>
                          <a:latin typeface="Arial" panose="020B0604020202020204" pitchFamily="34" charset="0"/>
                          <a:cs typeface="Arial" panose="020B0604020202020204" pitchFamily="34" charset="0"/>
                        </a:rPr>
                        <a:t>Basal</a:t>
                      </a:r>
                      <a:endParaRPr lang="zh-CN" altLang="en-US" sz="2400" b="1" dirty="0">
                        <a:solidFill>
                          <a:schemeClr val="tx1"/>
                        </a:solidFill>
                        <a:latin typeface="Arial" panose="020B0604020202020204" pitchFamily="34" charset="0"/>
                        <a:cs typeface="Arial" panose="020B060402020202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649927892"/>
                  </a:ext>
                </a:extLst>
              </a:tr>
              <a:tr h="973705">
                <a:tc>
                  <a:txBody>
                    <a:bodyPr/>
                    <a:lstStyle/>
                    <a:p>
                      <a:pPr algn="ctr"/>
                      <a:r>
                        <a:rPr lang="en-US" altLang="zh-CN" sz="2400" b="1" dirty="0">
                          <a:latin typeface="Arial" panose="020B0604020202020204" pitchFamily="34" charset="0"/>
                          <a:cs typeface="Arial" panose="020B0604020202020204" pitchFamily="34" charset="0"/>
                        </a:rPr>
                        <a:t>Her2</a:t>
                      </a:r>
                      <a:endParaRPr lang="zh-CN" altLang="en-US" sz="2400" b="1" dirty="0">
                        <a:latin typeface="Arial" panose="020B0604020202020204" pitchFamily="34" charset="0"/>
                        <a:cs typeface="Arial" panose="020B0604020202020204" pitchFamily="34" charset="0"/>
                      </a:endParaRPr>
                    </a:p>
                  </a:txBody>
                  <a:tcPr anchor="ctr">
                    <a:lnT w="38100" cmpd="sng">
                      <a:noFill/>
                    </a:lnT>
                  </a:tcPr>
                </a:tc>
                <a:extLst>
                  <a:ext uri="{0D108BD9-81ED-4DB2-BD59-A6C34878D82A}">
                    <a16:rowId xmlns:a16="http://schemas.microsoft.com/office/drawing/2014/main" val="1382907582"/>
                  </a:ext>
                </a:extLst>
              </a:tr>
              <a:tr h="973705">
                <a:tc>
                  <a:txBody>
                    <a:bodyPr/>
                    <a:lstStyle/>
                    <a:p>
                      <a:pPr algn="ctr"/>
                      <a:r>
                        <a:rPr lang="en-US" altLang="zh-CN" sz="2400" b="1" dirty="0">
                          <a:latin typeface="Arial" panose="020B0604020202020204" pitchFamily="34" charset="0"/>
                          <a:cs typeface="Arial" panose="020B0604020202020204" pitchFamily="34" charset="0"/>
                        </a:rPr>
                        <a:t>LumA</a:t>
                      </a:r>
                      <a:endParaRPr lang="zh-CN" altLang="en-US" sz="2400" b="1"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419729837"/>
                  </a:ext>
                </a:extLst>
              </a:tr>
              <a:tr h="973705">
                <a:tc>
                  <a:txBody>
                    <a:bodyPr/>
                    <a:lstStyle/>
                    <a:p>
                      <a:pPr algn="ctr"/>
                      <a:r>
                        <a:rPr lang="en-US" altLang="zh-CN" sz="2400" b="1" dirty="0">
                          <a:latin typeface="Arial" panose="020B0604020202020204" pitchFamily="34" charset="0"/>
                          <a:cs typeface="Arial" panose="020B0604020202020204" pitchFamily="34" charset="0"/>
                        </a:rPr>
                        <a:t>LumB</a:t>
                      </a:r>
                      <a:endParaRPr lang="zh-CN" altLang="en-US" sz="2400" b="1"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510125082"/>
                  </a:ext>
                </a:extLst>
              </a:tr>
            </a:tbl>
          </a:graphicData>
        </a:graphic>
      </p:graphicFrame>
      <p:sp>
        <p:nvSpPr>
          <p:cNvPr id="628" name="文本框 627">
            <a:extLst>
              <a:ext uri="{FF2B5EF4-FFF2-40B4-BE49-F238E27FC236}">
                <a16:creationId xmlns:a16="http://schemas.microsoft.com/office/drawing/2014/main" id="{0F727215-19F4-1A5A-3AA6-D414A3EC6CC9}"/>
              </a:ext>
            </a:extLst>
          </p:cNvPr>
          <p:cNvSpPr txBox="1"/>
          <p:nvPr/>
        </p:nvSpPr>
        <p:spPr>
          <a:xfrm>
            <a:off x="5460206" y="24797218"/>
            <a:ext cx="4114800" cy="830997"/>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Predicted</a:t>
            </a:r>
          </a:p>
          <a:p>
            <a:pPr algn="ctr"/>
            <a:r>
              <a:rPr lang="en-US" altLang="zh-CN" sz="2400" dirty="0">
                <a:latin typeface="Arial" panose="020B0604020202020204" pitchFamily="34" charset="0"/>
                <a:cs typeface="Arial" panose="020B0604020202020204" pitchFamily="34" charset="0"/>
              </a:rPr>
              <a:t>subtype</a:t>
            </a:r>
          </a:p>
        </p:txBody>
      </p:sp>
      <p:sp>
        <p:nvSpPr>
          <p:cNvPr id="629" name="文本框 628">
            <a:extLst>
              <a:ext uri="{FF2B5EF4-FFF2-40B4-BE49-F238E27FC236}">
                <a16:creationId xmlns:a16="http://schemas.microsoft.com/office/drawing/2014/main" id="{35F26B84-2FF1-0847-57CE-6F7E68A18FB5}"/>
              </a:ext>
            </a:extLst>
          </p:cNvPr>
          <p:cNvSpPr txBox="1"/>
          <p:nvPr/>
        </p:nvSpPr>
        <p:spPr>
          <a:xfrm>
            <a:off x="7710743" y="24789032"/>
            <a:ext cx="3105346" cy="830997"/>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True</a:t>
            </a:r>
          </a:p>
          <a:p>
            <a:pPr algn="ctr"/>
            <a:r>
              <a:rPr lang="en-US" altLang="zh-CN" sz="2400" dirty="0">
                <a:latin typeface="Arial" panose="020B0604020202020204" pitchFamily="34" charset="0"/>
                <a:cs typeface="Arial" panose="020B0604020202020204" pitchFamily="34" charset="0"/>
              </a:rPr>
              <a:t>subtype</a:t>
            </a:r>
          </a:p>
        </p:txBody>
      </p:sp>
      <p:pic>
        <p:nvPicPr>
          <p:cNvPr id="639" name="图形 638">
            <a:extLst>
              <a:ext uri="{FF2B5EF4-FFF2-40B4-BE49-F238E27FC236}">
                <a16:creationId xmlns:a16="http://schemas.microsoft.com/office/drawing/2014/main" id="{1A961352-2FFD-4305-2962-0BB93603C884}"/>
              </a:ext>
            </a:extLst>
          </p:cNvPr>
          <p:cNvPicPr>
            <a:picLocks noChangeAspect="1"/>
          </p:cNvPicPr>
          <p:nvPr>
            <p:custDataLst>
              <p:tags r:id="rId1"/>
            </p:custDataLst>
          </p:nvPr>
        </p:nvPicPr>
        <p:blipFill>
          <a:blip r:embed="rId13">
            <a:extLst>
              <a:ext uri="{96DAC541-7B7A-43D3-8B79-37D633B846F1}">
                <asvg:svgBlip xmlns:asvg="http://schemas.microsoft.com/office/drawing/2016/SVG/main" r:embed="rId14"/>
              </a:ext>
            </a:extLst>
          </a:blip>
          <a:stretch>
            <a:fillRect/>
          </a:stretch>
        </p:blipFill>
        <p:spPr>
          <a:xfrm rot="5400000">
            <a:off x="9949065" y="27297471"/>
            <a:ext cx="720000" cy="720000"/>
          </a:xfrm>
          <a:prstGeom prst="rect">
            <a:avLst/>
          </a:prstGeom>
        </p:spPr>
      </p:pic>
      <p:pic>
        <p:nvPicPr>
          <p:cNvPr id="640" name="图片 639">
            <a:extLst>
              <a:ext uri="{FF2B5EF4-FFF2-40B4-BE49-F238E27FC236}">
                <a16:creationId xmlns:a16="http://schemas.microsoft.com/office/drawing/2014/main" id="{72382C9B-5F1B-1CEF-19A1-36FEC757A222}"/>
              </a:ext>
            </a:extLst>
          </p:cNvPr>
          <p:cNvPicPr>
            <a:picLocks noChangeAspect="1"/>
          </p:cNvPicPr>
          <p:nvPr/>
        </p:nvPicPr>
        <p:blipFill>
          <a:blip r:embed="rId15"/>
          <a:stretch>
            <a:fillRect/>
          </a:stretch>
        </p:blipFill>
        <p:spPr>
          <a:xfrm>
            <a:off x="10877288" y="26937471"/>
            <a:ext cx="1423626" cy="1440000"/>
          </a:xfrm>
          <a:prstGeom prst="rect">
            <a:avLst/>
          </a:prstGeom>
        </p:spPr>
      </p:pic>
      <p:sp>
        <p:nvSpPr>
          <p:cNvPr id="641" name="文本框 640">
            <a:extLst>
              <a:ext uri="{FF2B5EF4-FFF2-40B4-BE49-F238E27FC236}">
                <a16:creationId xmlns:a16="http://schemas.microsoft.com/office/drawing/2014/main" id="{9048E503-DD4E-595A-AB55-BCEAED30A502}"/>
              </a:ext>
            </a:extLst>
          </p:cNvPr>
          <p:cNvSpPr txBox="1"/>
          <p:nvPr/>
        </p:nvSpPr>
        <p:spPr>
          <a:xfrm>
            <a:off x="10047497" y="26074811"/>
            <a:ext cx="3105346" cy="830997"/>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class confusion matrix</a:t>
            </a:r>
            <a:endParaRPr lang="zh-CN" altLang="en-US" sz="2400" dirty="0">
              <a:latin typeface="Arial" panose="020B0604020202020204" pitchFamily="34" charset="0"/>
              <a:cs typeface="Arial" panose="020B0604020202020204" pitchFamily="34" charset="0"/>
            </a:endParaRPr>
          </a:p>
        </p:txBody>
      </p:sp>
      <p:pic>
        <p:nvPicPr>
          <p:cNvPr id="642" name="图形 641">
            <a:extLst>
              <a:ext uri="{FF2B5EF4-FFF2-40B4-BE49-F238E27FC236}">
                <a16:creationId xmlns:a16="http://schemas.microsoft.com/office/drawing/2014/main" id="{0428B826-0F37-0EE9-1D32-C13533EB12F0}"/>
              </a:ext>
            </a:extLst>
          </p:cNvPr>
          <p:cNvPicPr>
            <a:picLocks noChangeAspect="1"/>
          </p:cNvPicPr>
          <p:nvPr>
            <p:custDataLst>
              <p:tags r:id="rId2"/>
            </p:custDataLst>
          </p:nvPr>
        </p:nvPicPr>
        <p:blipFill>
          <a:blip r:embed="rId13">
            <a:extLst>
              <a:ext uri="{96DAC541-7B7A-43D3-8B79-37D633B846F1}">
                <asvg:svgBlip xmlns:asvg="http://schemas.microsoft.com/office/drawing/2016/SVG/main" r:embed="rId14"/>
              </a:ext>
            </a:extLst>
          </a:blip>
          <a:stretch>
            <a:fillRect/>
          </a:stretch>
        </p:blipFill>
        <p:spPr>
          <a:xfrm rot="5400000">
            <a:off x="12375553" y="27297471"/>
            <a:ext cx="720000" cy="720000"/>
          </a:xfrm>
          <a:prstGeom prst="rect">
            <a:avLst/>
          </a:prstGeom>
        </p:spPr>
      </p:pic>
      <p:pic>
        <p:nvPicPr>
          <p:cNvPr id="648" name="图片 647">
            <a:extLst>
              <a:ext uri="{FF2B5EF4-FFF2-40B4-BE49-F238E27FC236}">
                <a16:creationId xmlns:a16="http://schemas.microsoft.com/office/drawing/2014/main" id="{CDB04330-30E6-6E4A-418B-65A4445B3434}"/>
              </a:ext>
            </a:extLst>
          </p:cNvPr>
          <p:cNvPicPr>
            <a:picLocks noChangeAspect="1"/>
          </p:cNvPicPr>
          <p:nvPr/>
        </p:nvPicPr>
        <p:blipFill>
          <a:blip r:embed="rId16">
            <a:extLst>
              <a:ext uri="{28A0092B-C50C-407E-A947-70E740481C1C}">
                <a14:useLocalDpi xmlns:a14="http://schemas.microsoft.com/office/drawing/2010/main" val="0"/>
              </a:ext>
            </a:extLst>
          </a:blip>
          <a:srcRect t="11620"/>
          <a:stretch>
            <a:fillRect/>
          </a:stretch>
        </p:blipFill>
        <p:spPr>
          <a:xfrm>
            <a:off x="15366206" y="32298805"/>
            <a:ext cx="7564398" cy="4114476"/>
          </a:xfrm>
          <a:prstGeom prst="rect">
            <a:avLst/>
          </a:prstGeom>
        </p:spPr>
      </p:pic>
      <p:sp>
        <p:nvSpPr>
          <p:cNvPr id="18" name="object 25">
            <a:extLst>
              <a:ext uri="{FF2B5EF4-FFF2-40B4-BE49-F238E27FC236}">
                <a16:creationId xmlns:a16="http://schemas.microsoft.com/office/drawing/2014/main" id="{AB217E1D-8BC1-39FB-AF09-20F02C9239A5}"/>
              </a:ext>
            </a:extLst>
          </p:cNvPr>
          <p:cNvSpPr txBox="1"/>
          <p:nvPr/>
        </p:nvSpPr>
        <p:spPr>
          <a:xfrm>
            <a:off x="15671006" y="7685881"/>
            <a:ext cx="13140444" cy="1507928"/>
          </a:xfrm>
          <a:prstGeom prst="rect">
            <a:avLst/>
          </a:prstGeom>
        </p:spPr>
        <p:txBody>
          <a:bodyPr vert="horz" wrap="square" lIns="0" tIns="350345" rIns="0" bIns="0" rtlCol="0">
            <a:spAutoFit/>
          </a:bodyPr>
          <a:lstStyle/>
          <a:p>
            <a:pPr marL="436880">
              <a:spcBef>
                <a:spcPts val="2760"/>
              </a:spcBef>
            </a:pPr>
            <a:r>
              <a:rPr sz="3200" b="1" spc="-59" dirty="0">
                <a:solidFill>
                  <a:srgbClr val="0150A8"/>
                </a:solidFill>
                <a:latin typeface="Arial" panose="020B0604020202020204"/>
                <a:cs typeface="Arial" panose="020B0604020202020204"/>
              </a:rPr>
              <a:t>RESULTS :</a:t>
            </a:r>
          </a:p>
          <a:p>
            <a:pPr marL="662940" marR="121920" indent="-513080">
              <a:spcBef>
                <a:spcPts val="1800"/>
              </a:spcBef>
            </a:pPr>
            <a:r>
              <a:rPr sz="2800" b="1" spc="-20" dirty="0">
                <a:latin typeface="Arial" panose="020B0604020202020204"/>
                <a:cs typeface="Arial" panose="020B0604020202020204"/>
              </a:rPr>
              <a:t>1.</a:t>
            </a:r>
            <a:r>
              <a:rPr sz="2800" b="1" spc="201" dirty="0">
                <a:latin typeface="Arial" panose="020B0604020202020204"/>
                <a:cs typeface="Arial" panose="020B0604020202020204"/>
              </a:rPr>
              <a:t> </a:t>
            </a:r>
            <a:r>
              <a:rPr lang="en-US" sz="2800" b="1" spc="-20" dirty="0">
                <a:latin typeface="Arial" panose="020B0604020202020204"/>
                <a:cs typeface="Arial" panose="020B0604020202020204"/>
              </a:rPr>
              <a:t>UGES Outperforms One-Step Classification in Subtype Discrimination</a:t>
            </a:r>
            <a:endParaRPr lang="en-US" sz="2800" b="1" spc="-40" dirty="0">
              <a:latin typeface="Arial" panose="020B0604020202020204"/>
              <a:cs typeface="Arial" panose="020B0604020202020204"/>
            </a:endParaRPr>
          </a:p>
        </p:txBody>
      </p:sp>
      <p:sp>
        <p:nvSpPr>
          <p:cNvPr id="19" name="文本框 18">
            <a:extLst>
              <a:ext uri="{FF2B5EF4-FFF2-40B4-BE49-F238E27FC236}">
                <a16:creationId xmlns:a16="http://schemas.microsoft.com/office/drawing/2014/main" id="{21878BAA-80E4-0B82-7535-8FEF37F02D47}"/>
              </a:ext>
            </a:extLst>
          </p:cNvPr>
          <p:cNvSpPr txBox="1"/>
          <p:nvPr/>
        </p:nvSpPr>
        <p:spPr>
          <a:xfrm>
            <a:off x="15526633" y="16601281"/>
            <a:ext cx="13555573" cy="2308324"/>
          </a:xfrm>
          <a:prstGeom prst="rect">
            <a:avLst/>
          </a:prstGeom>
          <a:noFill/>
        </p:spPr>
        <p:txBody>
          <a:bodyPr wrap="square" rtlCol="0">
            <a:spAutoFit/>
          </a:bodyPr>
          <a:lstStyle/>
          <a:p>
            <a:pPr algn="just"/>
            <a:r>
              <a:rPr lang="en-US" altLang="zh-CN" sz="2400" b="1" dirty="0">
                <a:latin typeface="Arial" panose="020B0604020202020204" pitchFamily="34" charset="0"/>
                <a:cs typeface="Arial" panose="020B0604020202020204" pitchFamily="34" charset="0"/>
              </a:rPr>
              <a:t>Figure 4. Discrimination performance of UGES under different hierarchical classification strategies. </a:t>
            </a:r>
            <a:r>
              <a:rPr lang="en-US" altLang="zh-CN" sz="2400" dirty="0">
                <a:latin typeface="Arial" panose="020B0604020202020204" pitchFamily="34" charset="0"/>
                <a:cs typeface="Arial" panose="020B0604020202020204" pitchFamily="34" charset="0"/>
              </a:rPr>
              <a:t>Pairwise one-vs-one ROC analysis results showed that proposed hierarchical structure (B,(H,(LA,LB))) (left) achieved the highest discrimination performance, especially for the clinically challenging Luminal A vs. Luminal B classification (AUC = 0.948), outperforming the alternative one-step structure (B,H,LA,LB) (right; AUC = 0.828). All UGES subtype pairings demonstrated excellent AUC values, supporting the effectiveness and robustness of the hierarchical design.</a:t>
            </a:r>
            <a:endParaRPr lang="zh-CN" altLang="en-US" sz="2400" dirty="0">
              <a:latin typeface="Arial" panose="020B0604020202020204" pitchFamily="34" charset="0"/>
              <a:cs typeface="Arial" panose="020B0604020202020204" pitchFamily="34" charset="0"/>
            </a:endParaRPr>
          </a:p>
        </p:txBody>
      </p:sp>
      <p:graphicFrame>
        <p:nvGraphicFramePr>
          <p:cNvPr id="22" name="表格 21">
            <a:extLst>
              <a:ext uri="{FF2B5EF4-FFF2-40B4-BE49-F238E27FC236}">
                <a16:creationId xmlns:a16="http://schemas.microsoft.com/office/drawing/2014/main" id="{BE37AE10-4D5D-28D6-49B1-6937EDD3C0AB}"/>
              </a:ext>
            </a:extLst>
          </p:cNvPr>
          <p:cNvGraphicFramePr>
            <a:graphicFrameLocks noGrp="1"/>
          </p:cNvGraphicFramePr>
          <p:nvPr>
            <p:extLst>
              <p:ext uri="{D42A27DB-BD31-4B8C-83A1-F6EECF244321}">
                <p14:modId xmlns:p14="http://schemas.microsoft.com/office/powerpoint/2010/main" val="3975568889"/>
              </p:ext>
            </p:extLst>
          </p:nvPr>
        </p:nvGraphicFramePr>
        <p:xfrm>
          <a:off x="1061767" y="14238137"/>
          <a:ext cx="9580039" cy="8687744"/>
        </p:xfrm>
        <a:graphic>
          <a:graphicData uri="http://schemas.openxmlformats.org/drawingml/2006/table">
            <a:tbl>
              <a:tblPr firstRow="1" firstCol="1" bandRow="1">
                <a:tableStyleId>{5940675A-B579-460E-94D1-54222C63F5DA}</a:tableStyleId>
              </a:tblPr>
              <a:tblGrid>
                <a:gridCol w="1304214">
                  <a:extLst>
                    <a:ext uri="{9D8B030D-6E8A-4147-A177-3AD203B41FA5}">
                      <a16:colId xmlns:a16="http://schemas.microsoft.com/office/drawing/2014/main" val="2337176688"/>
                    </a:ext>
                  </a:extLst>
                </a:gridCol>
                <a:gridCol w="1371600">
                  <a:extLst>
                    <a:ext uri="{9D8B030D-6E8A-4147-A177-3AD203B41FA5}">
                      <a16:colId xmlns:a16="http://schemas.microsoft.com/office/drawing/2014/main" val="1710098434"/>
                    </a:ext>
                  </a:extLst>
                </a:gridCol>
                <a:gridCol w="1447800">
                  <a:extLst>
                    <a:ext uri="{9D8B030D-6E8A-4147-A177-3AD203B41FA5}">
                      <a16:colId xmlns:a16="http://schemas.microsoft.com/office/drawing/2014/main" val="1574444167"/>
                    </a:ext>
                  </a:extLst>
                </a:gridCol>
                <a:gridCol w="1600200">
                  <a:extLst>
                    <a:ext uri="{9D8B030D-6E8A-4147-A177-3AD203B41FA5}">
                      <a16:colId xmlns:a16="http://schemas.microsoft.com/office/drawing/2014/main" val="1127197553"/>
                    </a:ext>
                  </a:extLst>
                </a:gridCol>
                <a:gridCol w="1113025">
                  <a:extLst>
                    <a:ext uri="{9D8B030D-6E8A-4147-A177-3AD203B41FA5}">
                      <a16:colId xmlns:a16="http://schemas.microsoft.com/office/drawing/2014/main" val="754133359"/>
                    </a:ext>
                  </a:extLst>
                </a:gridCol>
                <a:gridCol w="1676400">
                  <a:extLst>
                    <a:ext uri="{9D8B030D-6E8A-4147-A177-3AD203B41FA5}">
                      <a16:colId xmlns:a16="http://schemas.microsoft.com/office/drawing/2014/main" val="3922475979"/>
                    </a:ext>
                  </a:extLst>
                </a:gridCol>
                <a:gridCol w="1066800">
                  <a:extLst>
                    <a:ext uri="{9D8B030D-6E8A-4147-A177-3AD203B41FA5}">
                      <a16:colId xmlns:a16="http://schemas.microsoft.com/office/drawing/2014/main" val="2832746555"/>
                    </a:ext>
                  </a:extLst>
                </a:gridCol>
              </a:tblGrid>
              <a:tr h="389724">
                <a:tc gridSpan="7">
                  <a:txBody>
                    <a:bodyPr/>
                    <a:lstStyle/>
                    <a:p>
                      <a:pPr algn="ctr">
                        <a:lnSpc>
                          <a:spcPct val="140000"/>
                        </a:lnSpc>
                        <a:buNone/>
                      </a:pPr>
                      <a:r>
                        <a:rPr lang="en-US" altLang="zh-CN" sz="1800" kern="100" dirty="0">
                          <a:effectLst/>
                          <a:latin typeface="Arial" panose="020B0604020202020204" pitchFamily="34" charset="0"/>
                          <a:cs typeface="Arial" panose="020B0604020202020204" pitchFamily="34" charset="0"/>
                        </a:rPr>
                        <a:t>Multivariable Cox Regression Results</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656445682"/>
                  </a:ext>
                </a:extLst>
              </a:tr>
              <a:tr h="829802">
                <a:tc gridSpan="2">
                  <a:txBody>
                    <a:bodyPr/>
                    <a:lstStyle/>
                    <a:p>
                      <a:pPr algn="ctr">
                        <a:lnSpc>
                          <a:spcPct val="140000"/>
                        </a:lnSpc>
                        <a:buNone/>
                      </a:pPr>
                      <a:r>
                        <a:rPr lang="en-US" altLang="zh-CN" sz="1800" kern="100" dirty="0">
                          <a:effectLst/>
                          <a:latin typeface="Arial" panose="020B0604020202020204" pitchFamily="34" charset="0"/>
                          <a:cs typeface="Arial" panose="020B0604020202020204" pitchFamily="34" charset="0"/>
                        </a:rPr>
                        <a:t>Clinical Feature</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hMerge="1">
                  <a:txBody>
                    <a:bodyPr/>
                    <a:lstStyle/>
                    <a:p>
                      <a:endParaRPr lang="zh-CN" altLang="en-US"/>
                    </a:p>
                  </a:txBody>
                  <a:tcPr/>
                </a:tc>
                <a:tc>
                  <a:txBody>
                    <a:bodyPr/>
                    <a:lstStyle/>
                    <a:p>
                      <a:pPr algn="ctr">
                        <a:lnSpc>
                          <a:spcPct val="140000"/>
                        </a:lnSpc>
                        <a:buNone/>
                      </a:pPr>
                      <a:r>
                        <a:rPr lang="en-US" altLang="zh-CN" sz="1800" kern="100" dirty="0">
                          <a:effectLst/>
                          <a:latin typeface="Arial" panose="020B0604020202020204" pitchFamily="34" charset="0"/>
                          <a:cs typeface="Arial" panose="020B0604020202020204" pitchFamily="34" charset="0"/>
                        </a:rPr>
                        <a:t>Dataset</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altLang="zh-CN" sz="1800" kern="100" dirty="0">
                          <a:effectLst/>
                          <a:latin typeface="Arial" panose="020B0604020202020204" pitchFamily="34" charset="0"/>
                          <a:cs typeface="Arial" panose="020B0604020202020204" pitchFamily="34" charset="0"/>
                        </a:rPr>
                        <a:t>Count (%) / Mean (Range)</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altLang="zh-CN" sz="1800" kern="100" dirty="0">
                          <a:effectLst/>
                          <a:latin typeface="Arial" panose="020B0604020202020204" pitchFamily="34" charset="0"/>
                          <a:cs typeface="Arial" panose="020B0604020202020204" pitchFamily="34" charset="0"/>
                        </a:rPr>
                        <a:t>Hazard Ratio</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95%CI</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P </a:t>
                      </a:r>
                      <a:r>
                        <a:rPr lang="en-US" altLang="zh-CN" sz="1800" kern="100" dirty="0">
                          <a:effectLst/>
                          <a:latin typeface="Arial" panose="020B0604020202020204" pitchFamily="34" charset="0"/>
                          <a:cs typeface="Arial" panose="020B0604020202020204" pitchFamily="34" charset="0"/>
                        </a:rPr>
                        <a:t>value</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2007820649"/>
                  </a:ext>
                </a:extLst>
              </a:tr>
              <a:tr h="829802">
                <a:tc rowSpan="3">
                  <a:txBody>
                    <a:bodyPr/>
                    <a:lstStyle/>
                    <a:p>
                      <a:pPr algn="ctr"/>
                      <a:r>
                        <a:rPr lang="en-US" altLang="zh-CN" sz="2000" kern="100" dirty="0">
                          <a:solidFill>
                            <a:schemeClr val="tx1"/>
                          </a:solidFill>
                          <a:effectLst/>
                          <a:latin typeface="Arial" panose="020B0604020202020204" pitchFamily="34" charset="0"/>
                          <a:ea typeface="宋体" panose="02010600030101010101" pitchFamily="2" charset="-122"/>
                          <a:cs typeface="Arial" panose="020B0604020202020204" pitchFamily="34" charset="0"/>
                        </a:rPr>
                        <a:t>Age</a:t>
                      </a:r>
                      <a:endParaRPr lang="zh-CN" altLang="en-US" sz="2000" kern="100" dirty="0">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anchor="ctr"/>
                </a:tc>
                <a:tc rowSpan="3">
                  <a:txBody>
                    <a:bodyPr/>
                    <a:lstStyle/>
                    <a:p>
                      <a:pPr marL="0" algn="ctr"/>
                      <a:r>
                        <a:rPr lang="en-US" altLang="zh-CN" sz="1800" kern="100" dirty="0">
                          <a:solidFill>
                            <a:schemeClr val="tx1"/>
                          </a:solidFill>
                          <a:effectLst/>
                          <a:latin typeface="Arial" panose="020B0604020202020204" pitchFamily="34" charset="0"/>
                          <a:ea typeface="宋体" panose="02010600030101010101" pitchFamily="2" charset="-122"/>
                          <a:cs typeface="Arial" panose="020B0604020202020204" pitchFamily="34" charset="0"/>
                        </a:rPr>
                        <a:t>at diagnosis</a:t>
                      </a:r>
                      <a:endParaRPr lang="zh-CN" altLang="en-US" sz="1800" kern="100" dirty="0">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anchor="ctr"/>
                </a:tc>
                <a:tc>
                  <a:txBody>
                    <a:bodyPr/>
                    <a:lstStyle/>
                    <a:p>
                      <a:pPr algn="ctr">
                        <a:lnSpc>
                          <a:spcPct val="140000"/>
                        </a:lnSpc>
                        <a:buNone/>
                      </a:pPr>
                      <a:r>
                        <a:rPr lang="en-US" altLang="zh-CN" sz="1800" kern="100" dirty="0">
                          <a:effectLst/>
                          <a:latin typeface="Arial" panose="020B0604020202020204" pitchFamily="34" charset="0"/>
                          <a:ea typeface="宋体" panose="02010600030101010101" pitchFamily="2" charset="-122"/>
                          <a:cs typeface="Arial" panose="020B0604020202020204" pitchFamily="34" charset="0"/>
                        </a:rPr>
                        <a:t>TCGA</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solidFill>
                            <a:schemeClr val="tx1"/>
                          </a:solidFill>
                          <a:effectLst/>
                          <a:latin typeface="Arial" panose="020B0604020202020204" pitchFamily="34" charset="0"/>
                          <a:ea typeface="+mn-ea"/>
                          <a:cs typeface="Arial" panose="020B0604020202020204" pitchFamily="34" charset="0"/>
                        </a:rPr>
                        <a:t>58.4 (26-90)</a:t>
                      </a:r>
                      <a:endParaRPr lang="zh-CN" altLang="en-US" sz="1800" kern="1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tc>
                  <a:txBody>
                    <a:bodyPr/>
                    <a:lstStyle/>
                    <a:p>
                      <a:pPr algn="ctr">
                        <a:lnSpc>
                          <a:spcPct val="140000"/>
                        </a:lnSpc>
                        <a:buNone/>
                      </a:pPr>
                      <a:r>
                        <a:rPr lang="en-US" sz="1800" kern="100" dirty="0">
                          <a:solidFill>
                            <a:schemeClr val="tx1"/>
                          </a:solidFill>
                          <a:effectLst/>
                          <a:latin typeface="Arial" panose="020B0604020202020204" pitchFamily="34" charset="0"/>
                          <a:ea typeface="+mn-ea"/>
                          <a:cs typeface="Arial" panose="020B0604020202020204" pitchFamily="34" charset="0"/>
                        </a:rPr>
                        <a:t>1.038</a:t>
                      </a:r>
                      <a:endParaRPr lang="zh-CN" altLang="en-US" sz="1800" kern="1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tc>
                  <a:txBody>
                    <a:bodyPr/>
                    <a:lstStyle/>
                    <a:p>
                      <a:pPr algn="ctr">
                        <a:lnSpc>
                          <a:spcPct val="140000"/>
                        </a:lnSpc>
                        <a:buNone/>
                      </a:pPr>
                      <a:r>
                        <a:rPr lang="en-US" sz="1800" kern="100" dirty="0">
                          <a:solidFill>
                            <a:schemeClr val="tx1"/>
                          </a:solidFill>
                          <a:effectLst/>
                          <a:latin typeface="Arial" panose="020B0604020202020204" pitchFamily="34" charset="0"/>
                          <a:ea typeface="+mn-ea"/>
                          <a:cs typeface="Arial" panose="020B0604020202020204" pitchFamily="34" charset="0"/>
                        </a:rPr>
                        <a:t>(1.024, 1.053)</a:t>
                      </a:r>
                      <a:endParaRPr lang="zh-CN" altLang="en-US" sz="1800" kern="1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tc>
                  <a:txBody>
                    <a:bodyPr/>
                    <a:lstStyle/>
                    <a:p>
                      <a:pPr algn="ctr">
                        <a:lnSpc>
                          <a:spcPct val="140000"/>
                        </a:lnSpc>
                        <a:buNone/>
                      </a:pPr>
                      <a:r>
                        <a:rPr lang="en-US" sz="1800" kern="100" dirty="0">
                          <a:solidFill>
                            <a:schemeClr val="tx1"/>
                          </a:solidFill>
                          <a:effectLst/>
                          <a:latin typeface="Arial" panose="020B0604020202020204" pitchFamily="34" charset="0"/>
                          <a:ea typeface="+mn-ea"/>
                          <a:cs typeface="Arial" panose="020B0604020202020204" pitchFamily="34" charset="0"/>
                        </a:rPr>
                        <a:t>2.3e-07</a:t>
                      </a:r>
                      <a:endParaRPr lang="zh-CN" altLang="en-US" sz="1800" kern="1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extLst>
                  <a:ext uri="{0D108BD9-81ED-4DB2-BD59-A6C34878D82A}">
                    <a16:rowId xmlns:a16="http://schemas.microsoft.com/office/drawing/2014/main" val="2489601886"/>
                  </a:ext>
                </a:extLst>
              </a:tr>
              <a:tr h="829802">
                <a:tc vMerge="1">
                  <a:txBody>
                    <a:bodyPr/>
                    <a:lstStyle/>
                    <a:p>
                      <a:pPr algn="ctr"/>
                      <a:endParaRPr lang="zh-CN" altLang="en-US" sz="2000" kern="100" dirty="0">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anchor="ctr"/>
                </a:tc>
                <a:tc vMerge="1">
                  <a:txBody>
                    <a:bodyPr/>
                    <a:lstStyle/>
                    <a:p>
                      <a:pPr marL="0" algn="ctr"/>
                      <a:endParaRPr lang="zh-CN" altLang="en-US" sz="2000" kern="100" dirty="0">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anchor="ctr"/>
                </a:tc>
                <a:tc>
                  <a:txBody>
                    <a:bodyPr/>
                    <a:lstStyle/>
                    <a:p>
                      <a:pPr algn="ctr">
                        <a:lnSpc>
                          <a:spcPct val="140000"/>
                        </a:lnSpc>
                        <a:buNone/>
                      </a:pPr>
                      <a:r>
                        <a:rPr lang="en-US" altLang="zh-CN" sz="1800" kern="100" dirty="0">
                          <a:effectLst/>
                          <a:latin typeface="Arial" panose="020B0604020202020204" pitchFamily="34" charset="0"/>
                          <a:ea typeface="+mn-ea"/>
                          <a:cs typeface="Arial" panose="020B0604020202020204" pitchFamily="34" charset="0"/>
                        </a:rPr>
                        <a:t>METABRIC</a:t>
                      </a:r>
                    </a:p>
                  </a:txBody>
                  <a:tcPr marL="68580" marR="68580" marT="0" marB="0" anchor="ctr"/>
                </a:tc>
                <a:tc>
                  <a:txBody>
                    <a:bodyPr/>
                    <a:lstStyle/>
                    <a:p>
                      <a:pPr algn="ctr">
                        <a:lnSpc>
                          <a:spcPct val="140000"/>
                        </a:lnSpc>
                        <a:buNone/>
                      </a:pPr>
                      <a:r>
                        <a:rPr lang="en-US" sz="1800" kern="100" dirty="0">
                          <a:solidFill>
                            <a:schemeClr val="tx1"/>
                          </a:solidFill>
                          <a:effectLst/>
                          <a:latin typeface="Arial" panose="020B0604020202020204" pitchFamily="34" charset="0"/>
                          <a:ea typeface="+mn-ea"/>
                          <a:cs typeface="Arial" panose="020B0604020202020204" pitchFamily="34" charset="0"/>
                        </a:rPr>
                        <a:t>61.6 (21-96)</a:t>
                      </a:r>
                      <a:endParaRPr lang="zh-CN" altLang="en-US" sz="1800" kern="1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tc>
                  <a:txBody>
                    <a:bodyPr/>
                    <a:lstStyle/>
                    <a:p>
                      <a:pPr algn="ctr">
                        <a:lnSpc>
                          <a:spcPct val="140000"/>
                        </a:lnSpc>
                        <a:buNone/>
                      </a:pPr>
                      <a:r>
                        <a:rPr lang="en-US" sz="1800" kern="100" dirty="0">
                          <a:solidFill>
                            <a:schemeClr val="tx1"/>
                          </a:solidFill>
                          <a:effectLst/>
                          <a:latin typeface="Arial" panose="020B0604020202020204" pitchFamily="34" charset="0"/>
                          <a:ea typeface="+mn-ea"/>
                          <a:cs typeface="Arial" panose="020B0604020202020204" pitchFamily="34" charset="0"/>
                        </a:rPr>
                        <a:t>1.041</a:t>
                      </a:r>
                      <a:endParaRPr lang="zh-CN" altLang="en-US" sz="1800" kern="1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tc>
                  <a:txBody>
                    <a:bodyPr/>
                    <a:lstStyle/>
                    <a:p>
                      <a:pPr algn="ctr">
                        <a:lnSpc>
                          <a:spcPct val="140000"/>
                        </a:lnSpc>
                        <a:buNone/>
                      </a:pPr>
                      <a:r>
                        <a:rPr lang="en-US" sz="1800" kern="100" dirty="0">
                          <a:solidFill>
                            <a:schemeClr val="tx1"/>
                          </a:solidFill>
                          <a:effectLst/>
                          <a:latin typeface="Arial" panose="020B0604020202020204" pitchFamily="34" charset="0"/>
                          <a:ea typeface="+mn-ea"/>
                          <a:cs typeface="Arial" panose="020B0604020202020204" pitchFamily="34" charset="0"/>
                        </a:rPr>
                        <a:t>(1.033, 1.050)</a:t>
                      </a:r>
                      <a:endParaRPr lang="zh-CN" altLang="en-US" sz="1800" kern="1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tc>
                  <a:txBody>
                    <a:bodyPr/>
                    <a:lstStyle/>
                    <a:p>
                      <a:pPr algn="ctr">
                        <a:lnSpc>
                          <a:spcPct val="140000"/>
                        </a:lnSpc>
                        <a:buNone/>
                      </a:pPr>
                      <a:r>
                        <a:rPr lang="en-US" sz="1800" kern="100" dirty="0">
                          <a:solidFill>
                            <a:schemeClr val="tx1"/>
                          </a:solidFill>
                          <a:effectLst/>
                          <a:latin typeface="Arial" panose="020B0604020202020204" pitchFamily="34" charset="0"/>
                          <a:ea typeface="+mn-ea"/>
                          <a:cs typeface="Arial" panose="020B0604020202020204" pitchFamily="34" charset="0"/>
                        </a:rPr>
                        <a:t>&lt; 2e-16</a:t>
                      </a:r>
                      <a:endParaRPr lang="zh-CN" altLang="en-US" sz="1800" kern="1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extLst>
                  <a:ext uri="{0D108BD9-81ED-4DB2-BD59-A6C34878D82A}">
                    <a16:rowId xmlns:a16="http://schemas.microsoft.com/office/drawing/2014/main" val="3153320233"/>
                  </a:ext>
                </a:extLst>
              </a:tr>
              <a:tr h="829802">
                <a:tc vMerge="1">
                  <a:txBody>
                    <a:bodyPr/>
                    <a:lstStyle/>
                    <a:p>
                      <a:endParaRPr dirty="0"/>
                    </a:p>
                  </a:txBody>
                  <a:tcPr anchor="ctr"/>
                </a:tc>
                <a:tc vMerge="1">
                  <a:txBody>
                    <a:bodyPr/>
                    <a:lstStyle/>
                    <a:p>
                      <a:endParaRPr dirty="0"/>
                    </a:p>
                  </a:txBody>
                  <a:tcPr anchor="ctr"/>
                </a:tc>
                <a:tc>
                  <a:txBody>
                    <a:bodyPr/>
                    <a:lstStyle/>
                    <a:p>
                      <a:pPr algn="ctr">
                        <a:lnSpc>
                          <a:spcPct val="140000"/>
                        </a:lnSpc>
                        <a:buNone/>
                      </a:pPr>
                      <a:r>
                        <a:rPr lang="en-US" altLang="zh-CN" sz="1800" kern="100" dirty="0">
                          <a:effectLst/>
                          <a:latin typeface="Arial" panose="020B0604020202020204" pitchFamily="34" charset="0"/>
                          <a:ea typeface="宋体" panose="02010600030101010101" pitchFamily="2" charset="-122"/>
                          <a:cs typeface="Arial" panose="020B0604020202020204" pitchFamily="34" charset="0"/>
                        </a:rPr>
                        <a:t>Combined</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60.1 (21-96)</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1.038</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(1.031, 1.045)</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&lt; 2e-16</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2131706219"/>
                  </a:ext>
                </a:extLst>
              </a:tr>
              <a:tr h="829802">
                <a:tc rowSpan="2">
                  <a:txBody>
                    <a:bodyPr/>
                    <a:lstStyle/>
                    <a:p>
                      <a:pPr algn="ctr">
                        <a:lnSpc>
                          <a:spcPct val="140000"/>
                        </a:lnSpc>
                        <a:buNone/>
                      </a:pPr>
                      <a:r>
                        <a:rPr lang="en-US" sz="2000" kern="100" dirty="0">
                          <a:effectLst/>
                          <a:latin typeface="Arial" panose="020B0604020202020204" pitchFamily="34" charset="0"/>
                          <a:cs typeface="Arial" panose="020B0604020202020204" pitchFamily="34" charset="0"/>
                        </a:rPr>
                        <a:t>ER Status</a:t>
                      </a:r>
                      <a:endParaRPr lang="zh-CN" sz="20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marL="0" algn="ctr">
                        <a:lnSpc>
                          <a:spcPct val="140000"/>
                        </a:lnSpc>
                        <a:buNone/>
                      </a:pPr>
                      <a:r>
                        <a:rPr lang="en-US" altLang="zh-CN" sz="1800" kern="100" dirty="0">
                          <a:solidFill>
                            <a:schemeClr val="tx1"/>
                          </a:solidFill>
                          <a:effectLst/>
                          <a:latin typeface="Arial" panose="020B0604020202020204" pitchFamily="34" charset="0"/>
                          <a:ea typeface="宋体" panose="02010600030101010101" pitchFamily="2" charset="-122"/>
                          <a:cs typeface="Arial" panose="020B0604020202020204" pitchFamily="34" charset="0"/>
                        </a:rPr>
                        <a:t>Negative (reference)</a:t>
                      </a:r>
                    </a:p>
                  </a:txBody>
                  <a:tcPr marL="68580" marR="68580" marT="0" marB="0" anchor="ctr"/>
                </a:tc>
                <a:tc rowSpan="2">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METABRIC</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218 (19.22%)</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 </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 </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 </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3666675358"/>
                  </a:ext>
                </a:extLst>
              </a:tr>
              <a:tr h="829802">
                <a:tc vMerge="1">
                  <a:txBody>
                    <a:bodyPr/>
                    <a:lstStyle/>
                    <a:p>
                      <a:endParaRPr lang="zh-CN" altLang="en-US"/>
                    </a:p>
                  </a:txBody>
                  <a:tcPr/>
                </a:tc>
                <a:tc>
                  <a:txBody>
                    <a:bodyPr/>
                    <a:lstStyle/>
                    <a:p>
                      <a:pPr algn="ctr">
                        <a:lnSpc>
                          <a:spcPct val="140000"/>
                        </a:lnSpc>
                        <a:buNone/>
                      </a:pPr>
                      <a:r>
                        <a:rPr lang="en-US" altLang="zh-CN" sz="1800" kern="100" dirty="0">
                          <a:effectLst/>
                          <a:latin typeface="Arial" panose="020B0604020202020204" pitchFamily="34" charset="0"/>
                          <a:cs typeface="Arial" panose="020B0604020202020204" pitchFamily="34" charset="0"/>
                        </a:rPr>
                        <a:t>Positive</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vMerge="1">
                  <a:txBody>
                    <a:bodyPr/>
                    <a:lstStyle/>
                    <a:p>
                      <a:endParaRPr lang="zh-CN" altLang="en-US"/>
                    </a:p>
                  </a:txBody>
                  <a:tcP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916 (80.78%)</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0.749</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(0.563, 0.997)</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0.0474</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652396878"/>
                  </a:ext>
                </a:extLst>
              </a:tr>
              <a:tr h="829802">
                <a:tc rowSpan="2">
                  <a:txBody>
                    <a:bodyPr/>
                    <a:lstStyle/>
                    <a:p>
                      <a:pPr algn="ctr">
                        <a:lnSpc>
                          <a:spcPct val="140000"/>
                        </a:lnSpc>
                        <a:buNone/>
                      </a:pPr>
                      <a:r>
                        <a:rPr lang="en-US" sz="2000" kern="100" dirty="0">
                          <a:effectLst/>
                          <a:latin typeface="Arial" panose="020B0604020202020204" pitchFamily="34" charset="0"/>
                          <a:cs typeface="Arial" panose="020B0604020202020204" pitchFamily="34" charset="0"/>
                        </a:rPr>
                        <a:t>PR Status</a:t>
                      </a:r>
                      <a:endParaRPr lang="zh-CN" sz="20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marL="0" algn="ctr">
                        <a:lnSpc>
                          <a:spcPct val="140000"/>
                        </a:lnSpc>
                        <a:buNone/>
                      </a:pPr>
                      <a:r>
                        <a:rPr lang="en-US" altLang="zh-CN" sz="1800" kern="100" dirty="0">
                          <a:solidFill>
                            <a:schemeClr val="tx1"/>
                          </a:solidFill>
                          <a:effectLst/>
                          <a:latin typeface="Arial" panose="020B0604020202020204" pitchFamily="34" charset="0"/>
                          <a:ea typeface="宋体" panose="02010600030101010101" pitchFamily="2" charset="-122"/>
                          <a:cs typeface="Arial" panose="020B0604020202020204" pitchFamily="34" charset="0"/>
                        </a:rPr>
                        <a:t>Negative (reference)</a:t>
                      </a:r>
                    </a:p>
                  </a:txBody>
                  <a:tcPr marL="68580" marR="68580" marT="0" marB="0" anchor="ctr"/>
                </a:tc>
                <a:tc rowSpan="2">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METABRIC</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506 (44.62%)</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 </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 </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 </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3987409150"/>
                  </a:ext>
                </a:extLst>
              </a:tr>
              <a:tr h="829802">
                <a:tc vMerge="1">
                  <a:txBody>
                    <a:bodyPr/>
                    <a:lstStyle/>
                    <a:p>
                      <a:endParaRPr lang="zh-CN" altLang="en-US"/>
                    </a:p>
                  </a:txBody>
                  <a:tcPr/>
                </a:tc>
                <a:tc>
                  <a:txBody>
                    <a:bodyPr/>
                    <a:lstStyle/>
                    <a:p>
                      <a:pPr algn="ctr">
                        <a:lnSpc>
                          <a:spcPct val="140000"/>
                        </a:lnSpc>
                        <a:buNone/>
                      </a:pPr>
                      <a:r>
                        <a:rPr lang="en-US" altLang="zh-CN" sz="1800" kern="100" dirty="0">
                          <a:effectLst/>
                          <a:latin typeface="Arial" panose="020B0604020202020204" pitchFamily="34" charset="0"/>
                          <a:ea typeface="宋体" panose="02010600030101010101" pitchFamily="2" charset="-122"/>
                          <a:cs typeface="Arial" panose="020B0604020202020204" pitchFamily="34" charset="0"/>
                        </a:rPr>
                        <a:t>Positive</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vMerge="1">
                  <a:txBody>
                    <a:bodyPr/>
                    <a:lstStyle/>
                    <a:p>
                      <a:endParaRPr lang="zh-CN" altLang="en-US"/>
                    </a:p>
                  </a:txBody>
                  <a:tcP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628 (55.38%)</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0.917</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(0.737, 1.140)</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0.4340</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748619975"/>
                  </a:ext>
                </a:extLst>
              </a:tr>
              <a:tr h="829802">
                <a:tc rowSpan="2">
                  <a:txBody>
                    <a:bodyPr/>
                    <a:lstStyle/>
                    <a:p>
                      <a:pPr algn="ctr">
                        <a:lnSpc>
                          <a:spcPct val="140000"/>
                        </a:lnSpc>
                        <a:buNone/>
                      </a:pPr>
                      <a:r>
                        <a:rPr lang="en-US" sz="2000" kern="100" dirty="0">
                          <a:effectLst/>
                          <a:latin typeface="Arial" panose="020B0604020202020204" pitchFamily="34" charset="0"/>
                          <a:cs typeface="Arial" panose="020B0604020202020204" pitchFamily="34" charset="0"/>
                        </a:rPr>
                        <a:t>Her2 Status</a:t>
                      </a:r>
                      <a:endParaRPr lang="zh-CN" sz="20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marL="0" algn="ctr">
                        <a:lnSpc>
                          <a:spcPct val="140000"/>
                        </a:lnSpc>
                        <a:buNone/>
                      </a:pPr>
                      <a:r>
                        <a:rPr lang="en-US" altLang="zh-CN" sz="1800" kern="100" dirty="0">
                          <a:solidFill>
                            <a:schemeClr val="tx1"/>
                          </a:solidFill>
                          <a:effectLst/>
                          <a:latin typeface="Arial" panose="020B0604020202020204" pitchFamily="34" charset="0"/>
                          <a:ea typeface="宋体" panose="02010600030101010101" pitchFamily="2" charset="-122"/>
                          <a:cs typeface="Arial" panose="020B0604020202020204" pitchFamily="34" charset="0"/>
                        </a:rPr>
                        <a:t>Negative (reference)</a:t>
                      </a:r>
                    </a:p>
                  </a:txBody>
                  <a:tcPr marL="68580" marR="68580" marT="0" marB="0" anchor="ctr"/>
                </a:tc>
                <a:tc rowSpan="2">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METABRIC</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a:effectLst/>
                          <a:latin typeface="Arial" panose="020B0604020202020204" pitchFamily="34" charset="0"/>
                          <a:cs typeface="Arial" panose="020B0604020202020204" pitchFamily="34" charset="0"/>
                        </a:rPr>
                        <a:t>981 (86.51%)</a:t>
                      </a:r>
                      <a:endParaRPr lang="zh-CN" sz="18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 </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 </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 </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526506049"/>
                  </a:ext>
                </a:extLst>
              </a:tr>
              <a:tr h="829802">
                <a:tc vMerge="1">
                  <a:txBody>
                    <a:bodyPr/>
                    <a:lstStyle/>
                    <a:p>
                      <a:endParaRPr lang="zh-CN" altLang="en-US"/>
                    </a:p>
                  </a:txBody>
                  <a:tcPr/>
                </a:tc>
                <a:tc>
                  <a:txBody>
                    <a:bodyPr/>
                    <a:lstStyle/>
                    <a:p>
                      <a:pPr algn="ctr">
                        <a:lnSpc>
                          <a:spcPct val="140000"/>
                        </a:lnSpc>
                        <a:buNone/>
                      </a:pPr>
                      <a:r>
                        <a:rPr lang="en-US" altLang="zh-CN" sz="1800" kern="100" dirty="0">
                          <a:effectLst/>
                          <a:latin typeface="Arial" panose="020B0604020202020204" pitchFamily="34" charset="0"/>
                          <a:ea typeface="宋体" panose="02010600030101010101" pitchFamily="2" charset="-122"/>
                          <a:cs typeface="Arial" panose="020B0604020202020204" pitchFamily="34" charset="0"/>
                        </a:rPr>
                        <a:t>Positive</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vMerge="1">
                  <a:txBody>
                    <a:bodyPr/>
                    <a:lstStyle/>
                    <a:p>
                      <a:endParaRPr lang="zh-CN" altLang="en-US"/>
                    </a:p>
                  </a:txBody>
                  <a:tcP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153 (13.49%)</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a:effectLst/>
                          <a:latin typeface="Arial" panose="020B0604020202020204" pitchFamily="34" charset="0"/>
                          <a:cs typeface="Arial" panose="020B0604020202020204" pitchFamily="34" charset="0"/>
                        </a:rPr>
                        <a:t>1.643</a:t>
                      </a:r>
                      <a:endParaRPr lang="zh-CN" sz="1800" kern="10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(1.244, 2.169)</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tc>
                  <a:txBody>
                    <a:bodyPr/>
                    <a:lstStyle/>
                    <a:p>
                      <a:pPr algn="ctr">
                        <a:lnSpc>
                          <a:spcPct val="140000"/>
                        </a:lnSpc>
                        <a:buNone/>
                      </a:pPr>
                      <a:r>
                        <a:rPr lang="en-US" sz="1800" kern="100" dirty="0">
                          <a:effectLst/>
                          <a:latin typeface="Arial" panose="020B0604020202020204" pitchFamily="34" charset="0"/>
                          <a:cs typeface="Arial" panose="020B0604020202020204" pitchFamily="34" charset="0"/>
                        </a:rPr>
                        <a:t>0.0005</a:t>
                      </a:r>
                      <a:endParaRPr lang="zh-CN" sz="1800" kern="100" dirty="0">
                        <a:effectLst/>
                        <a:latin typeface="Arial" panose="020B0604020202020204" pitchFamily="34" charset="0"/>
                        <a:ea typeface="宋体"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920818816"/>
                  </a:ext>
                </a:extLst>
              </a:tr>
            </a:tbl>
          </a:graphicData>
        </a:graphic>
      </p:graphicFrame>
      <p:sp>
        <p:nvSpPr>
          <p:cNvPr id="474" name="文本框 473">
            <a:extLst>
              <a:ext uri="{FF2B5EF4-FFF2-40B4-BE49-F238E27FC236}">
                <a16:creationId xmlns:a16="http://schemas.microsoft.com/office/drawing/2014/main" id="{F5FAA3F4-35E8-1D02-6B89-1FD8DB7CE778}"/>
              </a:ext>
            </a:extLst>
          </p:cNvPr>
          <p:cNvSpPr txBox="1"/>
          <p:nvPr/>
        </p:nvSpPr>
        <p:spPr>
          <a:xfrm>
            <a:off x="10774167" y="14239466"/>
            <a:ext cx="3945883" cy="8586966"/>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Table 1. Multivariable Cox Regression Results.</a:t>
            </a:r>
            <a:r>
              <a:rPr lang="en-US" altLang="zh-CN" sz="2400" dirty="0">
                <a:latin typeface="Arial" panose="020B0604020202020204" pitchFamily="34" charset="0"/>
                <a:cs typeface="Arial" panose="020B0604020202020204" pitchFamily="34" charset="0"/>
              </a:rPr>
              <a:t> The three analytical cohorts—TCGA, METABRIC, and TCGA+METABRIC combined—are representative of general breast cancer populations based on key clinical features. Older age was significantly associated with increased mortality risk. ER-positive status was linked to improved survival, while HER2-positive status was associated with poorer outcomes. These findings are consistent with established clinical knowledge and support the suitability of these cohorts for subsequent UGES evaluation.</a:t>
            </a:r>
            <a:endParaRPr lang="zh-CN" altLang="en-US" sz="2400" dirty="0">
              <a:latin typeface="Arial" panose="020B0604020202020204" pitchFamily="34" charset="0"/>
              <a:cs typeface="Arial" panose="020B0604020202020204" pitchFamily="34" charset="0"/>
            </a:endParaRPr>
          </a:p>
        </p:txBody>
      </p:sp>
      <p:sp>
        <p:nvSpPr>
          <p:cNvPr id="475" name="文本框 474">
            <a:extLst>
              <a:ext uri="{FF2B5EF4-FFF2-40B4-BE49-F238E27FC236}">
                <a16:creationId xmlns:a16="http://schemas.microsoft.com/office/drawing/2014/main" id="{0057DBAD-7DF9-5484-86CD-A6CD1DAC7A75}"/>
              </a:ext>
            </a:extLst>
          </p:cNvPr>
          <p:cNvSpPr txBox="1"/>
          <p:nvPr/>
        </p:nvSpPr>
        <p:spPr>
          <a:xfrm>
            <a:off x="986728" y="13042073"/>
            <a:ext cx="10417077"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Figure 1. </a:t>
            </a:r>
            <a:r>
              <a:rPr lang="en-US" altLang="zh-CN" sz="2400" dirty="0">
                <a:latin typeface="Arial" panose="020B0604020202020204" pitchFamily="34" charset="0"/>
                <a:cs typeface="Arial" panose="020B0604020202020204" pitchFamily="34" charset="0"/>
              </a:rPr>
              <a:t>Cohort Overview and Multi-Omics Feature Composition.</a:t>
            </a:r>
            <a:endParaRPr lang="zh-CN" altLang="en-US" sz="2400" b="1" dirty="0">
              <a:latin typeface="Arial" panose="020B0604020202020204" pitchFamily="34" charset="0"/>
              <a:cs typeface="Arial" panose="020B0604020202020204" pitchFamily="34" charset="0"/>
            </a:endParaRPr>
          </a:p>
        </p:txBody>
      </p:sp>
      <p:sp>
        <p:nvSpPr>
          <p:cNvPr id="476" name="object 307">
            <a:extLst>
              <a:ext uri="{FF2B5EF4-FFF2-40B4-BE49-F238E27FC236}">
                <a16:creationId xmlns:a16="http://schemas.microsoft.com/office/drawing/2014/main" id="{B41A2071-CE10-D4AB-893B-D8DABD5F549C}"/>
              </a:ext>
            </a:extLst>
          </p:cNvPr>
          <p:cNvSpPr txBox="1"/>
          <p:nvPr/>
        </p:nvSpPr>
        <p:spPr>
          <a:xfrm>
            <a:off x="851243" y="31840738"/>
            <a:ext cx="13695489" cy="543711"/>
          </a:xfrm>
          <a:prstGeom prst="rect">
            <a:avLst/>
          </a:prstGeom>
        </p:spPr>
        <p:txBody>
          <a:bodyPr vert="horz" wrap="square" lIns="0" tIns="50773" rIns="0" bIns="0" rtlCol="0">
            <a:spAutoFit/>
          </a:bodyPr>
          <a:lstStyle/>
          <a:p>
            <a:pPr marL="561340" marR="20320" indent="-513080" algn="just">
              <a:spcBef>
                <a:spcPts val="400"/>
              </a:spcBef>
            </a:pPr>
            <a:r>
              <a:rPr lang="en-US" sz="3200" b="1" spc="-20" dirty="0">
                <a:latin typeface="Arial" panose="020B0604020202020204"/>
                <a:cs typeface="Arial" panose="020B0604020202020204"/>
              </a:rPr>
              <a:t>2</a:t>
            </a:r>
            <a:r>
              <a:rPr sz="3200" b="1" spc="-20" dirty="0">
                <a:latin typeface="Arial" panose="020B0604020202020204"/>
                <a:cs typeface="Arial" panose="020B0604020202020204"/>
              </a:rPr>
              <a:t>.</a:t>
            </a:r>
            <a:r>
              <a:rPr lang="en-US" altLang="zh-CN" sz="3200" dirty="0"/>
              <a:t> </a:t>
            </a:r>
            <a:r>
              <a:rPr lang="en-US" altLang="zh-CN" sz="3200" b="1" spc="-20" dirty="0">
                <a:latin typeface="Arial" panose="020B0604020202020204"/>
                <a:cs typeface="Arial" panose="020B0604020202020204"/>
              </a:rPr>
              <a:t>Survival Analysis: Comparison Between UGES and PAM50 Subtypes</a:t>
            </a:r>
            <a:r>
              <a:rPr lang="en-US" sz="3200" b="1" spc="-20" dirty="0">
                <a:latin typeface="Arial" panose="020B0604020202020204"/>
                <a:cs typeface="Arial" panose="020B0604020202020204"/>
              </a:rPr>
              <a:t>  </a:t>
            </a:r>
            <a:endParaRPr sz="3200" b="1" spc="-20" dirty="0">
              <a:latin typeface="Arial" panose="020B0604020202020204"/>
              <a:cs typeface="Arial" panose="020B0604020202020204"/>
            </a:endParaRPr>
          </a:p>
        </p:txBody>
      </p:sp>
      <p:sp>
        <p:nvSpPr>
          <p:cNvPr id="483" name="矩形 482">
            <a:extLst>
              <a:ext uri="{FF2B5EF4-FFF2-40B4-BE49-F238E27FC236}">
                <a16:creationId xmlns:a16="http://schemas.microsoft.com/office/drawing/2014/main" id="{AD482011-0943-57CD-FA18-25CAD3D13898}"/>
              </a:ext>
            </a:extLst>
          </p:cNvPr>
          <p:cNvSpPr/>
          <p:nvPr/>
        </p:nvSpPr>
        <p:spPr>
          <a:xfrm>
            <a:off x="916294" y="34047762"/>
            <a:ext cx="4087013" cy="1431137"/>
          </a:xfrm>
          <a:prstGeom prst="rect">
            <a:avLst/>
          </a:prstGeom>
          <a:solidFill>
            <a:srgbClr val="DBCAC3"/>
          </a:solidFill>
          <a:ln w="6350">
            <a:solidFill>
              <a:srgbClr val="9059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Arial" panose="020B0604020202020204" pitchFamily="34" charset="0"/>
                <a:cs typeface="Arial" panose="020B0604020202020204" pitchFamily="34" charset="0"/>
              </a:rPr>
              <a:t>Subtype Group Assignment </a:t>
            </a:r>
          </a:p>
          <a:p>
            <a:pPr algn="ctr"/>
            <a:r>
              <a:rPr lang="en-US" altLang="zh-CN" sz="2400" dirty="0">
                <a:solidFill>
                  <a:schemeClr val="tx1"/>
                </a:solidFill>
                <a:latin typeface="Arial" panose="020B0604020202020204" pitchFamily="34" charset="0"/>
                <a:cs typeface="Arial" panose="020B0604020202020204" pitchFamily="34" charset="0"/>
              </a:rPr>
              <a:t>Balanced comparison dataset</a:t>
            </a:r>
            <a:endParaRPr lang="zh-CN" altLang="en-US" sz="2400" dirty="0">
              <a:solidFill>
                <a:schemeClr val="tx1"/>
              </a:solidFill>
              <a:latin typeface="Arial" panose="020B0604020202020204" pitchFamily="34" charset="0"/>
              <a:cs typeface="Arial" panose="020B0604020202020204" pitchFamily="34" charset="0"/>
            </a:endParaRPr>
          </a:p>
        </p:txBody>
      </p:sp>
      <p:sp>
        <p:nvSpPr>
          <p:cNvPr id="485" name="矩形 484">
            <a:extLst>
              <a:ext uri="{FF2B5EF4-FFF2-40B4-BE49-F238E27FC236}">
                <a16:creationId xmlns:a16="http://schemas.microsoft.com/office/drawing/2014/main" id="{5371B50D-2AD4-ED36-025B-65B2A0F6527C}"/>
              </a:ext>
            </a:extLst>
          </p:cNvPr>
          <p:cNvSpPr/>
          <p:nvPr/>
        </p:nvSpPr>
        <p:spPr>
          <a:xfrm>
            <a:off x="5758505" y="32765990"/>
            <a:ext cx="3746965" cy="1610702"/>
          </a:xfrm>
          <a:prstGeom prst="rect">
            <a:avLst/>
          </a:prstGeom>
          <a:solidFill>
            <a:srgbClr val="DBCAC3"/>
          </a:solidFill>
          <a:ln w="6350">
            <a:solidFill>
              <a:srgbClr val="9059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Arial" panose="020B0604020202020204" pitchFamily="34" charset="0"/>
                <a:cs typeface="Arial" panose="020B0604020202020204" pitchFamily="34" charset="0"/>
              </a:rPr>
              <a:t>Univariate Survival Model</a:t>
            </a:r>
          </a:p>
          <a:p>
            <a:r>
              <a:rPr lang="en-US" altLang="zh-CN" sz="2400" dirty="0">
                <a:solidFill>
                  <a:schemeClr val="tx1"/>
                </a:solidFill>
                <a:latin typeface="Arial" panose="020B0604020202020204" pitchFamily="34" charset="0"/>
                <a:cs typeface="Arial" panose="020B0604020202020204" pitchFamily="34" charset="0"/>
              </a:rPr>
              <a:t>• Kaplan–Meier estimation</a:t>
            </a:r>
          </a:p>
          <a:p>
            <a:r>
              <a:rPr lang="en-US" altLang="zh-CN" sz="2400" dirty="0">
                <a:solidFill>
                  <a:schemeClr val="tx1"/>
                </a:solidFill>
                <a:latin typeface="Arial" panose="020B0604020202020204" pitchFamily="34" charset="0"/>
                <a:cs typeface="Arial" panose="020B0604020202020204" pitchFamily="34" charset="0"/>
              </a:rPr>
              <a:t>• Log-rank test</a:t>
            </a:r>
            <a:endParaRPr lang="zh-CN" altLang="en-US" sz="2400" dirty="0">
              <a:solidFill>
                <a:schemeClr val="tx1"/>
              </a:solidFill>
              <a:latin typeface="Arial" panose="020B0604020202020204" pitchFamily="34" charset="0"/>
              <a:cs typeface="Arial" panose="020B0604020202020204" pitchFamily="34" charset="0"/>
            </a:endParaRPr>
          </a:p>
        </p:txBody>
      </p:sp>
      <p:sp>
        <p:nvSpPr>
          <p:cNvPr id="486" name="矩形 485">
            <a:extLst>
              <a:ext uri="{FF2B5EF4-FFF2-40B4-BE49-F238E27FC236}">
                <a16:creationId xmlns:a16="http://schemas.microsoft.com/office/drawing/2014/main" id="{B0093245-1BD9-9925-5D91-25A5A53B193C}"/>
              </a:ext>
            </a:extLst>
          </p:cNvPr>
          <p:cNvSpPr/>
          <p:nvPr/>
        </p:nvSpPr>
        <p:spPr>
          <a:xfrm>
            <a:off x="5597808" y="34833892"/>
            <a:ext cx="4205798" cy="1610702"/>
          </a:xfrm>
          <a:prstGeom prst="rect">
            <a:avLst/>
          </a:prstGeom>
          <a:solidFill>
            <a:srgbClr val="DBCAC3"/>
          </a:solidFill>
          <a:ln w="6350">
            <a:solidFill>
              <a:srgbClr val="9059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Arial" panose="020B0604020202020204" pitchFamily="34" charset="0"/>
                <a:cs typeface="Arial" panose="020B0604020202020204" pitchFamily="34" charset="0"/>
              </a:rPr>
              <a:t>Multivariable Cox Regression</a:t>
            </a:r>
          </a:p>
          <a:p>
            <a:pPr algn="ctr"/>
            <a:r>
              <a:rPr lang="en-US" altLang="zh-CN" sz="2400" dirty="0">
                <a:solidFill>
                  <a:schemeClr val="tx1"/>
                </a:solidFill>
                <a:latin typeface="Arial" panose="020B0604020202020204" pitchFamily="34" charset="0"/>
                <a:cs typeface="Arial" panose="020B0604020202020204" pitchFamily="34" charset="0"/>
              </a:rPr>
              <a:t>• coxph() + Age Covariate</a:t>
            </a:r>
          </a:p>
          <a:p>
            <a:pPr algn="ctr"/>
            <a:r>
              <a:rPr lang="en-US" altLang="zh-CN" sz="2400" dirty="0">
                <a:solidFill>
                  <a:schemeClr val="tx1"/>
                </a:solidFill>
                <a:latin typeface="Arial" panose="020B0604020202020204" pitchFamily="34" charset="0"/>
                <a:cs typeface="Arial" panose="020B0604020202020204" pitchFamily="34" charset="0"/>
              </a:rPr>
              <a:t>• Forest Plot Visualization</a:t>
            </a:r>
            <a:endParaRPr lang="zh-CN" altLang="en-US" sz="2400" dirty="0">
              <a:solidFill>
                <a:schemeClr val="tx1"/>
              </a:solidFill>
              <a:latin typeface="Arial" panose="020B0604020202020204" pitchFamily="34" charset="0"/>
              <a:cs typeface="Arial" panose="020B0604020202020204" pitchFamily="34" charset="0"/>
            </a:endParaRPr>
          </a:p>
        </p:txBody>
      </p:sp>
      <p:sp>
        <p:nvSpPr>
          <p:cNvPr id="487" name="矩形 486">
            <a:extLst>
              <a:ext uri="{FF2B5EF4-FFF2-40B4-BE49-F238E27FC236}">
                <a16:creationId xmlns:a16="http://schemas.microsoft.com/office/drawing/2014/main" id="{5DD259CC-7DF1-751B-7C48-1E10AC627E58}"/>
              </a:ext>
            </a:extLst>
          </p:cNvPr>
          <p:cNvSpPr/>
          <p:nvPr/>
        </p:nvSpPr>
        <p:spPr>
          <a:xfrm>
            <a:off x="10503840" y="33946146"/>
            <a:ext cx="4242357" cy="1610702"/>
          </a:xfrm>
          <a:prstGeom prst="rect">
            <a:avLst/>
          </a:prstGeom>
          <a:solidFill>
            <a:srgbClr val="DBCAC3"/>
          </a:solidFill>
          <a:ln w="6350">
            <a:solidFill>
              <a:srgbClr val="9059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Arial" panose="020B0604020202020204" pitchFamily="34" charset="0"/>
                <a:cs typeface="Arial" panose="020B0604020202020204" pitchFamily="34" charset="0"/>
              </a:rPr>
              <a:t>Multiple Testing Adjustment</a:t>
            </a:r>
          </a:p>
          <a:p>
            <a:r>
              <a:rPr lang="en-US" altLang="zh-CN" sz="2400" dirty="0">
                <a:solidFill>
                  <a:schemeClr val="tx1"/>
                </a:solidFill>
                <a:latin typeface="Arial" panose="020B0604020202020204" pitchFamily="34" charset="0"/>
                <a:cs typeface="Arial" panose="020B0604020202020204" pitchFamily="34" charset="0"/>
              </a:rPr>
              <a:t>• Benjamini-Hochberg method</a:t>
            </a:r>
          </a:p>
          <a:p>
            <a:r>
              <a:rPr lang="en-US" altLang="zh-CN" sz="2400" dirty="0">
                <a:solidFill>
                  <a:schemeClr val="tx1"/>
                </a:solidFill>
                <a:latin typeface="Arial" panose="020B0604020202020204" pitchFamily="34" charset="0"/>
                <a:cs typeface="Arial" panose="020B0604020202020204" pitchFamily="34" charset="0"/>
              </a:rPr>
              <a:t>• FDR &lt; 0.05</a:t>
            </a:r>
            <a:endParaRPr lang="zh-CN" altLang="en-US" sz="2400" dirty="0">
              <a:solidFill>
                <a:schemeClr val="tx1"/>
              </a:solidFill>
              <a:latin typeface="Arial" panose="020B0604020202020204" pitchFamily="34" charset="0"/>
              <a:cs typeface="Arial" panose="020B0604020202020204" pitchFamily="34" charset="0"/>
            </a:endParaRPr>
          </a:p>
        </p:txBody>
      </p:sp>
      <p:cxnSp>
        <p:nvCxnSpPr>
          <p:cNvPr id="489" name="直接箭头连接符 488">
            <a:extLst>
              <a:ext uri="{FF2B5EF4-FFF2-40B4-BE49-F238E27FC236}">
                <a16:creationId xmlns:a16="http://schemas.microsoft.com/office/drawing/2014/main" id="{309A7631-343A-70B9-4B90-256BA6CBE5B8}"/>
              </a:ext>
            </a:extLst>
          </p:cNvPr>
          <p:cNvCxnSpPr>
            <a:cxnSpLocks/>
            <a:stCxn id="483" idx="3"/>
            <a:endCxn id="485" idx="1"/>
          </p:cNvCxnSpPr>
          <p:nvPr/>
        </p:nvCxnSpPr>
        <p:spPr>
          <a:xfrm flipV="1">
            <a:off x="5003307" y="33571341"/>
            <a:ext cx="755198" cy="11919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0" name="直接箭头连接符 489">
            <a:extLst>
              <a:ext uri="{FF2B5EF4-FFF2-40B4-BE49-F238E27FC236}">
                <a16:creationId xmlns:a16="http://schemas.microsoft.com/office/drawing/2014/main" id="{BB059544-AE2B-FB67-3628-75A08B148884}"/>
              </a:ext>
            </a:extLst>
          </p:cNvPr>
          <p:cNvCxnSpPr>
            <a:cxnSpLocks/>
            <a:stCxn id="483" idx="3"/>
            <a:endCxn id="486" idx="1"/>
          </p:cNvCxnSpPr>
          <p:nvPr/>
        </p:nvCxnSpPr>
        <p:spPr>
          <a:xfrm>
            <a:off x="5003307" y="34763331"/>
            <a:ext cx="594501" cy="8759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8" name="直接连接符 497">
            <a:extLst>
              <a:ext uri="{FF2B5EF4-FFF2-40B4-BE49-F238E27FC236}">
                <a16:creationId xmlns:a16="http://schemas.microsoft.com/office/drawing/2014/main" id="{82B31FDC-750D-B0B3-D638-DDC169059D8B}"/>
              </a:ext>
            </a:extLst>
          </p:cNvPr>
          <p:cNvCxnSpPr>
            <a:cxnSpLocks/>
            <a:stCxn id="485" idx="3"/>
          </p:cNvCxnSpPr>
          <p:nvPr/>
        </p:nvCxnSpPr>
        <p:spPr>
          <a:xfrm>
            <a:off x="9505470" y="33571341"/>
            <a:ext cx="564993" cy="0"/>
          </a:xfrm>
          <a:prstGeom prst="line">
            <a:avLst/>
          </a:prstGeom>
        </p:spPr>
        <p:style>
          <a:lnRef idx="1">
            <a:schemeClr val="dk1"/>
          </a:lnRef>
          <a:fillRef idx="0">
            <a:schemeClr val="dk1"/>
          </a:fillRef>
          <a:effectRef idx="0">
            <a:schemeClr val="dk1"/>
          </a:effectRef>
          <a:fontRef idx="minor">
            <a:schemeClr val="tx1"/>
          </a:fontRef>
        </p:style>
      </p:cxnSp>
      <p:cxnSp>
        <p:nvCxnSpPr>
          <p:cNvPr id="500" name="直接连接符 499">
            <a:extLst>
              <a:ext uri="{FF2B5EF4-FFF2-40B4-BE49-F238E27FC236}">
                <a16:creationId xmlns:a16="http://schemas.microsoft.com/office/drawing/2014/main" id="{E2F85F50-9BEA-1021-7C71-61C3D7DE0139}"/>
              </a:ext>
            </a:extLst>
          </p:cNvPr>
          <p:cNvCxnSpPr>
            <a:cxnSpLocks/>
            <a:stCxn id="486" idx="3"/>
          </p:cNvCxnSpPr>
          <p:nvPr/>
        </p:nvCxnSpPr>
        <p:spPr>
          <a:xfrm>
            <a:off x="9803606" y="35639243"/>
            <a:ext cx="269606" cy="0"/>
          </a:xfrm>
          <a:prstGeom prst="line">
            <a:avLst/>
          </a:prstGeom>
        </p:spPr>
        <p:style>
          <a:lnRef idx="1">
            <a:schemeClr val="dk1"/>
          </a:lnRef>
          <a:fillRef idx="0">
            <a:schemeClr val="dk1"/>
          </a:fillRef>
          <a:effectRef idx="0">
            <a:schemeClr val="dk1"/>
          </a:effectRef>
          <a:fontRef idx="minor">
            <a:schemeClr val="tx1"/>
          </a:fontRef>
        </p:style>
      </p:cxnSp>
      <p:cxnSp>
        <p:nvCxnSpPr>
          <p:cNvPr id="504" name="直接连接符 503">
            <a:extLst>
              <a:ext uri="{FF2B5EF4-FFF2-40B4-BE49-F238E27FC236}">
                <a16:creationId xmlns:a16="http://schemas.microsoft.com/office/drawing/2014/main" id="{1BB0962B-ED22-7108-C8A1-BFC5E217A367}"/>
              </a:ext>
            </a:extLst>
          </p:cNvPr>
          <p:cNvCxnSpPr>
            <a:cxnSpLocks/>
          </p:cNvCxnSpPr>
          <p:nvPr/>
        </p:nvCxnSpPr>
        <p:spPr>
          <a:xfrm flipV="1">
            <a:off x="10042141" y="33538492"/>
            <a:ext cx="0" cy="2083800"/>
          </a:xfrm>
          <a:prstGeom prst="line">
            <a:avLst/>
          </a:prstGeom>
        </p:spPr>
        <p:style>
          <a:lnRef idx="1">
            <a:schemeClr val="dk1"/>
          </a:lnRef>
          <a:fillRef idx="0">
            <a:schemeClr val="dk1"/>
          </a:fillRef>
          <a:effectRef idx="0">
            <a:schemeClr val="dk1"/>
          </a:effectRef>
          <a:fontRef idx="minor">
            <a:schemeClr val="tx1"/>
          </a:fontRef>
        </p:style>
      </p:cxnSp>
      <p:cxnSp>
        <p:nvCxnSpPr>
          <p:cNvPr id="512" name="直接箭头连接符 511">
            <a:extLst>
              <a:ext uri="{FF2B5EF4-FFF2-40B4-BE49-F238E27FC236}">
                <a16:creationId xmlns:a16="http://schemas.microsoft.com/office/drawing/2014/main" id="{DE2FC94D-2157-2134-8164-77405B1F828B}"/>
              </a:ext>
            </a:extLst>
          </p:cNvPr>
          <p:cNvCxnSpPr>
            <a:cxnSpLocks/>
          </p:cNvCxnSpPr>
          <p:nvPr/>
        </p:nvCxnSpPr>
        <p:spPr>
          <a:xfrm>
            <a:off x="10032206" y="34757692"/>
            <a:ext cx="49285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4" name="object 33">
            <a:extLst>
              <a:ext uri="{FF2B5EF4-FFF2-40B4-BE49-F238E27FC236}">
                <a16:creationId xmlns:a16="http://schemas.microsoft.com/office/drawing/2014/main" id="{1B78E472-C3A8-B81B-64F7-BB4986DEBFD8}"/>
              </a:ext>
            </a:extLst>
          </p:cNvPr>
          <p:cNvSpPr txBox="1"/>
          <p:nvPr/>
        </p:nvSpPr>
        <p:spPr>
          <a:xfrm>
            <a:off x="991669" y="36607406"/>
            <a:ext cx="13930368" cy="415473"/>
          </a:xfrm>
          <a:prstGeom prst="rect">
            <a:avLst/>
          </a:prstGeom>
        </p:spPr>
        <p:txBody>
          <a:bodyPr vert="horz" wrap="square" lIns="0" tIns="45695" rIns="0" bIns="0" rtlCol="0">
            <a:spAutoFit/>
          </a:bodyPr>
          <a:lstStyle/>
          <a:p>
            <a:pPr marL="152400" marR="121920" algn="just">
              <a:spcBef>
                <a:spcPts val="360"/>
              </a:spcBef>
            </a:pPr>
            <a:r>
              <a:rPr lang="en-US" sz="2400" b="1" spc="-20" dirty="0">
                <a:latin typeface="Arial" panose="020B0604020202020204"/>
                <a:cs typeface="Arial" panose="020B0604020202020204"/>
              </a:rPr>
              <a:t>Figure 3. </a:t>
            </a:r>
            <a:r>
              <a:rPr lang="en-US" altLang="zh-CN" sz="2400" dirty="0">
                <a:latin typeface="Arial" panose="020B0604020202020204" pitchFamily="34" charset="0"/>
                <a:cs typeface="Arial" panose="020B0604020202020204" pitchFamily="34" charset="0"/>
              </a:rPr>
              <a:t>Workflow of Survival Analysis Comparing UGES and PAM50 Subtypes.</a:t>
            </a:r>
            <a:endParaRPr sz="2400" baseline="12000" dirty="0">
              <a:latin typeface="Arial" panose="020B0604020202020204" pitchFamily="34" charset="0"/>
              <a:cs typeface="Arial" panose="020B0604020202020204" pitchFamily="34" charset="0"/>
            </a:endParaRPr>
          </a:p>
        </p:txBody>
      </p:sp>
      <p:sp>
        <p:nvSpPr>
          <p:cNvPr id="3" name="文本框 2">
            <a:extLst>
              <a:ext uri="{FF2B5EF4-FFF2-40B4-BE49-F238E27FC236}">
                <a16:creationId xmlns:a16="http://schemas.microsoft.com/office/drawing/2014/main" id="{A929EE5E-B67B-B9CD-9C66-AFD88E797B15}"/>
              </a:ext>
            </a:extLst>
          </p:cNvPr>
          <p:cNvSpPr txBox="1"/>
          <p:nvPr/>
        </p:nvSpPr>
        <p:spPr>
          <a:xfrm>
            <a:off x="12324634" y="26830952"/>
            <a:ext cx="3105346" cy="1200329"/>
          </a:xfrm>
          <a:prstGeom prst="rect">
            <a:avLst/>
          </a:prstGeom>
          <a:noFill/>
        </p:spPr>
        <p:txBody>
          <a:bodyPr wrap="square" rtlCol="0">
            <a:spAutoFit/>
          </a:bodyPr>
          <a:lstStyle/>
          <a:p>
            <a:pPr algn="ctr"/>
            <a:r>
              <a:rPr lang="en-US" altLang="zh-CN" sz="2400" dirty="0">
                <a:latin typeface="Arial" panose="020B0604020202020204" pitchFamily="34" charset="0"/>
                <a:cs typeface="Arial" panose="020B0604020202020204" pitchFamily="34" charset="0"/>
              </a:rPr>
              <a:t>ROC</a:t>
            </a:r>
          </a:p>
          <a:p>
            <a:pPr algn="ctr"/>
            <a:r>
              <a:rPr lang="en-US" altLang="zh-CN" sz="2400" dirty="0">
                <a:latin typeface="Arial" panose="020B0604020202020204" pitchFamily="34" charset="0"/>
                <a:cs typeface="Arial" panose="020B0604020202020204" pitchFamily="34" charset="0"/>
              </a:rPr>
              <a:t>&amp;</a:t>
            </a:r>
          </a:p>
          <a:p>
            <a:pPr algn="ctr"/>
            <a:r>
              <a:rPr lang="en-US" altLang="zh-CN" sz="2400" dirty="0">
                <a:latin typeface="Arial" panose="020B0604020202020204" pitchFamily="34" charset="0"/>
                <a:cs typeface="Arial" panose="020B0604020202020204" pitchFamily="34" charset="0"/>
              </a:rPr>
              <a:t>AUC</a:t>
            </a:r>
            <a:endParaRPr lang="zh-CN" altLang="en-US" sz="2400" dirty="0">
              <a:latin typeface="Arial" panose="020B0604020202020204" pitchFamily="34" charset="0"/>
              <a:cs typeface="Arial" panose="020B0604020202020204" pitchFamily="34" charset="0"/>
            </a:endParaRPr>
          </a:p>
        </p:txBody>
      </p:sp>
      <p:sp>
        <p:nvSpPr>
          <p:cNvPr id="17" name="矩形: 圆角 16">
            <a:extLst>
              <a:ext uri="{FF2B5EF4-FFF2-40B4-BE49-F238E27FC236}">
                <a16:creationId xmlns:a16="http://schemas.microsoft.com/office/drawing/2014/main" id="{06D044E4-3A47-A935-6C59-E63788B9612F}"/>
              </a:ext>
            </a:extLst>
          </p:cNvPr>
          <p:cNvSpPr/>
          <p:nvPr/>
        </p:nvSpPr>
        <p:spPr>
          <a:xfrm>
            <a:off x="610088" y="4715988"/>
            <a:ext cx="28918710" cy="2662136"/>
          </a:xfrm>
          <a:prstGeom prst="roundRect">
            <a:avLst/>
          </a:prstGeom>
          <a:noFill/>
          <a:ln w="76200">
            <a:solidFill>
              <a:srgbClr val="0150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1DA3DB7D-F1ED-4BD1-0EC1-26B179D082A2}"/>
              </a:ext>
            </a:extLst>
          </p:cNvPr>
          <p:cNvPicPr>
            <a:picLocks noChangeAspect="1"/>
          </p:cNvPicPr>
          <p:nvPr/>
        </p:nvPicPr>
        <p:blipFill>
          <a:blip r:embed="rId17"/>
          <a:stretch>
            <a:fillRect/>
          </a:stretch>
        </p:blipFill>
        <p:spPr>
          <a:xfrm>
            <a:off x="15270342" y="9536751"/>
            <a:ext cx="7200000" cy="7064530"/>
          </a:xfrm>
          <a:prstGeom prst="rect">
            <a:avLst/>
          </a:prstGeom>
        </p:spPr>
      </p:pic>
      <p:pic>
        <p:nvPicPr>
          <p:cNvPr id="23" name="图片 22">
            <a:extLst>
              <a:ext uri="{FF2B5EF4-FFF2-40B4-BE49-F238E27FC236}">
                <a16:creationId xmlns:a16="http://schemas.microsoft.com/office/drawing/2014/main" id="{0CCE9481-A314-304B-8414-38739C4B5937}"/>
              </a:ext>
            </a:extLst>
          </p:cNvPr>
          <p:cNvPicPr>
            <a:picLocks noChangeAspect="1"/>
          </p:cNvPicPr>
          <p:nvPr/>
        </p:nvPicPr>
        <p:blipFill>
          <a:blip r:embed="rId18"/>
          <a:stretch>
            <a:fillRect/>
          </a:stretch>
        </p:blipFill>
        <p:spPr>
          <a:xfrm>
            <a:off x="21843206" y="9582096"/>
            <a:ext cx="7415859" cy="7019185"/>
          </a:xfrm>
          <a:prstGeom prst="rect">
            <a:avLst/>
          </a:prstGeom>
        </p:spPr>
      </p:pic>
      <p:sp>
        <p:nvSpPr>
          <p:cNvPr id="5" name="文本框 4">
            <a:extLst>
              <a:ext uri="{FF2B5EF4-FFF2-40B4-BE49-F238E27FC236}">
                <a16:creationId xmlns:a16="http://schemas.microsoft.com/office/drawing/2014/main" id="{3E7A2253-03DA-7764-3326-76ED3BB36A69}"/>
              </a:ext>
            </a:extLst>
          </p:cNvPr>
          <p:cNvSpPr txBox="1"/>
          <p:nvPr/>
        </p:nvSpPr>
        <p:spPr>
          <a:xfrm>
            <a:off x="17618962" y="9434016"/>
            <a:ext cx="4114800"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(B,(H,(LA,LB)))</a:t>
            </a:r>
            <a:endParaRPr lang="zh-CN" altLang="en-US" sz="2400" b="1" dirty="0"/>
          </a:p>
        </p:txBody>
      </p:sp>
      <p:sp>
        <p:nvSpPr>
          <p:cNvPr id="24" name="文本框 23">
            <a:extLst>
              <a:ext uri="{FF2B5EF4-FFF2-40B4-BE49-F238E27FC236}">
                <a16:creationId xmlns:a16="http://schemas.microsoft.com/office/drawing/2014/main" id="{025B878F-D364-808A-56A8-9F566659956A}"/>
              </a:ext>
            </a:extLst>
          </p:cNvPr>
          <p:cNvSpPr txBox="1"/>
          <p:nvPr/>
        </p:nvSpPr>
        <p:spPr>
          <a:xfrm>
            <a:off x="24857962" y="9434016"/>
            <a:ext cx="4114800"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(B,H,LA,LB)</a:t>
            </a:r>
            <a:endParaRPr lang="zh-CN" altLang="en-US" sz="2400" b="1" dirty="0"/>
          </a:p>
        </p:txBody>
      </p:sp>
      <p:sp>
        <p:nvSpPr>
          <p:cNvPr id="27" name="object 25">
            <a:extLst>
              <a:ext uri="{FF2B5EF4-FFF2-40B4-BE49-F238E27FC236}">
                <a16:creationId xmlns:a16="http://schemas.microsoft.com/office/drawing/2014/main" id="{2CB6A70E-AAA0-718E-5096-553C646D8770}"/>
              </a:ext>
            </a:extLst>
          </p:cNvPr>
          <p:cNvSpPr txBox="1"/>
          <p:nvPr/>
        </p:nvSpPr>
        <p:spPr>
          <a:xfrm>
            <a:off x="15518606" y="18658681"/>
            <a:ext cx="13140444" cy="784654"/>
          </a:xfrm>
          <a:prstGeom prst="rect">
            <a:avLst/>
          </a:prstGeom>
        </p:spPr>
        <p:txBody>
          <a:bodyPr vert="horz" wrap="square" lIns="0" tIns="350345" rIns="0" bIns="0" rtlCol="0">
            <a:spAutoFit/>
          </a:bodyPr>
          <a:lstStyle/>
          <a:p>
            <a:pPr marL="662940" marR="121920" indent="-513080">
              <a:spcBef>
                <a:spcPts val="1800"/>
              </a:spcBef>
            </a:pPr>
            <a:r>
              <a:rPr lang="en-US" sz="2800" b="1" spc="-20" dirty="0">
                <a:latin typeface="Arial" panose="020B0604020202020204"/>
                <a:cs typeface="Arial" panose="020B0604020202020204"/>
              </a:rPr>
              <a:t>2</a:t>
            </a:r>
            <a:r>
              <a:rPr sz="2800" b="1" spc="-20" dirty="0">
                <a:latin typeface="Arial" panose="020B0604020202020204"/>
                <a:cs typeface="Arial" panose="020B0604020202020204"/>
              </a:rPr>
              <a:t>.</a:t>
            </a:r>
            <a:r>
              <a:rPr sz="2800" b="1" spc="201" dirty="0">
                <a:latin typeface="Arial" panose="020B0604020202020204"/>
                <a:cs typeface="Arial" panose="020B0604020202020204"/>
              </a:rPr>
              <a:t> </a:t>
            </a:r>
            <a:r>
              <a:rPr lang="fr-FR" sz="2800" b="1" spc="-20" dirty="0">
                <a:latin typeface="Arial" panose="020B0604020202020204"/>
                <a:cs typeface="Arial" panose="020B0604020202020204"/>
              </a:rPr>
              <a:t>Subtype Reclassification: UGES vs. PAM50</a:t>
            </a:r>
            <a:endParaRPr lang="en-US" sz="2800" b="1" spc="-40" dirty="0">
              <a:latin typeface="Arial" panose="020B0604020202020204"/>
              <a:cs typeface="Arial" panose="020B0604020202020204"/>
            </a:endParaRPr>
          </a:p>
        </p:txBody>
      </p:sp>
      <p:sp>
        <p:nvSpPr>
          <p:cNvPr id="28" name="文本框 27">
            <a:extLst>
              <a:ext uri="{FF2B5EF4-FFF2-40B4-BE49-F238E27FC236}">
                <a16:creationId xmlns:a16="http://schemas.microsoft.com/office/drawing/2014/main" id="{3EED566D-876D-829F-F95A-F28955542B40}"/>
              </a:ext>
            </a:extLst>
          </p:cNvPr>
          <p:cNvSpPr txBox="1"/>
          <p:nvPr/>
        </p:nvSpPr>
        <p:spPr>
          <a:xfrm>
            <a:off x="15530096" y="19971893"/>
            <a:ext cx="2936496" cy="5632311"/>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Figure 5. Alluvial plot of subtype reassignment between PAM50 and UGES. </a:t>
            </a:r>
            <a:r>
              <a:rPr lang="en-US" altLang="zh-CN" sz="2400" dirty="0">
                <a:latin typeface="Arial" panose="020B0604020202020204" pitchFamily="34" charset="0"/>
                <a:cs typeface="Arial" panose="020B0604020202020204" pitchFamily="34" charset="0"/>
              </a:rPr>
              <a:t>This alluvial plot shows how subtype assignments change between PAM50 and UGES across 2,065 breast cancer samples. Overall, 11.57% of tumors were reassigned. </a:t>
            </a:r>
            <a:endParaRPr lang="zh-CN" altLang="en-US" sz="2400" dirty="0">
              <a:latin typeface="Arial" panose="020B0604020202020204" pitchFamily="34" charset="0"/>
              <a:cs typeface="Arial" panose="020B0604020202020204" pitchFamily="34" charset="0"/>
            </a:endParaRPr>
          </a:p>
        </p:txBody>
      </p:sp>
      <p:grpSp>
        <p:nvGrpSpPr>
          <p:cNvPr id="33" name="组合 32">
            <a:extLst>
              <a:ext uri="{FF2B5EF4-FFF2-40B4-BE49-F238E27FC236}">
                <a16:creationId xmlns:a16="http://schemas.microsoft.com/office/drawing/2014/main" id="{DAFD31EA-5C38-D87C-C0FD-D5E245106F41}"/>
              </a:ext>
            </a:extLst>
          </p:cNvPr>
          <p:cNvGrpSpPr/>
          <p:nvPr/>
        </p:nvGrpSpPr>
        <p:grpSpPr>
          <a:xfrm>
            <a:off x="18490406" y="19382949"/>
            <a:ext cx="10591800" cy="6616205"/>
            <a:chOff x="18150155" y="20467391"/>
            <a:chExt cx="11472070" cy="7200000"/>
          </a:xfrm>
        </p:grpSpPr>
        <p:pic>
          <p:nvPicPr>
            <p:cNvPr id="26" name="图片 25">
              <a:extLst>
                <a:ext uri="{FF2B5EF4-FFF2-40B4-BE49-F238E27FC236}">
                  <a16:creationId xmlns:a16="http://schemas.microsoft.com/office/drawing/2014/main" id="{AEF506A1-CF9A-83D9-7BCE-CF0435994BC0}"/>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8150155" y="20467391"/>
              <a:ext cx="11472070" cy="7200000"/>
            </a:xfrm>
            <a:prstGeom prst="rect">
              <a:avLst/>
            </a:prstGeom>
          </p:spPr>
        </p:pic>
        <p:sp>
          <p:nvSpPr>
            <p:cNvPr id="32" name="矩形 31">
              <a:extLst>
                <a:ext uri="{FF2B5EF4-FFF2-40B4-BE49-F238E27FC236}">
                  <a16:creationId xmlns:a16="http://schemas.microsoft.com/office/drawing/2014/main" id="{A6B38AF2-F455-30B0-E575-CA276E937D4A}"/>
                </a:ext>
              </a:extLst>
            </p:cNvPr>
            <p:cNvSpPr/>
            <p:nvPr/>
          </p:nvSpPr>
          <p:spPr>
            <a:xfrm>
              <a:off x="28430969" y="23306881"/>
              <a:ext cx="968516" cy="3924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object 25">
            <a:extLst>
              <a:ext uri="{FF2B5EF4-FFF2-40B4-BE49-F238E27FC236}">
                <a16:creationId xmlns:a16="http://schemas.microsoft.com/office/drawing/2014/main" id="{43D58477-41C3-6009-AEB9-E94F06963381}"/>
              </a:ext>
            </a:extLst>
          </p:cNvPr>
          <p:cNvSpPr txBox="1"/>
          <p:nvPr/>
        </p:nvSpPr>
        <p:spPr>
          <a:xfrm>
            <a:off x="15570970" y="25672710"/>
            <a:ext cx="13140444" cy="784654"/>
          </a:xfrm>
          <a:prstGeom prst="rect">
            <a:avLst/>
          </a:prstGeom>
        </p:spPr>
        <p:txBody>
          <a:bodyPr vert="horz" wrap="square" lIns="0" tIns="350345" rIns="0" bIns="0" rtlCol="0">
            <a:spAutoFit/>
          </a:bodyPr>
          <a:lstStyle/>
          <a:p>
            <a:pPr marL="662940" marR="121920" indent="-513080">
              <a:spcBef>
                <a:spcPts val="1800"/>
              </a:spcBef>
            </a:pPr>
            <a:r>
              <a:rPr lang="en-US" sz="2800" b="1" spc="-20" dirty="0">
                <a:latin typeface="Arial" panose="020B0604020202020204"/>
                <a:cs typeface="Arial" panose="020B0604020202020204"/>
              </a:rPr>
              <a:t>3</a:t>
            </a:r>
            <a:r>
              <a:rPr sz="2800" b="1" spc="-20" dirty="0">
                <a:latin typeface="Arial" panose="020B0604020202020204"/>
                <a:cs typeface="Arial" panose="020B0604020202020204"/>
              </a:rPr>
              <a:t>.</a:t>
            </a:r>
            <a:r>
              <a:rPr sz="2800" b="1" spc="201" dirty="0">
                <a:latin typeface="Arial" panose="020B0604020202020204"/>
                <a:cs typeface="Arial" panose="020B0604020202020204"/>
              </a:rPr>
              <a:t> </a:t>
            </a:r>
            <a:r>
              <a:rPr lang="en-US" sz="2800" b="1" spc="-20" dirty="0">
                <a:latin typeface="Arial" panose="020B0604020202020204"/>
                <a:cs typeface="Arial" panose="020B0604020202020204"/>
              </a:rPr>
              <a:t>Enhanced Prognostic Stratification Using UGES Subtyping</a:t>
            </a:r>
            <a:endParaRPr lang="en-US" sz="2800" b="1" spc="-40" dirty="0">
              <a:latin typeface="Arial" panose="020B0604020202020204"/>
              <a:cs typeface="Arial" panose="020B0604020202020204"/>
            </a:endParaRPr>
          </a:p>
        </p:txBody>
      </p:sp>
      <p:sp>
        <p:nvSpPr>
          <p:cNvPr id="4" name="文本框 3">
            <a:extLst>
              <a:ext uri="{FF2B5EF4-FFF2-40B4-BE49-F238E27FC236}">
                <a16:creationId xmlns:a16="http://schemas.microsoft.com/office/drawing/2014/main" id="{36A85A9A-8CDE-8FBD-A315-ECA3150023B3}"/>
              </a:ext>
            </a:extLst>
          </p:cNvPr>
          <p:cNvSpPr txBox="1"/>
          <p:nvPr/>
        </p:nvSpPr>
        <p:spPr>
          <a:xfrm>
            <a:off x="22930604" y="26507281"/>
            <a:ext cx="6456402" cy="3785652"/>
          </a:xfrm>
          <a:prstGeom prst="rect">
            <a:avLst/>
          </a:prstGeom>
          <a:noFill/>
        </p:spPr>
        <p:txBody>
          <a:bodyPr wrap="square" rtlCol="0">
            <a:spAutoFit/>
          </a:bodyPr>
          <a:lstStyle/>
          <a:p>
            <a:pPr algn="just"/>
            <a:r>
              <a:rPr lang="en-US" altLang="zh-CN" sz="2400" b="1" dirty="0">
                <a:latin typeface="Arial" panose="020B0604020202020204" pitchFamily="34" charset="0"/>
                <a:cs typeface="Arial" panose="020B0604020202020204" pitchFamily="34" charset="0"/>
              </a:rPr>
              <a:t>Figure 6. Multivariable survival analysis comparing prognostic stratification between UGES and PAM50 subtypes. </a:t>
            </a:r>
            <a:r>
              <a:rPr lang="en-US" altLang="zh-CN" sz="2400" dirty="0">
                <a:latin typeface="Arial" panose="020B0604020202020204" pitchFamily="34" charset="0"/>
                <a:cs typeface="Arial" panose="020B0604020202020204" pitchFamily="34" charset="0"/>
              </a:rPr>
              <a:t>UGES subtyping provided significantly improved stratification of overall survival. Under UGES classification, survival differences among intrinsic subtypes became more statistically significant — particularly for Her2. LumA consistently showed the most favorable prognosis.</a:t>
            </a:r>
          </a:p>
        </p:txBody>
      </p:sp>
      <mc:AlternateContent xmlns:mc="http://schemas.openxmlformats.org/markup-compatibility/2006">
        <mc:Choice xmlns:a14="http://schemas.microsoft.com/office/drawing/2010/main" Requires="a14">
          <p:graphicFrame>
            <p:nvGraphicFramePr>
              <p:cNvPr id="25" name="表格 24">
                <a:extLst>
                  <a:ext uri="{FF2B5EF4-FFF2-40B4-BE49-F238E27FC236}">
                    <a16:creationId xmlns:a16="http://schemas.microsoft.com/office/drawing/2014/main" id="{E79679A5-FCBA-7E1D-8340-DA2EB8132006}"/>
                  </a:ext>
                </a:extLst>
              </p:cNvPr>
              <p:cNvGraphicFramePr>
                <a:graphicFrameLocks noGrp="1"/>
              </p:cNvGraphicFramePr>
              <p:nvPr>
                <p:extLst>
                  <p:ext uri="{D42A27DB-BD31-4B8C-83A1-F6EECF244321}">
                    <p14:modId xmlns:p14="http://schemas.microsoft.com/office/powerpoint/2010/main" val="2515430745"/>
                  </p:ext>
                </p:extLst>
              </p:nvPr>
            </p:nvGraphicFramePr>
            <p:xfrm>
              <a:off x="23091985" y="30636090"/>
              <a:ext cx="6288043" cy="2895600"/>
            </p:xfrm>
            <a:graphic>
              <a:graphicData uri="http://schemas.openxmlformats.org/drawingml/2006/table">
                <a:tbl>
                  <a:tblPr firstRow="1" bandRow="1">
                    <a:tableStyleId>{5C22544A-7EE6-4342-B048-85BDC9FD1C3A}</a:tableStyleId>
                  </a:tblPr>
                  <a:tblGrid>
                    <a:gridCol w="847826">
                      <a:extLst>
                        <a:ext uri="{9D8B030D-6E8A-4147-A177-3AD203B41FA5}">
                          <a16:colId xmlns:a16="http://schemas.microsoft.com/office/drawing/2014/main" val="1328148041"/>
                        </a:ext>
                      </a:extLst>
                    </a:gridCol>
                    <a:gridCol w="1483696">
                      <a:extLst>
                        <a:ext uri="{9D8B030D-6E8A-4147-A177-3AD203B41FA5}">
                          <a16:colId xmlns:a16="http://schemas.microsoft.com/office/drawing/2014/main" val="3517789363"/>
                        </a:ext>
                      </a:extLst>
                    </a:gridCol>
                    <a:gridCol w="1790640">
                      <a:extLst>
                        <a:ext uri="{9D8B030D-6E8A-4147-A177-3AD203B41FA5}">
                          <a16:colId xmlns:a16="http://schemas.microsoft.com/office/drawing/2014/main" val="2977258585"/>
                        </a:ext>
                      </a:extLst>
                    </a:gridCol>
                    <a:gridCol w="2165881">
                      <a:extLst>
                        <a:ext uri="{9D8B030D-6E8A-4147-A177-3AD203B41FA5}">
                          <a16:colId xmlns:a16="http://schemas.microsoft.com/office/drawing/2014/main" val="221219300"/>
                        </a:ext>
                      </a:extLst>
                    </a:gridCol>
                  </a:tblGrid>
                  <a:tr h="723900">
                    <a:tc>
                      <a:txBody>
                        <a:bodyPr/>
                        <a:lstStyle/>
                        <a:p>
                          <a:pPr algn="ct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solidFill>
                              <a:latin typeface="Arial" panose="020B0604020202020204" pitchFamily="34" charset="0"/>
                              <a:cs typeface="Arial" panose="020B0604020202020204" pitchFamily="34" charset="0"/>
                            </a:rPr>
                            <a:t>Basal</a:t>
                          </a:r>
                          <a:endParaRPr lang="zh-CN" altLang="en-US"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solidFill>
                              <a:latin typeface="Arial" panose="020B0604020202020204" pitchFamily="34" charset="0"/>
                              <a:cs typeface="Arial" panose="020B0604020202020204" pitchFamily="34" charset="0"/>
                            </a:rPr>
                            <a:t>Her2</a:t>
                          </a:r>
                          <a:endParaRPr lang="zh-CN" altLang="en-US"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solidFill>
                              <a:latin typeface="Arial" panose="020B0604020202020204" pitchFamily="34" charset="0"/>
                              <a:cs typeface="Arial" panose="020B0604020202020204" pitchFamily="34" charset="0"/>
                            </a:rPr>
                            <a:t>LumA</a:t>
                          </a:r>
                          <a:endParaRPr lang="zh-CN" altLang="en-US"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4366635"/>
                      </a:ext>
                    </a:extLst>
                  </a:tr>
                  <a:tr h="723900">
                    <a:tc>
                      <a:txBody>
                        <a:bodyPr/>
                        <a:lstStyle/>
                        <a:p>
                          <a:pPr algn="ctr"/>
                          <a:r>
                            <a:rPr lang="en-US" altLang="zh-CN" dirty="0">
                              <a:latin typeface="Arial" panose="020B0604020202020204" pitchFamily="34" charset="0"/>
                              <a:cs typeface="Arial" panose="020B0604020202020204" pitchFamily="34" charset="0"/>
                            </a:rPr>
                            <a:t>Her2</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cs typeface="Arial" panose="020B0604020202020204" pitchFamily="34" charset="0"/>
                                  </a:rPr>
                                  <m:t>0.03</m:t>
                                </m:r>
                                <m:r>
                                  <a:rPr lang="en-US" altLang="zh-CN" i="1" smtClean="0">
                                    <a:latin typeface="Cambria Math" panose="02040503050406030204" pitchFamily="18" charset="0"/>
                                    <a:ea typeface="Cambria Math" panose="02040503050406030204" pitchFamily="18" charset="0"/>
                                    <a:cs typeface="Arial" panose="020B0604020202020204" pitchFamily="34" charset="0"/>
                                  </a:rPr>
                                  <m:t>→</m:t>
                                </m:r>
                                <m:r>
                                  <a:rPr lang="en-US" altLang="zh-CN" i="1" dirty="0" smtClean="0">
                                    <a:latin typeface="Cambria Math" panose="02040503050406030204" pitchFamily="18" charset="0"/>
                                    <a:cs typeface="Arial" panose="020B0604020202020204" pitchFamily="34" charset="0"/>
                                  </a:rPr>
                                  <m:t>0.02</m:t>
                                </m:r>
                              </m:oMath>
                            </m:oMathPara>
                          </a14:m>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1222620"/>
                      </a:ext>
                    </a:extLst>
                  </a:tr>
                  <a:tr h="723900">
                    <a:tc>
                      <a:txBody>
                        <a:bodyPr/>
                        <a:lstStyle/>
                        <a:p>
                          <a:pPr algn="ctr"/>
                          <a:r>
                            <a:rPr lang="en-US" altLang="zh-CN" dirty="0">
                              <a:latin typeface="Arial" panose="020B0604020202020204" pitchFamily="34" charset="0"/>
                              <a:cs typeface="Arial" panose="020B0604020202020204" pitchFamily="34" charset="0"/>
                            </a:rPr>
                            <a:t>LumA</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cs typeface="Arial" panose="020B0604020202020204" pitchFamily="34" charset="0"/>
                                  </a:rPr>
                                  <m:t>0.07</m:t>
                                </m:r>
                                <m:r>
                                  <a:rPr lang="en-US" altLang="zh-CN" i="1" smtClean="0">
                                    <a:latin typeface="Cambria Math" panose="02040503050406030204" pitchFamily="18" charset="0"/>
                                    <a:ea typeface="Cambria Math" panose="02040503050406030204" pitchFamily="18" charset="0"/>
                                    <a:cs typeface="Arial" panose="020B0604020202020204" pitchFamily="34" charset="0"/>
                                  </a:rPr>
                                  <m:t>→</m:t>
                                </m:r>
                                <m:r>
                                  <a:rPr lang="en-US" altLang="zh-CN" i="1" dirty="0" smtClean="0">
                                    <a:latin typeface="Cambria Math" panose="02040503050406030204" pitchFamily="18" charset="0"/>
                                    <a:cs typeface="Arial" panose="020B0604020202020204" pitchFamily="34" charset="0"/>
                                  </a:rPr>
                                  <m:t>0.04</m:t>
                                </m:r>
                              </m:oMath>
                            </m:oMathPara>
                          </a14:m>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2</m:t>
                                </m:r>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ea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ea typeface="Cambria Math" panose="02040503050406030204" pitchFamily="18" charset="0"/>
                                        <a:cs typeface="Arial" panose="020B0604020202020204" pitchFamily="34" charset="0"/>
                                      </a:rPr>
                                      <m:t>10</m:t>
                                    </m:r>
                                  </m:e>
                                  <m:sup>
                                    <m:r>
                                      <a:rPr lang="en-US" altLang="zh-CN" b="0" i="1" smtClean="0">
                                        <a:latin typeface="Cambria Math" panose="02040503050406030204" pitchFamily="18" charset="0"/>
                                        <a:ea typeface="Cambria Math" panose="02040503050406030204" pitchFamily="18" charset="0"/>
                                        <a:cs typeface="Arial" panose="020B0604020202020204" pitchFamily="34" charset="0"/>
                                      </a:rPr>
                                      <m:t>−7</m:t>
                                    </m:r>
                                  </m:sup>
                                </m:sSup>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2</m:t>
                                </m:r>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ea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ea typeface="Cambria Math" panose="02040503050406030204" pitchFamily="18" charset="0"/>
                                        <a:cs typeface="Arial" panose="020B0604020202020204" pitchFamily="34" charset="0"/>
                                      </a:rPr>
                                      <m:t>10</m:t>
                                    </m:r>
                                  </m:e>
                                  <m:sup>
                                    <m:r>
                                      <a:rPr lang="en-US" altLang="zh-CN" b="0" i="1" smtClean="0">
                                        <a:latin typeface="Cambria Math" panose="02040503050406030204" pitchFamily="18" charset="0"/>
                                        <a:ea typeface="Cambria Math" panose="02040503050406030204" pitchFamily="18" charset="0"/>
                                        <a:cs typeface="Arial" panose="020B0604020202020204" pitchFamily="34" charset="0"/>
                                      </a:rPr>
                                      <m:t>−9</m:t>
                                    </m:r>
                                  </m:sup>
                                </m:sSup>
                              </m:oMath>
                            </m:oMathPara>
                          </a14:m>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27568992"/>
                      </a:ext>
                    </a:extLst>
                  </a:tr>
                  <a:tr h="723900">
                    <a:tc>
                      <a:txBody>
                        <a:bodyPr/>
                        <a:lstStyle/>
                        <a:p>
                          <a:pPr algn="ctr"/>
                          <a:r>
                            <a:rPr lang="en-US" altLang="zh-CN" dirty="0">
                              <a:latin typeface="Arial" panose="020B0604020202020204" pitchFamily="34" charset="0"/>
                              <a:cs typeface="Arial" panose="020B0604020202020204" pitchFamily="34" charset="0"/>
                            </a:rPr>
                            <a:t>LumB</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cs typeface="Arial" panose="020B0604020202020204" pitchFamily="34" charset="0"/>
                                  </a:rPr>
                                  <m:t>0.14</m:t>
                                </m:r>
                                <m:r>
                                  <a:rPr lang="en-US" altLang="zh-CN" i="1" smtClean="0">
                                    <a:latin typeface="Cambria Math" panose="02040503050406030204" pitchFamily="18" charset="0"/>
                                    <a:ea typeface="Cambria Math" panose="02040503050406030204" pitchFamily="18" charset="0"/>
                                    <a:cs typeface="Arial" panose="020B0604020202020204" pitchFamily="34" charset="0"/>
                                  </a:rPr>
                                  <m:t>→</m:t>
                                </m:r>
                                <m:r>
                                  <a:rPr lang="en-US" altLang="zh-CN" i="1" dirty="0" smtClean="0">
                                    <a:latin typeface="Cambria Math" panose="02040503050406030204" pitchFamily="18" charset="0"/>
                                    <a:cs typeface="Arial" panose="020B0604020202020204" pitchFamily="34" charset="0"/>
                                  </a:rPr>
                                  <m:t>0.08</m:t>
                                </m:r>
                              </m:oMath>
                            </m:oMathPara>
                          </a14:m>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latin typeface="Arial" panose="020B0604020202020204" pitchFamily="34" charset="0"/>
                              <a:cs typeface="Arial" panose="020B0604020202020204" pitchFamily="34" charset="0"/>
                            </a:rPr>
                            <a:t>0.029</a:t>
                          </a:r>
                          <a14:m>
                            <m:oMath xmlns:m="http://schemas.openxmlformats.org/officeDocument/2006/math">
                              <m:r>
                                <a:rPr lang="en-US" altLang="zh-CN" i="1" smtClean="0">
                                  <a:latin typeface="Cambria Math" panose="02040503050406030204" pitchFamily="18" charset="0"/>
                                  <a:ea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0.032</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2</m:t>
                                </m:r>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ea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ea typeface="Cambria Math" panose="02040503050406030204" pitchFamily="18" charset="0"/>
                                        <a:cs typeface="Arial" panose="020B0604020202020204" pitchFamily="34" charset="0"/>
                                      </a:rPr>
                                      <m:t>10</m:t>
                                    </m:r>
                                  </m:e>
                                  <m:sup>
                                    <m:r>
                                      <a:rPr lang="en-US" altLang="zh-CN" b="0" i="1" smtClean="0">
                                        <a:latin typeface="Cambria Math" panose="02040503050406030204" pitchFamily="18" charset="0"/>
                                        <a:ea typeface="Cambria Math" panose="02040503050406030204" pitchFamily="18" charset="0"/>
                                        <a:cs typeface="Arial" panose="020B0604020202020204" pitchFamily="34" charset="0"/>
                                      </a:rPr>
                                      <m:t>−7</m:t>
                                    </m:r>
                                  </m:sup>
                                </m:sSup>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2</m:t>
                                </m:r>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ea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ea typeface="Cambria Math" panose="02040503050406030204" pitchFamily="18" charset="0"/>
                                        <a:cs typeface="Arial" panose="020B0604020202020204" pitchFamily="34" charset="0"/>
                                      </a:rPr>
                                      <m:t>10</m:t>
                                    </m:r>
                                  </m:e>
                                  <m:sup>
                                    <m:r>
                                      <a:rPr lang="en-US" altLang="zh-CN" b="0" i="1" smtClean="0">
                                        <a:latin typeface="Cambria Math" panose="02040503050406030204" pitchFamily="18" charset="0"/>
                                        <a:ea typeface="Cambria Math" panose="02040503050406030204" pitchFamily="18" charset="0"/>
                                        <a:cs typeface="Arial" panose="020B0604020202020204" pitchFamily="34" charset="0"/>
                                      </a:rPr>
                                      <m:t>−9</m:t>
                                    </m:r>
                                  </m:sup>
                                </m:sSup>
                              </m:oMath>
                            </m:oMathPara>
                          </a14:m>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13371558"/>
                      </a:ext>
                    </a:extLst>
                  </a:tr>
                </a:tbl>
              </a:graphicData>
            </a:graphic>
          </p:graphicFrame>
        </mc:Choice>
        <mc:Fallback>
          <p:graphicFrame>
            <p:nvGraphicFramePr>
              <p:cNvPr id="25" name="表格 24">
                <a:extLst>
                  <a:ext uri="{FF2B5EF4-FFF2-40B4-BE49-F238E27FC236}">
                    <a16:creationId xmlns:a16="http://schemas.microsoft.com/office/drawing/2014/main" id="{E79679A5-FCBA-7E1D-8340-DA2EB8132006}"/>
                  </a:ext>
                </a:extLst>
              </p:cNvPr>
              <p:cNvGraphicFramePr>
                <a:graphicFrameLocks noGrp="1"/>
              </p:cNvGraphicFramePr>
              <p:nvPr>
                <p:extLst>
                  <p:ext uri="{D42A27DB-BD31-4B8C-83A1-F6EECF244321}">
                    <p14:modId xmlns:p14="http://schemas.microsoft.com/office/powerpoint/2010/main" val="2515430745"/>
                  </p:ext>
                </p:extLst>
              </p:nvPr>
            </p:nvGraphicFramePr>
            <p:xfrm>
              <a:off x="23091985" y="30636090"/>
              <a:ext cx="6288043" cy="2895600"/>
            </p:xfrm>
            <a:graphic>
              <a:graphicData uri="http://schemas.openxmlformats.org/drawingml/2006/table">
                <a:tbl>
                  <a:tblPr firstRow="1" bandRow="1">
                    <a:tableStyleId>{5C22544A-7EE6-4342-B048-85BDC9FD1C3A}</a:tableStyleId>
                  </a:tblPr>
                  <a:tblGrid>
                    <a:gridCol w="847826">
                      <a:extLst>
                        <a:ext uri="{9D8B030D-6E8A-4147-A177-3AD203B41FA5}">
                          <a16:colId xmlns:a16="http://schemas.microsoft.com/office/drawing/2014/main" val="1328148041"/>
                        </a:ext>
                      </a:extLst>
                    </a:gridCol>
                    <a:gridCol w="1483696">
                      <a:extLst>
                        <a:ext uri="{9D8B030D-6E8A-4147-A177-3AD203B41FA5}">
                          <a16:colId xmlns:a16="http://schemas.microsoft.com/office/drawing/2014/main" val="3517789363"/>
                        </a:ext>
                      </a:extLst>
                    </a:gridCol>
                    <a:gridCol w="1790640">
                      <a:extLst>
                        <a:ext uri="{9D8B030D-6E8A-4147-A177-3AD203B41FA5}">
                          <a16:colId xmlns:a16="http://schemas.microsoft.com/office/drawing/2014/main" val="2977258585"/>
                        </a:ext>
                      </a:extLst>
                    </a:gridCol>
                    <a:gridCol w="2165881">
                      <a:extLst>
                        <a:ext uri="{9D8B030D-6E8A-4147-A177-3AD203B41FA5}">
                          <a16:colId xmlns:a16="http://schemas.microsoft.com/office/drawing/2014/main" val="221219300"/>
                        </a:ext>
                      </a:extLst>
                    </a:gridCol>
                  </a:tblGrid>
                  <a:tr h="723900">
                    <a:tc>
                      <a:txBody>
                        <a:bodyPr/>
                        <a:lstStyle/>
                        <a:p>
                          <a:pPr algn="ct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solidFill>
                              <a:latin typeface="Arial" panose="020B0604020202020204" pitchFamily="34" charset="0"/>
                              <a:cs typeface="Arial" panose="020B0604020202020204" pitchFamily="34" charset="0"/>
                            </a:rPr>
                            <a:t>Basal</a:t>
                          </a:r>
                          <a:endParaRPr lang="zh-CN" altLang="en-US"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solidFill>
                              <a:latin typeface="Arial" panose="020B0604020202020204" pitchFamily="34" charset="0"/>
                              <a:cs typeface="Arial" panose="020B0604020202020204" pitchFamily="34" charset="0"/>
                            </a:rPr>
                            <a:t>Her2</a:t>
                          </a:r>
                          <a:endParaRPr lang="zh-CN" altLang="en-US"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0" dirty="0">
                              <a:solidFill>
                                <a:schemeClr val="tx1"/>
                              </a:solidFill>
                              <a:latin typeface="Arial" panose="020B0604020202020204" pitchFamily="34" charset="0"/>
                              <a:cs typeface="Arial" panose="020B0604020202020204" pitchFamily="34" charset="0"/>
                            </a:rPr>
                            <a:t>LumA</a:t>
                          </a:r>
                          <a:endParaRPr lang="zh-CN" altLang="en-US"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4366635"/>
                      </a:ext>
                    </a:extLst>
                  </a:tr>
                  <a:tr h="723900">
                    <a:tc>
                      <a:txBody>
                        <a:bodyPr/>
                        <a:lstStyle/>
                        <a:p>
                          <a:pPr algn="ctr"/>
                          <a:r>
                            <a:rPr lang="en-US" altLang="zh-CN" dirty="0">
                              <a:latin typeface="Arial" panose="020B0604020202020204" pitchFamily="34" charset="0"/>
                              <a:cs typeface="Arial" panose="020B0604020202020204" pitchFamily="34" charset="0"/>
                            </a:rPr>
                            <a:t>Her2</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0"/>
                          <a:stretch>
                            <a:fillRect l="-57377" t="-100840" r="-266803" b="-201681"/>
                          </a:stretch>
                        </a:blipFill>
                      </a:tcPr>
                    </a:tc>
                    <a:tc>
                      <a:txBody>
                        <a:bodyPr/>
                        <a:lstStyle/>
                        <a:p>
                          <a:pPr algn="ct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1222620"/>
                      </a:ext>
                    </a:extLst>
                  </a:tr>
                  <a:tr h="723900">
                    <a:tc>
                      <a:txBody>
                        <a:bodyPr/>
                        <a:lstStyle/>
                        <a:p>
                          <a:pPr algn="ctr"/>
                          <a:r>
                            <a:rPr lang="en-US" altLang="zh-CN" dirty="0">
                              <a:latin typeface="Arial" panose="020B0604020202020204" pitchFamily="34" charset="0"/>
                              <a:cs typeface="Arial" panose="020B0604020202020204" pitchFamily="34" charset="0"/>
                            </a:rPr>
                            <a:t>LumA</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0"/>
                          <a:stretch>
                            <a:fillRect l="-57377" t="-200840" r="-266803" b="-101681"/>
                          </a:stretch>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0"/>
                          <a:stretch>
                            <a:fillRect l="-130612" t="-200840" r="-121429" b="-101681"/>
                          </a:stretch>
                        </a:blipFill>
                      </a:tcPr>
                    </a:tc>
                    <a:tc>
                      <a:txBody>
                        <a:bodyPr/>
                        <a:lstStyle/>
                        <a:p>
                          <a:pPr algn="ct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27568992"/>
                      </a:ext>
                    </a:extLst>
                  </a:tr>
                  <a:tr h="723900">
                    <a:tc>
                      <a:txBody>
                        <a:bodyPr/>
                        <a:lstStyle/>
                        <a:p>
                          <a:pPr algn="ctr"/>
                          <a:r>
                            <a:rPr lang="en-US" altLang="zh-CN" dirty="0">
                              <a:latin typeface="Arial" panose="020B0604020202020204" pitchFamily="34" charset="0"/>
                              <a:cs typeface="Arial" panose="020B0604020202020204" pitchFamily="34" charset="0"/>
                            </a:rPr>
                            <a:t>LumB</a:t>
                          </a: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0"/>
                          <a:stretch>
                            <a:fillRect l="-57377" t="-300840" r="-266803" b="-1681"/>
                          </a:stretch>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0"/>
                          <a:stretch>
                            <a:fillRect l="-130612" t="-300840" r="-121429" b="-1681"/>
                          </a:stretch>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0"/>
                          <a:stretch>
                            <a:fillRect l="-190986" t="-300840" r="-563" b="-1681"/>
                          </a:stretch>
                        </a:blipFill>
                      </a:tcPr>
                    </a:tc>
                    <a:extLst>
                      <a:ext uri="{0D108BD9-81ED-4DB2-BD59-A6C34878D82A}">
                        <a16:rowId xmlns:a16="http://schemas.microsoft.com/office/drawing/2014/main" val="1613371558"/>
                      </a:ext>
                    </a:extLst>
                  </a:tr>
                </a:tbl>
              </a:graphicData>
            </a:graphic>
          </p:graphicFrame>
        </mc:Fallback>
      </mc:AlternateContent>
      <p:sp>
        <p:nvSpPr>
          <p:cNvPr id="36" name="AutoShape 2">
            <a:extLst>
              <a:ext uri="{FF2B5EF4-FFF2-40B4-BE49-F238E27FC236}">
                <a16:creationId xmlns:a16="http://schemas.microsoft.com/office/drawing/2014/main" id="{DEAC83EB-91B8-B116-5E1B-69D8304A56A5}"/>
              </a:ext>
            </a:extLst>
          </p:cNvPr>
          <p:cNvSpPr>
            <a:spLocks noChangeAspect="1" noChangeArrowheads="1"/>
          </p:cNvSpPr>
          <p:nvPr/>
        </p:nvSpPr>
        <p:spPr bwMode="auto">
          <a:xfrm>
            <a:off x="14984413" y="1983982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AutoShape 4">
            <a:extLst>
              <a:ext uri="{FF2B5EF4-FFF2-40B4-BE49-F238E27FC236}">
                <a16:creationId xmlns:a16="http://schemas.microsoft.com/office/drawing/2014/main" id="{3EB8FBA1-FDAB-265D-F1C4-4D0CAD277EE9}"/>
              </a:ext>
            </a:extLst>
          </p:cNvPr>
          <p:cNvSpPr>
            <a:spLocks noChangeAspect="1" noChangeArrowheads="1"/>
          </p:cNvSpPr>
          <p:nvPr/>
        </p:nvSpPr>
        <p:spPr bwMode="auto">
          <a:xfrm>
            <a:off x="15136813" y="2070064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38" name="图片 37">
            <a:extLst>
              <a:ext uri="{FF2B5EF4-FFF2-40B4-BE49-F238E27FC236}">
                <a16:creationId xmlns:a16="http://schemas.microsoft.com/office/drawing/2014/main" id="{E39AB5E6-3749-4B98-C299-49655ACA0F34}"/>
              </a:ext>
            </a:extLst>
          </p:cNvPr>
          <p:cNvPicPr>
            <a:picLocks noChangeAspect="1"/>
          </p:cNvPicPr>
          <p:nvPr/>
        </p:nvPicPr>
        <p:blipFill>
          <a:blip r:embed="rId21"/>
          <a:srcRect l="4169" t="11793" r="2153"/>
          <a:stretch>
            <a:fillRect/>
          </a:stretch>
        </p:blipFill>
        <p:spPr>
          <a:xfrm>
            <a:off x="15397750" y="27027609"/>
            <a:ext cx="7563301" cy="4397144"/>
          </a:xfrm>
          <a:prstGeom prst="rect">
            <a:avLst/>
          </a:prstGeom>
        </p:spPr>
      </p:pic>
      <p:sp>
        <p:nvSpPr>
          <p:cNvPr id="39" name="矩形 38">
            <a:extLst>
              <a:ext uri="{FF2B5EF4-FFF2-40B4-BE49-F238E27FC236}">
                <a16:creationId xmlns:a16="http://schemas.microsoft.com/office/drawing/2014/main" id="{77EF2B45-2914-C214-0B17-F9CA15E754DA}"/>
              </a:ext>
            </a:extLst>
          </p:cNvPr>
          <p:cNvSpPr/>
          <p:nvPr/>
        </p:nvSpPr>
        <p:spPr>
          <a:xfrm>
            <a:off x="15975806" y="31537961"/>
            <a:ext cx="5671701" cy="4557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Arial" panose="020B0604020202020204" pitchFamily="34" charset="0"/>
                <a:cs typeface="Arial" panose="020B0604020202020204" pitchFamily="34" charset="0"/>
              </a:rPr>
              <a:t>Hazard ratio of UGES subtypes</a:t>
            </a:r>
            <a:endParaRPr lang="zh-CN" altLang="en-US" sz="2400" dirty="0">
              <a:solidFill>
                <a:schemeClr val="tx1"/>
              </a:solidFill>
              <a:latin typeface="Arial" panose="020B0604020202020204" pitchFamily="34" charset="0"/>
              <a:cs typeface="Arial" panose="020B0604020202020204" pitchFamily="34" charset="0"/>
            </a:endParaRPr>
          </a:p>
        </p:txBody>
      </p:sp>
      <p:sp>
        <p:nvSpPr>
          <p:cNvPr id="41" name="矩形 40">
            <a:extLst>
              <a:ext uri="{FF2B5EF4-FFF2-40B4-BE49-F238E27FC236}">
                <a16:creationId xmlns:a16="http://schemas.microsoft.com/office/drawing/2014/main" id="{24844C86-B61A-A89F-D698-406B6D873BBD}"/>
              </a:ext>
            </a:extLst>
          </p:cNvPr>
          <p:cNvSpPr/>
          <p:nvPr/>
        </p:nvSpPr>
        <p:spPr>
          <a:xfrm>
            <a:off x="16233595" y="26635773"/>
            <a:ext cx="4976753" cy="1790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Arial" panose="020B0604020202020204" pitchFamily="34" charset="0"/>
                <a:cs typeface="Arial" panose="020B0604020202020204" pitchFamily="34" charset="0"/>
              </a:rPr>
              <a:t>Hazard ratio of PAM50 subtypes</a:t>
            </a:r>
            <a:endParaRPr lang="zh-CN" altLang="en-US" sz="2400" dirty="0">
              <a:solidFill>
                <a:schemeClr val="tx1"/>
              </a:solidFill>
              <a:latin typeface="Arial" panose="020B0604020202020204" pitchFamily="34" charset="0"/>
              <a:cs typeface="Arial" panose="020B0604020202020204" pitchFamily="34" charset="0"/>
            </a:endParaRPr>
          </a:p>
        </p:txBody>
      </p:sp>
      <p:sp>
        <p:nvSpPr>
          <p:cNvPr id="35" name="文本框 34">
            <a:extLst>
              <a:ext uri="{FF2B5EF4-FFF2-40B4-BE49-F238E27FC236}">
                <a16:creationId xmlns:a16="http://schemas.microsoft.com/office/drawing/2014/main" id="{E3BEB9C9-B4AF-9A9B-A786-D1D9627D3B11}"/>
              </a:ext>
            </a:extLst>
          </p:cNvPr>
          <p:cNvSpPr txBox="1"/>
          <p:nvPr/>
        </p:nvSpPr>
        <p:spPr>
          <a:xfrm>
            <a:off x="22855202" y="33747293"/>
            <a:ext cx="6455603" cy="3046988"/>
          </a:xfrm>
          <a:prstGeom prst="rect">
            <a:avLst/>
          </a:prstGeom>
          <a:noFill/>
        </p:spPr>
        <p:txBody>
          <a:bodyPr wrap="square" rtlCol="0">
            <a:spAutoFit/>
          </a:bodyPr>
          <a:lstStyle/>
          <a:p>
            <a:pPr algn="just"/>
            <a:r>
              <a:rPr lang="en-US" altLang="zh-CN" sz="2400" b="1" dirty="0">
                <a:latin typeface="Arial" panose="020B0604020202020204" pitchFamily="34" charset="0"/>
                <a:cs typeface="Arial" panose="020B0604020202020204" pitchFamily="34" charset="0"/>
              </a:rPr>
              <a:t>Table 2. Pairwise log-rank p-value comparisons of subtype-specific survival outcomes between PAM50 and UGES. </a:t>
            </a:r>
            <a:r>
              <a:rPr lang="en-US" altLang="zh-CN" sz="2400" dirty="0">
                <a:latin typeface="Arial" panose="020B0604020202020204" pitchFamily="34" charset="0"/>
                <a:cs typeface="Arial" panose="020B0604020202020204" pitchFamily="34" charset="0"/>
              </a:rPr>
              <a:t>In 5 of 6 subtype comparisons, UGES yields more statistically significant separation of overall survival. The difference between LumA and Basal becomes statistically significant only under UGES reassignment. </a:t>
            </a:r>
            <a:endParaRPr lang="zh-CN" altLang="en-US" sz="2400" dirty="0">
              <a:latin typeface="Arial" panose="020B0604020202020204" pitchFamily="34" charset="0"/>
              <a:cs typeface="Arial" panose="020B0604020202020204" pitchFamily="34" charset="0"/>
            </a:endParaRPr>
          </a:p>
        </p:txBody>
      </p:sp>
      <p:sp>
        <p:nvSpPr>
          <p:cNvPr id="10" name="object 12">
            <a:extLst>
              <a:ext uri="{FF2B5EF4-FFF2-40B4-BE49-F238E27FC236}">
                <a16:creationId xmlns:a16="http://schemas.microsoft.com/office/drawing/2014/main" id="{5203AD14-0BC9-B3EE-A518-E2DB5CF38D49}"/>
              </a:ext>
            </a:extLst>
          </p:cNvPr>
          <p:cNvSpPr/>
          <p:nvPr/>
        </p:nvSpPr>
        <p:spPr>
          <a:xfrm>
            <a:off x="647815" y="23402306"/>
            <a:ext cx="14239955" cy="13961662"/>
          </a:xfrm>
          <a:custGeom>
            <a:avLst/>
            <a:gdLst/>
            <a:ahLst/>
            <a:cxnLst/>
            <a:rect l="l" t="t" r="r" b="b"/>
            <a:pathLst>
              <a:path w="3610610" h="6967855">
                <a:moveTo>
                  <a:pt x="3392430" y="0"/>
                </a:moveTo>
                <a:lnTo>
                  <a:pt x="216407" y="0"/>
                </a:lnTo>
                <a:lnTo>
                  <a:pt x="193547" y="1524"/>
                </a:lnTo>
                <a:lnTo>
                  <a:pt x="152399" y="10668"/>
                </a:lnTo>
                <a:lnTo>
                  <a:pt x="112775" y="27432"/>
                </a:lnTo>
                <a:lnTo>
                  <a:pt x="77723" y="50292"/>
                </a:lnTo>
                <a:lnTo>
                  <a:pt x="48767" y="80772"/>
                </a:lnTo>
                <a:lnTo>
                  <a:pt x="25908" y="114300"/>
                </a:lnTo>
                <a:lnTo>
                  <a:pt x="9144" y="153924"/>
                </a:lnTo>
                <a:lnTo>
                  <a:pt x="0" y="196596"/>
                </a:lnTo>
                <a:lnTo>
                  <a:pt x="0" y="6772653"/>
                </a:lnTo>
                <a:lnTo>
                  <a:pt x="9144" y="6815325"/>
                </a:lnTo>
                <a:lnTo>
                  <a:pt x="25908" y="6854949"/>
                </a:lnTo>
                <a:lnTo>
                  <a:pt x="48767" y="6888477"/>
                </a:lnTo>
                <a:lnTo>
                  <a:pt x="79247" y="6918957"/>
                </a:lnTo>
                <a:lnTo>
                  <a:pt x="112775" y="6941817"/>
                </a:lnTo>
                <a:lnTo>
                  <a:pt x="152399" y="6958581"/>
                </a:lnTo>
                <a:lnTo>
                  <a:pt x="195071" y="6967725"/>
                </a:lnTo>
                <a:lnTo>
                  <a:pt x="3393954" y="6967725"/>
                </a:lnTo>
                <a:lnTo>
                  <a:pt x="3415290" y="6966201"/>
                </a:lnTo>
                <a:lnTo>
                  <a:pt x="3436626" y="6963153"/>
                </a:lnTo>
                <a:lnTo>
                  <a:pt x="3457962" y="6958581"/>
                </a:lnTo>
                <a:lnTo>
                  <a:pt x="3469849" y="6954009"/>
                </a:lnTo>
                <a:lnTo>
                  <a:pt x="216407" y="6954009"/>
                </a:lnTo>
                <a:lnTo>
                  <a:pt x="195071" y="6952485"/>
                </a:lnTo>
                <a:lnTo>
                  <a:pt x="155447" y="6944865"/>
                </a:lnTo>
                <a:lnTo>
                  <a:pt x="118871" y="6929625"/>
                </a:lnTo>
                <a:lnTo>
                  <a:pt x="86867" y="6906765"/>
                </a:lnTo>
                <a:lnTo>
                  <a:pt x="59435" y="6879333"/>
                </a:lnTo>
                <a:lnTo>
                  <a:pt x="38100" y="6847329"/>
                </a:lnTo>
                <a:lnTo>
                  <a:pt x="22860" y="6810753"/>
                </a:lnTo>
                <a:lnTo>
                  <a:pt x="15240" y="6771129"/>
                </a:lnTo>
                <a:lnTo>
                  <a:pt x="13716" y="217932"/>
                </a:lnTo>
                <a:lnTo>
                  <a:pt x="15240" y="196596"/>
                </a:lnTo>
                <a:lnTo>
                  <a:pt x="22860" y="156972"/>
                </a:lnTo>
                <a:lnTo>
                  <a:pt x="38100" y="120396"/>
                </a:lnTo>
                <a:lnTo>
                  <a:pt x="59435" y="88392"/>
                </a:lnTo>
                <a:lnTo>
                  <a:pt x="88391" y="60960"/>
                </a:lnTo>
                <a:lnTo>
                  <a:pt x="120395" y="39624"/>
                </a:lnTo>
                <a:lnTo>
                  <a:pt x="156971" y="24384"/>
                </a:lnTo>
                <a:lnTo>
                  <a:pt x="196595" y="15240"/>
                </a:lnTo>
                <a:lnTo>
                  <a:pt x="3469239" y="15240"/>
                </a:lnTo>
                <a:lnTo>
                  <a:pt x="3456438" y="10668"/>
                </a:lnTo>
                <a:lnTo>
                  <a:pt x="3436626" y="4572"/>
                </a:lnTo>
                <a:lnTo>
                  <a:pt x="3415290" y="1524"/>
                </a:lnTo>
                <a:lnTo>
                  <a:pt x="3392430" y="0"/>
                </a:lnTo>
                <a:close/>
              </a:path>
              <a:path w="3610610" h="6967855">
                <a:moveTo>
                  <a:pt x="3469239" y="15240"/>
                </a:moveTo>
                <a:lnTo>
                  <a:pt x="3392430" y="15240"/>
                </a:lnTo>
                <a:lnTo>
                  <a:pt x="3413766" y="16764"/>
                </a:lnTo>
                <a:lnTo>
                  <a:pt x="3433578" y="19812"/>
                </a:lnTo>
                <a:lnTo>
                  <a:pt x="3471678" y="30480"/>
                </a:lnTo>
                <a:lnTo>
                  <a:pt x="3506730" y="50292"/>
                </a:lnTo>
                <a:lnTo>
                  <a:pt x="3537210" y="74676"/>
                </a:lnTo>
                <a:lnTo>
                  <a:pt x="3561594" y="105156"/>
                </a:lnTo>
                <a:lnTo>
                  <a:pt x="3579882" y="138684"/>
                </a:lnTo>
                <a:lnTo>
                  <a:pt x="3592074" y="176784"/>
                </a:lnTo>
                <a:lnTo>
                  <a:pt x="3596646" y="217932"/>
                </a:lnTo>
                <a:lnTo>
                  <a:pt x="3596646" y="6751320"/>
                </a:lnTo>
                <a:lnTo>
                  <a:pt x="3592074" y="6792465"/>
                </a:lnTo>
                <a:lnTo>
                  <a:pt x="3579882" y="6830565"/>
                </a:lnTo>
                <a:lnTo>
                  <a:pt x="3561594" y="6864093"/>
                </a:lnTo>
                <a:lnTo>
                  <a:pt x="3521970" y="6908289"/>
                </a:lnTo>
                <a:lnTo>
                  <a:pt x="3489966" y="6929625"/>
                </a:lnTo>
                <a:lnTo>
                  <a:pt x="3453390" y="6944865"/>
                </a:lnTo>
                <a:lnTo>
                  <a:pt x="3413766" y="6952485"/>
                </a:lnTo>
                <a:lnTo>
                  <a:pt x="3392430" y="6954009"/>
                </a:lnTo>
                <a:lnTo>
                  <a:pt x="3469849" y="6954009"/>
                </a:lnTo>
                <a:lnTo>
                  <a:pt x="3514350" y="6931149"/>
                </a:lnTo>
                <a:lnTo>
                  <a:pt x="3546354" y="6903717"/>
                </a:lnTo>
                <a:lnTo>
                  <a:pt x="3573786" y="6871713"/>
                </a:lnTo>
                <a:lnTo>
                  <a:pt x="3593598" y="6835137"/>
                </a:lnTo>
                <a:lnTo>
                  <a:pt x="3605790" y="6793989"/>
                </a:lnTo>
                <a:lnTo>
                  <a:pt x="3610362" y="6751320"/>
                </a:lnTo>
                <a:lnTo>
                  <a:pt x="3610362" y="217932"/>
                </a:lnTo>
                <a:lnTo>
                  <a:pt x="3605790" y="173736"/>
                </a:lnTo>
                <a:lnTo>
                  <a:pt x="3593598" y="132588"/>
                </a:lnTo>
                <a:lnTo>
                  <a:pt x="3572262" y="96012"/>
                </a:lnTo>
                <a:lnTo>
                  <a:pt x="3546354" y="64008"/>
                </a:lnTo>
                <a:lnTo>
                  <a:pt x="3514350" y="38100"/>
                </a:lnTo>
                <a:lnTo>
                  <a:pt x="3477774" y="18288"/>
                </a:lnTo>
                <a:lnTo>
                  <a:pt x="3469239" y="15240"/>
                </a:lnTo>
                <a:close/>
              </a:path>
            </a:pathLst>
          </a:custGeom>
          <a:solidFill>
            <a:srgbClr val="0150A8"/>
          </a:solidFill>
          <a:ln>
            <a:solidFill>
              <a:srgbClr val="0150A8"/>
            </a:solidFill>
          </a:ln>
        </p:spPr>
        <p:txBody>
          <a:bodyPr wrap="square" lIns="0" tIns="0" rIns="0" bIns="0" rtlCol="0"/>
          <a:lstStyle/>
          <a:p>
            <a:endParaRPr sz="7200"/>
          </a:p>
        </p:txBody>
      </p:sp>
      <p:sp>
        <p:nvSpPr>
          <p:cNvPr id="31" name="文本框 30">
            <a:extLst>
              <a:ext uri="{FF2B5EF4-FFF2-40B4-BE49-F238E27FC236}">
                <a16:creationId xmlns:a16="http://schemas.microsoft.com/office/drawing/2014/main" id="{516399AD-5679-887F-9634-EE4F15C169CF}"/>
              </a:ext>
            </a:extLst>
          </p:cNvPr>
          <p:cNvSpPr txBox="1"/>
          <p:nvPr/>
        </p:nvSpPr>
        <p:spPr>
          <a:xfrm>
            <a:off x="986729" y="8465275"/>
            <a:ext cx="9488480" cy="584775"/>
          </a:xfrm>
          <a:prstGeom prst="rect">
            <a:avLst/>
          </a:prstGeom>
          <a:noFill/>
        </p:spPr>
        <p:txBody>
          <a:bodyPr wrap="square" rtlCol="0">
            <a:spAutoFit/>
          </a:bodyPr>
          <a:lstStyle/>
          <a:p>
            <a:r>
              <a:rPr lang="en-US" altLang="zh-CN" sz="3200" b="1" spc="-20" dirty="0">
                <a:latin typeface="Arial" panose="020B0604020202020204"/>
                <a:cs typeface="Arial" panose="020B0604020202020204"/>
              </a:rPr>
              <a:t>1.</a:t>
            </a:r>
            <a:r>
              <a:rPr lang="en-US" altLang="zh-CN" sz="3200" b="1" spc="359" dirty="0">
                <a:latin typeface="Arial" panose="020B0604020202020204"/>
                <a:cs typeface="Arial" panose="020B0604020202020204"/>
              </a:rPr>
              <a:t> </a:t>
            </a:r>
            <a:r>
              <a:rPr lang="en-US" altLang="zh-CN" sz="3200" b="1" spc="-20" dirty="0">
                <a:latin typeface="Arial" panose="020B0604020202020204"/>
                <a:cs typeface="Arial" panose="020B0604020202020204"/>
              </a:rPr>
              <a:t>Cohort Overview and Feature Composition</a:t>
            </a:r>
            <a:endParaRPr lang="en-US" altLang="zh-CN" sz="3200" dirty="0">
              <a:latin typeface="Arial" panose="020B0604020202020204"/>
              <a:cs typeface="Arial" panose="020B0604020202020204"/>
            </a:endParaRPr>
          </a:p>
        </p:txBody>
      </p:sp>
      <p:sp>
        <p:nvSpPr>
          <p:cNvPr id="40" name="object 13">
            <a:extLst>
              <a:ext uri="{FF2B5EF4-FFF2-40B4-BE49-F238E27FC236}">
                <a16:creationId xmlns:a16="http://schemas.microsoft.com/office/drawing/2014/main" id="{241DFAE7-7E71-72CB-3686-792E591E4EDA}"/>
              </a:ext>
            </a:extLst>
          </p:cNvPr>
          <p:cNvSpPr txBox="1"/>
          <p:nvPr/>
        </p:nvSpPr>
        <p:spPr>
          <a:xfrm>
            <a:off x="1049913" y="23292909"/>
            <a:ext cx="2548878" cy="859041"/>
          </a:xfrm>
          <a:prstGeom prst="rect">
            <a:avLst/>
          </a:prstGeom>
        </p:spPr>
        <p:txBody>
          <a:bodyPr vert="horz" wrap="square" lIns="0" tIns="332573" rIns="0" bIns="0" rtlCol="0">
            <a:spAutoFit/>
          </a:bodyPr>
          <a:lstStyle/>
          <a:p>
            <a:pPr marL="304800">
              <a:spcBef>
                <a:spcPts val="2620"/>
              </a:spcBef>
            </a:pPr>
            <a:r>
              <a:rPr sz="3200" b="1" spc="40" dirty="0">
                <a:solidFill>
                  <a:srgbClr val="0150A8"/>
                </a:solidFill>
                <a:latin typeface="Arial" panose="020B0604020202020204"/>
                <a:cs typeface="Arial" panose="020B0604020202020204"/>
              </a:rPr>
              <a:t>M</a:t>
            </a:r>
            <a:r>
              <a:rPr sz="3200" b="1" dirty="0">
                <a:solidFill>
                  <a:srgbClr val="0150A8"/>
                </a:solidFill>
                <a:latin typeface="Arial" panose="020B0604020202020204"/>
                <a:cs typeface="Arial" panose="020B0604020202020204"/>
              </a:rPr>
              <a:t>E</a:t>
            </a:r>
            <a:r>
              <a:rPr sz="3200" b="1" spc="-59" dirty="0">
                <a:solidFill>
                  <a:srgbClr val="0150A8"/>
                </a:solidFill>
                <a:latin typeface="Arial" panose="020B0604020202020204"/>
                <a:cs typeface="Arial" panose="020B0604020202020204"/>
              </a:rPr>
              <a:t>T</a:t>
            </a:r>
            <a:r>
              <a:rPr sz="3200" b="1" spc="-20" dirty="0">
                <a:solidFill>
                  <a:srgbClr val="0150A8"/>
                </a:solidFill>
                <a:latin typeface="Arial" panose="020B0604020202020204"/>
                <a:cs typeface="Arial" panose="020B0604020202020204"/>
              </a:rPr>
              <a:t>HOD</a:t>
            </a:r>
            <a:r>
              <a:rPr sz="3200" b="1" dirty="0">
                <a:solidFill>
                  <a:srgbClr val="0150A8"/>
                </a:solidFill>
                <a:latin typeface="Arial" panose="020B0604020202020204"/>
                <a:cs typeface="Arial" panose="020B0604020202020204"/>
              </a:rPr>
              <a:t>S</a:t>
            </a:r>
            <a:r>
              <a:rPr sz="3400" b="1" spc="20" dirty="0">
                <a:solidFill>
                  <a:srgbClr val="0150A8"/>
                </a:solidFill>
                <a:latin typeface="Arial" panose="020B0604020202020204"/>
                <a:cs typeface="Arial" panose="020B0604020202020204"/>
              </a:rPr>
              <a:t>:</a:t>
            </a:r>
            <a:endParaRPr sz="3400" dirty="0">
              <a:solidFill>
                <a:srgbClr val="0150A8"/>
              </a:solidFill>
              <a:latin typeface="Arial" panose="020B0604020202020204"/>
              <a:cs typeface="Arial" panose="020B06040202020202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bcc09039-1d0d-4215-87ea-550b05245994"/>
  <p:tag name="COMMONDATA" val="eyJoZGlkIjoiOTFhZjJmNjVlMjk0NDZkZjgyZjcwMzViNzY1MzlmMGYifQ=="/>
</p:tagLst>
</file>

<file path=ppt/tags/tag2.xml><?xml version="1.0" encoding="utf-8"?>
<p:tagLst xmlns:a="http://schemas.openxmlformats.org/drawingml/2006/main" xmlns:r="http://schemas.openxmlformats.org/officeDocument/2006/relationships" xmlns:p="http://schemas.openxmlformats.org/presentationml/2006/main">
  <p:tag name="TYPE" val="icon"/>
</p:tagLst>
</file>

<file path=ppt/tags/tag3.xml><?xml version="1.0" encoding="utf-8"?>
<p:tagLst xmlns:a="http://schemas.openxmlformats.org/drawingml/2006/main" xmlns:r="http://schemas.openxmlformats.org/officeDocument/2006/relationships" xmlns:p="http://schemas.openxmlformats.org/presentationml/2006/main">
  <p:tag name="TYPE" val="icon"/>
</p:tagLst>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2903</TotalTime>
  <Words>1063</Words>
  <Application>Microsoft Office PowerPoint</Application>
  <PresentationFormat>自定义</PresentationFormat>
  <Paragraphs>167</Paragraphs>
  <Slides>1</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Arial</vt:lpstr>
      <vt:lpstr>Cambria Math</vt:lpstr>
      <vt:lpstr>2_Office Theme</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ver2_Impact of preprocessing in data integration of single-cell RNA-seq data.pptx</dc:title>
  <dc:creator>hp</dc:creator>
  <cp:lastModifiedBy>晋伟 常</cp:lastModifiedBy>
  <cp:revision>125</cp:revision>
  <dcterms:created xsi:type="dcterms:W3CDTF">2022-11-16T01:29:00Z</dcterms:created>
  <dcterms:modified xsi:type="dcterms:W3CDTF">2025-11-27T02:50:51Z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ICV">
    <vt:lpwstr>87F36F5CB9B647AA928241CACF5E540C</vt:lpwstr>
  </property>
  <property fmtid="{D5CDD505-2E9C-101B-9397-08002B2CF9AE}" pid="4" name="KSOProductBuildVer">
    <vt:lpwstr>2052-11.1.0.12132</vt:lpwstr>
  </property>
</Properties>
</file>